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3c78e41b784c8d" /><Relationship Type="http://schemas.openxmlformats.org/officeDocument/2006/relationships/extended-properties" Target="/docProps/app.xml" Id="Rc90dbae1d9d646b8" /><Relationship Type="http://schemas.openxmlformats.org/officeDocument/2006/relationships/officeDocument" Target="/ppt/presentation.xml" Id="R8d1a815e97e1496a" /></Relationships>
</file>

<file path=ppt/presentation.xml><?xml version="1.0" encoding="utf-8"?>
<p:presentation xmlns:p="http://schemas.openxmlformats.org/presentationml/2006/main">
  <p:sldMasterIdLst>
    <p:sldMasterId xmlns:r="http://schemas.openxmlformats.org/officeDocument/2006/relationships" id="2147483648" r:id="R8c41fba837fa414b"/>
  </p:sldMasterIdLst>
  <p:notesMasterIdLst>
    <p:notesMasterId xmlns:r="http://schemas.openxmlformats.org/officeDocument/2006/relationships" r:id="Rf39369f3ab2249eb"/>
  </p:notesMasterIdLst>
  <p:sldIdLst>
    <p:sldId xmlns:r="http://schemas.openxmlformats.org/officeDocument/2006/relationships" id="256" r:id="R8c6ac7582ada4e75"/>
    <p:sldId xmlns:r="http://schemas.openxmlformats.org/officeDocument/2006/relationships" id="257" r:id="Rb5e9766f1fee4639"/>
    <p:sldId xmlns:r="http://schemas.openxmlformats.org/officeDocument/2006/relationships" id="258" r:id="R8bb7bd951c064d82"/>
    <p:sldId xmlns:r="http://schemas.openxmlformats.org/officeDocument/2006/relationships" id="259" r:id="R9ce64018429f4fa2"/>
    <p:sldId xmlns:r="http://schemas.openxmlformats.org/officeDocument/2006/relationships" id="260" r:id="R2f3e103d103e499f"/>
    <p:sldId xmlns:r="http://schemas.openxmlformats.org/officeDocument/2006/relationships" id="261" r:id="R79f2a13dbc7a48cb"/>
    <p:sldId xmlns:r="http://schemas.openxmlformats.org/officeDocument/2006/relationships" id="262" r:id="R0fc54371b9424db4"/>
    <p:sldId xmlns:r="http://schemas.openxmlformats.org/officeDocument/2006/relationships" id="263" r:id="R321dd6b215ae4cd7"/>
    <p:sldId xmlns:r="http://schemas.openxmlformats.org/officeDocument/2006/relationships" id="264" r:id="Ra4f37fe48fd34250"/>
    <p:sldId xmlns:r="http://schemas.openxmlformats.org/officeDocument/2006/relationships" id="265" r:id="R31e9ffe171cd466c"/>
    <p:sldId xmlns:r="http://schemas.openxmlformats.org/officeDocument/2006/relationships" id="266" r:id="R76b42987ff4c4ef9"/>
    <p:sldId xmlns:r="http://schemas.openxmlformats.org/officeDocument/2006/relationships" id="267" r:id="Rd4c1a2b82297486e"/>
    <p:sldId xmlns:r="http://schemas.openxmlformats.org/officeDocument/2006/relationships" id="268" r:id="Rdd46d96d71ca4d2f"/>
    <p:sldId xmlns:r="http://schemas.openxmlformats.org/officeDocument/2006/relationships" id="269" r:id="R0916c97aeaf748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8328efaec64377" /><Relationship Type="http://schemas.openxmlformats.org/officeDocument/2006/relationships/slideMaster" Target="/ppt/slideMasters/slideMaster1.xml" Id="R8c41fba837fa414b" /><Relationship Type="http://schemas.openxmlformats.org/officeDocument/2006/relationships/notesMaster" Target="/ppt/notesMasters/notesMaster1.xml" Id="Rf39369f3ab2249eb" /><Relationship Type="http://schemas.openxmlformats.org/officeDocument/2006/relationships/presProps" Target="/ppt/presProps.xml" Id="Rbe71b506c93644b6" /><Relationship Type="http://schemas.openxmlformats.org/officeDocument/2006/relationships/tableStyles" Target="/ppt/tableStyles.xml" Id="Rc38cecae4bc14e8c" /><Relationship Type="http://schemas.openxmlformats.org/officeDocument/2006/relationships/slide" Target="/ppt/slides/slide1.xml" Id="R8c6ac7582ada4e75" /><Relationship Type="http://schemas.openxmlformats.org/officeDocument/2006/relationships/slide" Target="/ppt/slides/slide2.xml" Id="Rb5e9766f1fee4639" /><Relationship Type="http://schemas.openxmlformats.org/officeDocument/2006/relationships/slide" Target="/ppt/slides/slide3.xml" Id="R8bb7bd951c064d82" /><Relationship Type="http://schemas.openxmlformats.org/officeDocument/2006/relationships/slide" Target="/ppt/slides/slide4.xml" Id="R9ce64018429f4fa2" /><Relationship Type="http://schemas.openxmlformats.org/officeDocument/2006/relationships/slide" Target="/ppt/slides/slide5.xml" Id="R2f3e103d103e499f" /><Relationship Type="http://schemas.openxmlformats.org/officeDocument/2006/relationships/slide" Target="/ppt/slides/slide6.xml" Id="R79f2a13dbc7a48cb" /><Relationship Type="http://schemas.openxmlformats.org/officeDocument/2006/relationships/slide" Target="/ppt/slides/slide7.xml" Id="R0fc54371b9424db4" /><Relationship Type="http://schemas.openxmlformats.org/officeDocument/2006/relationships/slide" Target="/ppt/slides/slide8.xml" Id="R321dd6b215ae4cd7" /><Relationship Type="http://schemas.openxmlformats.org/officeDocument/2006/relationships/slide" Target="/ppt/slides/slide9.xml" Id="Ra4f37fe48fd34250" /><Relationship Type="http://schemas.openxmlformats.org/officeDocument/2006/relationships/slide" Target="/ppt/slides/slide10.xml" Id="R31e9ffe171cd466c" /><Relationship Type="http://schemas.openxmlformats.org/officeDocument/2006/relationships/slide" Target="/ppt/slides/slide11.xml" Id="R76b42987ff4c4ef9" /><Relationship Type="http://schemas.openxmlformats.org/officeDocument/2006/relationships/slide" Target="/ppt/slides/slide12.xml" Id="Rd4c1a2b82297486e" /><Relationship Type="http://schemas.openxmlformats.org/officeDocument/2006/relationships/slide" Target="/ppt/slides/slide13.xml" Id="Rdd46d96d71ca4d2f" /><Relationship Type="http://schemas.openxmlformats.org/officeDocument/2006/relationships/slide" Target="/ppt/slides/slide14.xml" Id="R0916c97aeaf748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09d281a18c43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26a8b9b524435c" /><Relationship Type="http://schemas.openxmlformats.org/officeDocument/2006/relationships/notesMaster" Target="/ppt/notesMasters/notesMaster1.xml" Id="R954197d5c4a44a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8dae2774734e90" /><Relationship Type="http://schemas.openxmlformats.org/officeDocument/2006/relationships/notesMaster" Target="/ppt/notesMasters/notesMaster1.xml" Id="Rb9c8863650294f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3aa6c8f5a4d58" /><Relationship Type="http://schemas.openxmlformats.org/officeDocument/2006/relationships/notesMaster" Target="/ppt/notesMasters/notesMaster1.xml" Id="R4b433056b59c43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b544364a8e4624" /><Relationship Type="http://schemas.openxmlformats.org/officeDocument/2006/relationships/notesMaster" Target="/ppt/notesMasters/notesMaster1.xml" Id="R6bcc6d40c5fa42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99235b781b45fd" /><Relationship Type="http://schemas.openxmlformats.org/officeDocument/2006/relationships/notesMaster" Target="/ppt/notesMasters/notesMaster1.xml" Id="Rbb298888eb4146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f24e00082041bb" /><Relationship Type="http://schemas.openxmlformats.org/officeDocument/2006/relationships/notesMaster" Target="/ppt/notesMasters/notesMaster1.xml" Id="Rcd60d1fbb2c349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5d3e3384814f77" /><Relationship Type="http://schemas.openxmlformats.org/officeDocument/2006/relationships/notesMaster" Target="/ppt/notesMasters/notesMaster1.xml" Id="R92933ef151854e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a7a2b663124fac" /><Relationship Type="http://schemas.openxmlformats.org/officeDocument/2006/relationships/notesMaster" Target="/ppt/notesMasters/notesMaster1.xml" Id="R4b67cc9eb4b04c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4ea535cde04809" /><Relationship Type="http://schemas.openxmlformats.org/officeDocument/2006/relationships/notesMaster" Target="/ppt/notesMasters/notesMaster1.xml" Id="R5824dcac18a94a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988f7c90b54f86" /><Relationship Type="http://schemas.openxmlformats.org/officeDocument/2006/relationships/notesMaster" Target="/ppt/notesMasters/notesMaster1.xml" Id="Rc2ad48655b1d48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b7f8c57d6547b3" /><Relationship Type="http://schemas.openxmlformats.org/officeDocument/2006/relationships/notesMaster" Target="/ppt/notesMasters/notesMaster1.xml" Id="Rd186c3da982248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31c3d456bd4589" /><Relationship Type="http://schemas.openxmlformats.org/officeDocument/2006/relationships/notesMaster" Target="/ppt/notesMasters/notesMaster1.xml" Id="Ra879396b4c374a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d3c5b7e42f4589" /><Relationship Type="http://schemas.openxmlformats.org/officeDocument/2006/relationships/notesMaster" Target="/ppt/notesMasters/notesMaster1.xml" Id="R64f08c2211c34c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2e185aa0a44fc1" /><Relationship Type="http://schemas.openxmlformats.org/officeDocument/2006/relationships/notesMaster" Target="/ppt/notesMasters/notesMaster1.xml" Id="R02a5f49f835a4b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HALY is a fictional powdered-drink manufacturer used to explore seasonal order fulfilment. Yusuf owns the case and approved the business rules. Implementation, testing and separate-agent review used AI assistance. This is a local portfolio demonstration, not a real-client implementation. It covers accepted dispatch dates, eligible stock allocation, in-house production and controlled shipments with synthetic records.</a:t>
            </a:r>
          </a:p>
          <a:p xmlns:a="http://schemas.openxmlformats.org/drawingml/2006/main">
            <a:r>
              <a:t/>
            </a:r>
          </a:p>
          <a:p xmlns:a="http://schemas.openxmlformats.org/drawingml/2006/main">
            <a:r>
              <a:t>Sources: docs/TASKS.md, TASK-0007 and TASK-0010; docs/evidence/task-0007/README.md; docs/DECISIONS.md, D-015. Design references: https://support.microsoft.com/en-us/powerpoint/tips-for-creating-and-delivering-an-effective-presentation https://www.nngroup.com/articles/engaging-reports-presentations/ https://www.gov.uk/government/publications/handbook-for-standard-managers/functional-standards-writing-style-guide https://www.reddit.com/r/powerpoint/comments/1u3xxm9/is_it_just_me_or_do_all_ai_generated_decks_look/ https://www.reddit.com/r/consulting/comments/1fmzvnr/how_can_i_make_slides_like_these/ Cover illustration: AI-generated fictional HALY / DRINK MIX canisters, made with the built-in image generation tool on 16 October 2026. Asset: docs/portfolio/assets/haly-drink-mix-canisters.png. Can packaging is a presentation concept requested by the owner, not a tested packaging/BOM/compliance feature or a real commercial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verified synthetic end-to-end scenario: 900 finished units ordered, 500 opening finished units and 400 finished units manufactured. The manufacturer buys raw materials, not finished products. The two raw-material POs each contain 400 units of a different input; those quantities must not be added as finished units. No real sales forecast, commercial result, capacity guarantee or measured ROI is implied.</a:t>
            </a:r>
          </a:p>
          <a:p xmlns:a="http://schemas.openxmlformats.org/drawingml/2006/main">
            <a:r>
              <a:t/>
            </a:r>
          </a:p>
          <a:p xmlns:a="http://schemas.openxmlformats.org/drawingml/2006/main">
            <a:r>
              <a:t>Sources: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Odoo records purchasing, receipts, manufacturing and warehouse operations. The custom promise and campaign addons add the agreed date history, eligible stock allocation and shipment controls. Physical work and customer responses do not occur automatically. A date refers to the warehouse dispatch commitment, not the separate standard customer Delivery Date.</a:t>
            </a:r>
          </a:p>
          <a:p xmlns:a="http://schemas.openxmlformats.org/drawingml/2006/main">
            <a:r>
              <a:t/>
            </a:r>
          </a:p>
          <a:p xmlns:a="http://schemas.openxmlformats.org/drawingml/2006/main">
            <a:r>
              <a:t>Sources: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reservations are A 200, B 300 and C 0. Demand totals 200 + 600 + 100 = 900 and initial reservations total 200 + 300 + 0 = 500. Accepted warehouse date comes first, then the protected current confirmation timestamp, then smaller order ID for an exact tie. Incomplete individual orders retain eligible allocated stock, but cannot dispatch until complete. Dates are illustrative 2026 dates, not an SLA.</a:t>
            </a:r>
          </a:p>
          <a:p xmlns:a="http://schemas.openxmlformats.org/drawingml/2006/main">
            <a:r>
              <a:t/>
            </a:r>
          </a:p>
          <a:p xmlns:a="http://schemas.openxmlformats.org/drawingml/2006/main">
            <a:r>
              <a:t>Sources: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browser example demonstrates acceptance of a valid proposal and retained original/current history. Its earlier accepted date is a controlled priority check, not an assertion that an earlier date is always physically feasible. A pending, rejected, stale or conflicting response and an internal estimate do not move the operative promise. Customer rejection retains the existing date and its follow-up risk. Staff manually record evidence; the software does not authenticate customer consent. The original screenshot is unchanged apart from a display crop.</a:t>
            </a:r>
          </a:p>
          <a:p xmlns:a="http://schemas.openxmlformats.org/drawingml/2006/main">
            <a:r>
              <a:t/>
            </a:r>
          </a:p>
          <a:p xmlns:a="http://schemas.openxmlformats.org/drawingml/2006/main">
            <a:r>
              <a:t>Sources: docs/evidence/task-0007/04-accepted-date-history.png; docs/DECISIONS.md, D-011, D-012, D-015;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later browser state, not the initial A 200 / B 300 / C 0 allocation. B receives 500 eligible unprepared units against 600 demand because its accepted December 14 date is earlier than A December 15. Corporate status does not grant priority. Prepared moves and outside reservations remain protected. Unsupported or uncovered unmanaged competing demand fails closed. A partly prepared short individual move needs explicit warehouse unprepare/recheck before further allocation.</a:t>
            </a:r>
          </a:p>
          <a:p xmlns:a="http://schemas.openxmlformats.org/drawingml/2006/main">
            <a:r>
              <a:t/>
            </a:r>
          </a:p>
          <a:p xmlns:a="http://schemas.openxmlformats.org/drawingml/2006/main">
            <a:r>
              <a:t>Sources: docs/evidence/task-0007/05-accepted-priority-reserves-500.png;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synthetic screenshot shows the consumer full-order guard refusing a partial dispatch. Every physical line must dispatch completely in one picking within the supported one-step, untracked-goods scope. This safeguard check is separate from the preceding B allocation state. Stock reservation alone does not guarantee a completed shipment.</a:t>
            </a:r>
          </a:p>
          <a:p xmlns:a="http://schemas.openxmlformats.org/drawingml/2006/main">
            <a:r>
              <a:t/>
            </a:r>
          </a:p>
          <a:p xmlns:a="http://schemas.openxmlformats.org/drawingml/2006/main">
            <a:r>
              <a:t>Sources: docs/evidence/task-0007/02-consumer-partial-blocked.png;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a 300-unit corporate shipment is complete. Right: 300 units remain on a backorder, of which 200 are currently reserved. Outstanding demand is not silently cancelled. This browser path later shipped 100 and 50 in separate checks. It is separate from the full 300 / 200 / 100 manufacturing test on slide 12. No real shipment took place.</a:t>
            </a:r>
          </a:p>
          <a:p xmlns:a="http://schemas.openxmlformats.org/drawingml/2006/main">
            <a:r>
              <a:t/>
            </a:r>
          </a:p>
          <a:p xmlns:a="http://schemas.openxmlformats.org/drawingml/2006/main">
            <a:r>
              <a:t>Sources: docs/evidence/task-0007/06-corporate-300-dispatched.png; docs/evidence/task-0007/07-corporate-backorder-preserved.png;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local test records two raw-material POs, receipts, a bill of materials and one 400-finished-unit manufacturing order. Each PO supplies 400 units of a different input; 800 raw-material units do not mean 800 finished goods. The 400 finished units combine with 500 opening finished units. Standard Odoo actions record procurement, receipt and manufacture. The separate browser preview contains only opening stock/orders and has no purchase or manufacturing fixture.</a:t>
            </a:r>
          </a:p>
          <a:p xmlns:a="http://schemas.openxmlformats.org/drawingml/2006/main">
            <a:r>
              <a:t/>
            </a:r>
          </a:p>
          <a:p xmlns:a="http://schemas.openxmlformats.org/drawingml/2006/main">
            <a:r>
              <a:t>Sources: scripts/validate_campaign.py; docs/evidence/task-0007/README.md;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record demonstrates a linked campaign shortage, owner, Blocked state, deadline and next action. Separate local runtime cases check supplier delay and repeated risk updates without duplicates. The derived supply-risk signal uses one-level raw-material purchases/open production, not exact supplier-to-order pegging, capacity optimisation or a delivery guarantee. A control item does not imply shipment or customer contact.</a:t>
            </a:r>
          </a:p>
          <a:p xmlns:a="http://schemas.openxmlformats.org/drawingml/2006/main">
            <a:r>
              <a:t/>
            </a:r>
          </a:p>
          <a:p xmlns:a="http://schemas.openxmlformats.org/drawingml/2006/main">
            <a:r>
              <a:t>Sources: docs/evidence/task-0007/03-owned-risk-item.png;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final-source screenshot demonstrates the repaired saved-preparation guard. Separate agent review found manual-preparation and nested raw-line capability bypasses. Both were reproduced, repaired and retested, including this browser refusal. Within supported workflows, a user cannot prepare more than allocated stock. This is not a claim that a privileged administrator cannot alter all ERP data.</a:t>
            </a:r>
          </a:p>
          <a:p xmlns:a="http://schemas.openxmlformats.org/drawingml/2006/main">
            <a:r>
              <a:t/>
            </a:r>
          </a:p>
          <a:p xmlns:a="http://schemas.openxmlformats.org/drawingml/2006/main">
            <a:r>
              <a:t>Sources: docs/evidence/task-0007/12-final-preparation-guard.png; docs/TASKS.md, TASK-0007 repair history; docs/TASKS.md, TASK-0007 and TASK-0010; docs/evidence/task-0007/README.md; docs/DECISIONS.md, D-015.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campaign probe passed 500 + 400 = 900 finished-unit arithmetic. A dispatched 200 fully, B dispatched 600 as 300 / 200 / 100, and C dispatched 100 fully. Final finished-goods stock was zero and seven checked final quants were nonnegative and not over-reserved. These are synthetic test outcomes, not real operating performance or proof of throughput.</a:t>
            </a:r>
          </a:p>
          <a:p xmlns:a="http://schemas.openxmlformats.org/drawingml/2006/main">
            <a:r>
              <a:t/>
            </a:r>
          </a:p>
          <a:p xmlns:a="http://schemas.openxmlformats.org/drawingml/2006/main">
            <a:r>
              <a:t>Sources: scripts/validate_campaign.py; docs/evidence/task-0007/README.md; docs/TASKS.md, TASK-0007 and TASK-0010.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defined the case and approved its business rules. Standard Odoo handles sales, purchasing, stock and production. Custom additions cover warehouse promise history, allocation priority and shipment guards. AI assistance supported implementation, testing and a separate agent review. Local validation on 15 October 2026 passed 81 methods: 8 base, 22 promise and 51 campaign, plus 11 separate campaign cases. GitHub CI covers eight base methods only. No measured savings or delivery-rate improvement is claimed.</a:t>
            </a:r>
          </a:p>
          <a:p xmlns:a="http://schemas.openxmlformats.org/drawingml/2006/main">
            <a:r>
              <a:t/>
            </a:r>
          </a:p>
          <a:p xmlns:a="http://schemas.openxmlformats.org/drawingml/2006/main">
            <a:r>
              <a:t>Sources: docs/TASKS.md, TASK-0003 through TASK-0012; README.md; docs/ARCHITECTURE.md; 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repository is public. No installation is required to understand this case. The supported scope is one configured pool per warehouse, one-step make-to-stock and untracked storable goods. Customer responses and physical operations are manually recorded. Capacity planning, carrier/WMS adapters, formal quality release, authenticated customer consent and production hosting are outside this delivery. The full 81-method validation and 11 campaign cases are local evidence. GitHub CI covers repository checks, eight base-addon test methods and service health. The current Actions page provides build status.</a:t>
            </a:r>
          </a:p>
          <a:p xmlns:a="http://schemas.openxmlformats.org/drawingml/2006/main">
            <a:r>
              <a:t/>
            </a:r>
          </a:p>
          <a:p xmlns:a="http://schemas.openxmlformats.org/drawingml/2006/main">
            <a:r>
              <a:t>Sources: README.md; compose.yaml; .github/workflows/ci.yml; docs/TASKS.md, TASK-0010 through TASK-0013. Repository: https://github.com/yusufondes/Operations-Control-Tower . Actions: https://github.com/yusufondes/Operations-Control-Tower/actions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20b75dc9054d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8627458c434f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4e73c251124a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4e8e4bd4d24e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2b51a04c824b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d20fb240da44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B6F991-9623-467E-986D-1CAD42EB2C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30ECFB-0DA7-40B4-AF85-7F507672E4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CE96CF-7736-480F-B1DF-8675D6AC27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BB17B-5FF2-4910-B8F4-EE8E4EB4CA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DACF5E-0F8D-4680-BAF4-1FF0761391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0CA869-7E03-469A-9AF8-62092E9FF8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213210-CAFC-49E6-B4A1-A5EB1F87B5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25081A-0236-4311-919C-DE1A042CAF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588741-0C54-40FA-8CDC-3A0C8A71CC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2473EA-87FA-4878-B585-7843380275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a621e71eff4ce8" /><Relationship Type="http://schemas.openxmlformats.org/officeDocument/2006/relationships/slideLayout" Target="/ppt/slideLayouts/slideLayout1.xml" Id="Rfb3d147d71844f28" /><Relationship Type="http://schemas.openxmlformats.org/officeDocument/2006/relationships/slideLayout" Target="/ppt/slideLayouts/slideLayout2.xml" Id="R1b7e52c26c604730" /><Relationship Type="http://schemas.openxmlformats.org/officeDocument/2006/relationships/slideLayout" Target="/ppt/slideLayouts/slideLayout3.xml" Id="R8d45c2a7f74e4394" /><Relationship Type="http://schemas.openxmlformats.org/officeDocument/2006/relationships/slideLayout" Target="/ppt/slideLayouts/slideLayout4.xml" Id="R50de2db2109147d2" /><Relationship Type="http://schemas.openxmlformats.org/officeDocument/2006/relationships/slideLayout" Target="/ppt/slideLayouts/slideLayout5.xml" Id="R6953f30bf841473c" /><Relationship Type="http://schemas.openxmlformats.org/officeDocument/2006/relationships/slideLayout" Target="/ppt/slideLayouts/slideLayout6.xml" Id="R6bead91efad7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3d147d71844f28"/>
    <p:sldLayoutId xmlns:r="http://schemas.openxmlformats.org/officeDocument/2006/relationships" id="2147483650" r:id="R1b7e52c26c604730"/>
    <p:sldLayoutId xmlns:r="http://schemas.openxmlformats.org/officeDocument/2006/relationships" id="2147483651" r:id="R8d45c2a7f74e4394"/>
    <p:sldLayoutId xmlns:r="http://schemas.openxmlformats.org/officeDocument/2006/relationships" id="2147483652" r:id="R50de2db2109147d2"/>
    <p:sldLayoutId xmlns:r="http://schemas.openxmlformats.org/officeDocument/2006/relationships" id="2147483653" r:id="R6953f30bf841473c"/>
    <p:sldLayoutId xmlns:r="http://schemas.openxmlformats.org/officeDocument/2006/relationships" id="2147483654" r:id="R6bead91efad7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872a0bcd904cd7" /><Relationship Type="http://schemas.openxmlformats.org/officeDocument/2006/relationships/image" Target="/ppt/media/image.png" Id="Rb13e0df4c57b4348" /><Relationship Type="http://schemas.openxmlformats.org/officeDocument/2006/relationships/notesSlide" Target="/ppt/notesSlides/notesSlide1.xml" Id="R238230eeabe243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029fbf82dc4a93" /><Relationship Type="http://schemas.openxmlformats.org/officeDocument/2006/relationships/notesSlide" Target="/ppt/notesSlides/notesSlide2.xml" Id="R572e7df0623645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45fd9c0d484a8b" /><Relationship Type="http://schemas.openxmlformats.org/officeDocument/2006/relationships/notesSlide" Target="/ppt/notesSlides/notesSlide3.xml" Id="R3c519a8e411840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5e9df0ac714e38" /><Relationship Type="http://schemas.openxmlformats.org/officeDocument/2006/relationships/notesSlide" Target="/ppt/notesSlides/notesSlide4.xml" Id="R07ccda17d3e449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461c0a52bb4756" /><Relationship Type="http://schemas.openxmlformats.org/officeDocument/2006/relationships/image" Target="/ppt/media/image.jpeg" Id="R64c9779a000b48a8" /><Relationship Type="http://schemas.openxmlformats.org/officeDocument/2006/relationships/notesSlide" Target="/ppt/notesSlides/notesSlide5.xml" Id="Ra5f556011ba04c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30d87edf744116" /><Relationship Type="http://schemas.openxmlformats.org/officeDocument/2006/relationships/image" Target="/ppt/media/image2.jpeg" Id="Ra642758eca144c8c" /><Relationship Type="http://schemas.openxmlformats.org/officeDocument/2006/relationships/notesSlide" Target="/ppt/notesSlides/notesSlide6.xml" Id="Rdf960b25133c45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1faf16ee934d47" /><Relationship Type="http://schemas.openxmlformats.org/officeDocument/2006/relationships/image" Target="/ppt/media/image3.jpeg" Id="R35b0480d03c54746" /><Relationship Type="http://schemas.openxmlformats.org/officeDocument/2006/relationships/notesSlide" Target="/ppt/notesSlides/notesSlide7.xml" Id="R609e1665658949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1ab3e9456f4aff" /><Relationship Type="http://schemas.openxmlformats.org/officeDocument/2006/relationships/image" Target="/ppt/media/image4.jpeg" Id="R34ad35b385be47ae" /><Relationship Type="http://schemas.openxmlformats.org/officeDocument/2006/relationships/image" Target="/ppt/media/image5.jpeg" Id="R4af883ef39a64e50" /><Relationship Type="http://schemas.openxmlformats.org/officeDocument/2006/relationships/notesSlide" Target="/ppt/notesSlides/notesSlide8.xml" Id="R8471ea8b1ba444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decf51ff714ca0" /><Relationship Type="http://schemas.openxmlformats.org/officeDocument/2006/relationships/notesSlide" Target="/ppt/notesSlides/notesSlide9.xml" Id="R99df9390753143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97031cae8f84a7c" /><Relationship Type="http://schemas.openxmlformats.org/officeDocument/2006/relationships/image" Target="/ppt/media/image6.jpeg" Id="Rb355c6a6e9184117" /><Relationship Type="http://schemas.openxmlformats.org/officeDocument/2006/relationships/notesSlide" Target="/ppt/notesSlides/notesSlide10.xml" Id="R85c4be214bb24d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749e523a8441f0" /><Relationship Type="http://schemas.openxmlformats.org/officeDocument/2006/relationships/image" Target="/ppt/media/image7.jpeg" Id="R1034ca0667e44595" /><Relationship Type="http://schemas.openxmlformats.org/officeDocument/2006/relationships/notesSlide" Target="/ppt/notesSlides/notesSlide11.xml" Id="R3f87480ff4a242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ab8649131e449e" /><Relationship Type="http://schemas.openxmlformats.org/officeDocument/2006/relationships/notesSlide" Target="/ppt/notesSlides/notesSlide12.xml" Id="Rc49226dee84e47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70c3bd74c0431c" /><Relationship Type="http://schemas.openxmlformats.org/officeDocument/2006/relationships/notesSlide" Target="/ppt/notesSlides/notesSlide13.xml" Id="R19186e9e087e43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0fe095377441e7" /><Relationship Type="http://schemas.openxmlformats.org/officeDocument/2006/relationships/hyperlink" Target="https://github.com/yusufondes/Operations-Control-Tower" TargetMode="External" Id="R2de7135473bf49fc" /><Relationship Type="http://schemas.openxmlformats.org/officeDocument/2006/relationships/notesSlide" Target="/ppt/notesSlides/notesSlide14.xml" Id="R2c46f4f2df2d46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ufj69w-0">
            <a:extLst xmlns:a="http://schemas.openxmlformats.org/drawingml/2006/main">
              <a:ext uri="{FF2B5EF4-FFF2-40B4-BE49-F238E27FC236}">
                <a16:creationId xmlns:a16="http://schemas.microsoft.com/office/drawing/2014/main" id="{6E1A805C-8604-4A7C-BEF3-66BCE55C213C}"/>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2" name="text-ufj69w-1">
            <a:extLst xmlns:a="http://schemas.openxmlformats.org/drawingml/2006/main">
              <a:ext uri="{FF2B5EF4-FFF2-40B4-BE49-F238E27FC236}">
                <a16:creationId xmlns:a16="http://schemas.microsoft.com/office/drawing/2014/main" id="{3A7AF2B0-D296-46CA-BA14-6CB52CF185FC}"/>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a:t>
            </a:r>
          </a:p>
        </p:txBody>
      </p:sp>
      <p:sp>
        <p:nvSpPr>
          <p:cNvPr id="3" name="text-ufj69w-2">
            <a:extLst xmlns:a="http://schemas.openxmlformats.org/drawingml/2006/main">
              <a:ext uri="{FF2B5EF4-FFF2-40B4-BE49-F238E27FC236}">
                <a16:creationId xmlns:a16="http://schemas.microsoft.com/office/drawing/2014/main" id="{92A62BA5-EC72-4D32-950B-9E3CDA9E9008}"/>
              </a:ext>
            </a:extLst>
          </p:cNvPr>
          <p:cNvSpPr>
            <a:spLocks xmlns:a="http://schemas.openxmlformats.org/drawingml/2006/main" noGrp="1"/>
          </p:cNvSpPr>
          <p:nvPr/>
        </p:nvSpPr>
        <p:spPr>
          <a:xfrm xmlns:a="http://schemas.openxmlformats.org/drawingml/2006/main">
            <a:off x="723900" y="15430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i="0">
                <a:solidFill>
                  <a:srgbClr val="29343A"/>
                </a:solidFill>
                <a:latin typeface="Calibri"/>
                <a:ea typeface="Calibri"/>
                <a:cs typeface="Calibri"/>
              </a:defRPr>
            </a:defPPr>
          </a:lstStyle>
          <a:p xmlns:a="http://schemas.openxmlformats.org/drawingml/2006/main">
            <a:pPr algn="l">
              <a:lnSpc>
                <a:spcPct val="116000"/>
              </a:lnSpc>
              <a:buNone/>
              <a:defRPr sz="4200" b="1" i="0">
                <a:solidFill>
                  <a:srgbClr val="29343A"/>
                </a:solidFill>
                <a:latin typeface="Calibri"/>
                <a:ea typeface="Calibri"/>
                <a:cs typeface="Calibri"/>
              </a:defRPr>
            </a:pPr>
            <a:r>
              <a:rPr sz="4200" b="1" i="0">
                <a:solidFill>
                  <a:srgbClr val="29343A"/>
                </a:solidFill>
                <a:latin typeface="Calibri"/>
                <a:ea typeface="Calibri"/>
                <a:cs typeface="Calibri"/>
              </a:rPr>
              <a:t>Seasonal orders at HALY</a:t>
            </a:r>
          </a:p>
        </p:txBody>
      </p:sp>
      <p:sp>
        <p:nvSpPr>
          <p:cNvPr id="4" name="text-ufj69w-3">
            <a:extLst xmlns:a="http://schemas.openxmlformats.org/drawingml/2006/main">
              <a:ext uri="{FF2B5EF4-FFF2-40B4-BE49-F238E27FC236}">
                <a16:creationId xmlns:a16="http://schemas.microsoft.com/office/drawing/2014/main" id="{D3F3F669-3304-4F67-86ED-825C0E356013}"/>
              </a:ext>
            </a:extLst>
          </p:cNvPr>
          <p:cNvSpPr>
            <a:spLocks xmlns:a="http://schemas.openxmlformats.org/drawingml/2006/main" noGrp="1"/>
          </p:cNvSpPr>
          <p:nvPr/>
        </p:nvSpPr>
        <p:spPr>
          <a:xfrm xmlns:a="http://schemas.openxmlformats.org/drawingml/2006/main">
            <a:off x="752475" y="25336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i="0">
                <a:solidFill>
                  <a:srgbClr val="6F4F64"/>
                </a:solidFill>
                <a:latin typeface="Calibri"/>
                <a:ea typeface="Calibri"/>
                <a:cs typeface="Calibri"/>
              </a:defRPr>
            </a:defPPr>
          </a:lstStyle>
          <a:p xmlns:a="http://schemas.openxmlformats.org/drawingml/2006/main">
            <a:pPr algn="l">
              <a:lnSpc>
                <a:spcPct val="116000"/>
              </a:lnSpc>
              <a:buNone/>
              <a:defRPr sz="2700" b="0" i="0">
                <a:solidFill>
                  <a:srgbClr val="6F4F64"/>
                </a:solidFill>
                <a:latin typeface="Calibri"/>
                <a:ea typeface="Calibri"/>
                <a:cs typeface="Calibri"/>
              </a:defRPr>
            </a:pPr>
            <a:r>
              <a:rPr sz="2700" b="0" i="0">
                <a:solidFill>
                  <a:srgbClr val="6F4F64"/>
                </a:solidFill>
                <a:latin typeface="Calibri"/>
                <a:ea typeface="Calibri"/>
                <a:cs typeface="Calibri"/>
              </a:rPr>
              <a:t>Operations Control Tower</a:t>
            </a:r>
          </a:p>
        </p:txBody>
      </p:sp>
      <p:sp>
        <p:nvSpPr>
          <p:cNvPr id="5" name="text-ufj69w-4">
            <a:extLst xmlns:a="http://schemas.openxmlformats.org/drawingml/2006/main">
              <a:ext uri="{FF2B5EF4-FFF2-40B4-BE49-F238E27FC236}">
                <a16:creationId xmlns:a16="http://schemas.microsoft.com/office/drawing/2014/main" id="{66B41610-77E1-478F-BA6A-04F4CF13BD32}"/>
              </a:ext>
            </a:extLst>
          </p:cNvPr>
          <p:cNvSpPr>
            <a:spLocks xmlns:a="http://schemas.openxmlformats.org/drawingml/2006/main" noGrp="1"/>
          </p:cNvSpPr>
          <p:nvPr/>
        </p:nvSpPr>
        <p:spPr>
          <a:xfrm xmlns:a="http://schemas.openxmlformats.org/drawingml/2006/main">
            <a:off x="752475" y="3352800"/>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i="0">
                <a:solidFill>
                  <a:srgbClr val="29343A"/>
                </a:solidFill>
                <a:latin typeface="Calibri"/>
                <a:ea typeface="Calibri"/>
                <a:cs typeface="Calibri"/>
              </a:defRPr>
            </a:defPPr>
          </a:lstStyle>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HALY makes powdered drink mixes</a:t>
            </a:r>
          </a:p>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and packs them in cans.</a:t>
            </a:r>
          </a:p>
        </p:txBody>
      </p:sp>
      <p:sp>
        <p:nvSpPr>
          <p:cNvPr id="6" name="text-ufj69w-5">
            <a:extLst xmlns:a="http://schemas.openxmlformats.org/drawingml/2006/main">
              <a:ext uri="{FF2B5EF4-FFF2-40B4-BE49-F238E27FC236}">
                <a16:creationId xmlns:a16="http://schemas.microsoft.com/office/drawing/2014/main" id="{D30BFFA7-FE9F-44A1-85AD-65E598151FD7}"/>
              </a:ext>
            </a:extLst>
          </p:cNvPr>
          <p:cNvSpPr>
            <a:spLocks xmlns:a="http://schemas.openxmlformats.org/drawingml/2006/main" noGrp="1"/>
          </p:cNvSpPr>
          <p:nvPr/>
        </p:nvSpPr>
        <p:spPr>
          <a:xfrm xmlns:a="http://schemas.openxmlformats.org/drawingml/2006/main">
            <a:off x="752475" y="49815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Yusuf Ondes</a:t>
            </a:r>
          </a:p>
        </p:txBody>
      </p:sp>
      <p:sp>
        <p:nvSpPr>
          <p:cNvPr id="7" name="text-ufj69w-6">
            <a:extLst xmlns:a="http://schemas.openxmlformats.org/drawingml/2006/main">
              <a:ext uri="{FF2B5EF4-FFF2-40B4-BE49-F238E27FC236}">
                <a16:creationId xmlns:a16="http://schemas.microsoft.com/office/drawing/2014/main" id="{6869E7CE-2459-4C09-B7B9-411BC0278D22}"/>
              </a:ext>
            </a:extLst>
          </p:cNvPr>
          <p:cNvSpPr>
            <a:spLocks xmlns:a="http://schemas.openxmlformats.org/drawingml/2006/main" noGrp="1"/>
          </p:cNvSpPr>
          <p:nvPr/>
        </p:nvSpPr>
        <p:spPr>
          <a:xfrm xmlns:a="http://schemas.openxmlformats.org/drawingml/2006/main">
            <a:off x="752475" y="54292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i="0">
                <a:solidFill>
                  <a:srgbClr val="58636A"/>
                </a:solidFill>
                <a:latin typeface="Calibri"/>
                <a:ea typeface="Calibri"/>
                <a:cs typeface="Calibri"/>
              </a:defRPr>
            </a:defPPr>
          </a:lstStyle>
          <a:p xmlns:a="http://schemas.openxmlformats.org/drawingml/2006/main">
            <a:pPr algn="l">
              <a:lnSpc>
                <a:spcPct val="116000"/>
              </a:lnSpc>
              <a:buNone/>
              <a:defRPr sz="1800" b="0" i="0">
                <a:solidFill>
                  <a:srgbClr val="58636A"/>
                </a:solidFill>
                <a:latin typeface="Calibri"/>
                <a:ea typeface="Calibri"/>
                <a:cs typeface="Calibri"/>
              </a:defRPr>
            </a:pPr>
            <a:r>
              <a:rPr sz="1800" b="0" i="0">
                <a:solidFill>
                  <a:srgbClr val="58636A"/>
                </a:solidFill>
                <a:latin typeface="Calibri"/>
                <a:ea typeface="Calibri"/>
                <a:cs typeface="Calibri"/>
              </a:rPr>
              <a:t>October 2026</a:t>
            </a:r>
          </a:p>
        </p:txBody>
      </p:sp>
      <p:sp>
        <p:nvSpPr>
          <p:cNvPr id="8" name="text-ufj69w-7">
            <a:extLst xmlns:a="http://schemas.openxmlformats.org/drawingml/2006/main">
              <a:ext uri="{FF2B5EF4-FFF2-40B4-BE49-F238E27FC236}">
                <a16:creationId xmlns:a16="http://schemas.microsoft.com/office/drawing/2014/main" id="{86D368A6-2E84-4D3E-B7B5-91E4A37E7FC2}"/>
              </a:ext>
            </a:extLst>
          </p:cNvPr>
          <p:cNvSpPr>
            <a:spLocks xmlns:a="http://schemas.openxmlformats.org/drawingml/2006/main" noGrp="1"/>
          </p:cNvSpPr>
          <p:nvPr/>
        </p:nvSpPr>
        <p:spPr>
          <a:xfrm xmlns:a="http://schemas.openxmlformats.org/drawingml/2006/main">
            <a:off x="752475" y="596265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i="0">
                <a:solidFill>
                  <a:srgbClr val="58636A"/>
                </a:solidFill>
                <a:latin typeface="Calibri"/>
                <a:ea typeface="Calibri"/>
                <a:cs typeface="Calibri"/>
              </a:defRPr>
            </a:defPPr>
          </a:lstStyle>
          <a:p xmlns:a="http://schemas.openxmlformats.org/drawingml/2006/main">
            <a:pPr algn="l">
              <a:lnSpc>
                <a:spcPct val="116000"/>
              </a:lnSpc>
              <a:buNone/>
              <a:defRPr sz="1650" b="0" i="0">
                <a:solidFill>
                  <a:srgbClr val="58636A"/>
                </a:solidFill>
                <a:latin typeface="Calibri"/>
                <a:ea typeface="Calibri"/>
                <a:cs typeface="Calibri"/>
              </a:defRPr>
            </a:pPr>
            <a:r>
              <a:rPr sz="1650" b="0" i="0">
                <a:solidFill>
                  <a:srgbClr val="58636A"/>
                </a:solidFill>
                <a:latin typeface="Calibri"/>
                <a:ea typeface="Calibri"/>
                <a:cs typeface="Calibri"/>
              </a:rPr>
              <a:t>Fictional company and synthetic business data</a:t>
            </a:r>
          </a:p>
        </p:txBody>
      </p:sp>
      <p:sp>
        <p:nvSpPr>
          <p:cNvPr id="10" name="portfolio-context">
            <a:extLst xmlns:a="http://schemas.openxmlformats.org/drawingml/2006/main">
              <a:ext uri="{FF2B5EF4-FFF2-40B4-BE49-F238E27FC236}">
                <a16:creationId xmlns:a16="http://schemas.microsoft.com/office/drawing/2014/main" id="{F47EEA1A-14A8-420A-BC2C-659AD485F054}"/>
              </a:ext>
            </a:extLst>
          </p:cNvPr>
          <p:cNvSpPr>
            <a:spLocks xmlns:a="http://schemas.openxmlformats.org/drawingml/2006/main" noGrp="1"/>
          </p:cNvSpPr>
          <p:nvPr/>
        </p:nvSpPr>
        <p:spPr>
          <a:xfrm xmlns:a="http://schemas.openxmlformats.org/drawingml/2006/main">
            <a:off x="752475" y="44005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58636A"/>
                </a:solidFill>
                <a:latin typeface="Calibri"/>
                <a:ea typeface="Calibri"/>
                <a:cs typeface="Calibri"/>
              </a:defRPr>
            </a:defPPr>
          </a:lstStyle>
          <a:p xmlns:a="http://schemas.openxmlformats.org/drawingml/2006/main">
            <a:pPr algn="l">
              <a:lnSpc>
                <a:spcPct val="116000"/>
              </a:lnSpc>
              <a:buNone/>
              <a:defRPr sz="1800">
                <a:solidFill>
                  <a:srgbClr val="58636A"/>
                </a:solidFill>
                <a:latin typeface="Calibri"/>
                <a:ea typeface="Calibri"/>
                <a:cs typeface="Calibri"/>
              </a:defRPr>
            </a:pPr>
            <a:r>
              <a:rPr sz="1800">
                <a:solidFill>
                  <a:srgbClr val="58636A"/>
                </a:solidFill>
                <a:latin typeface="Calibri"/>
                <a:ea typeface="Calibri"/>
                <a:cs typeface="Calibri"/>
              </a:rPr>
              <a:t>An Odoo portfolio case</a:t>
            </a:r>
          </a:p>
        </p:txBody>
      </p:sp>
      <p:pic>
        <p:nvPicPr>
          <p:cNvPr id="11" name="">
            <a:extLst xmlns:a="http://schemas.openxmlformats.org/drawingml/2006/main">
              <a:ext uri="{FF2B5EF4-FFF2-40B4-BE49-F238E27FC236}">
                <a16:creationId xmlns:a16="http://schemas.microsoft.com/office/drawing/2014/main" id="{2C9C7206-D15C-40ED-A45D-333351080281}"/>
              </a:ext>
            </a:extLst>
          </p:cNvPr>
          <p:cNvPicPr>
            <a:picLocks xmlns:a="http://schemas.openxmlformats.org/drawingml/2006/main" noChangeAspect="1"/>
          </p:cNvPicPr>
          <p:nvPr/>
        </p:nvPicPr>
        <p:blipFill>
          <a:blip xmlns:r="http://schemas.openxmlformats.org/officeDocument/2006/relationships" xmlns:a="http://schemas.openxmlformats.org/drawingml/2006/main" r:embed="Rb13e0df4c57b4348"/>
          <a:stretch xmlns:a="http://schemas.openxmlformats.org/drawingml/2006/main"/>
        </p:blipFill>
        <p:spPr>
          <a:xfrm xmlns:a="http://schemas.openxmlformats.org/drawingml/2006/main">
            <a:off x="8696325" y="3143250"/>
            <a:ext cx="2667000" cy="2667000"/>
          </a:xfrm>
          <a:prstGeom xmlns:a="http://schemas.openxmlformats.org/drawingml/2006/main" prst="rect">
            <a:avLst/>
          </a:prstGeom>
        </p:spPr>
      </p:pic>
    </p:spTree>
    <p:extLst>
      <p:ext uri="{BB962C8B-B14F-4D97-AF65-F5344CB8AC3E}">
        <p14:creationId xmlns:p14="http://schemas.microsoft.com/office/powerpoint/2010/main" val="14817717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w4vzo2-0">
            <a:extLst xmlns:a="http://schemas.openxmlformats.org/drawingml/2006/main">
              <a:ext uri="{FF2B5EF4-FFF2-40B4-BE49-F238E27FC236}">
                <a16:creationId xmlns:a16="http://schemas.microsoft.com/office/drawing/2014/main" id="{09ADDFA9-1C62-4D77-B841-8A5DB8095107}"/>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The stock shortage</a:t>
            </a:r>
          </a:p>
        </p:txBody>
      </p:sp>
      <p:sp>
        <p:nvSpPr>
          <p:cNvPr id="2" name="text-w4vzo2-1">
            <a:extLst xmlns:a="http://schemas.openxmlformats.org/drawingml/2006/main">
              <a:ext uri="{FF2B5EF4-FFF2-40B4-BE49-F238E27FC236}">
                <a16:creationId xmlns:a16="http://schemas.microsoft.com/office/drawing/2014/main" id="{8BE4EE46-9129-4753-95B6-DFEF7A212328}"/>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w4vzo2-2">
            <a:extLst xmlns:a="http://schemas.openxmlformats.org/drawingml/2006/main">
              <a:ext uri="{FF2B5EF4-FFF2-40B4-BE49-F238E27FC236}">
                <a16:creationId xmlns:a16="http://schemas.microsoft.com/office/drawing/2014/main" id="{73F1E3EE-EBE1-4722-BB2D-3BF029C99C56}"/>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2</a:t>
            </a:r>
          </a:p>
        </p:txBody>
      </p:sp>
      <p:sp>
        <p:nvSpPr>
          <p:cNvPr id="4" name="text-w4vzo2-3">
            <a:extLst xmlns:a="http://schemas.openxmlformats.org/drawingml/2006/main">
              <a:ext uri="{FF2B5EF4-FFF2-40B4-BE49-F238E27FC236}">
                <a16:creationId xmlns:a16="http://schemas.microsoft.com/office/drawing/2014/main" id="{FAE3D7C5-891A-4F6E-91F8-D79007F5A322}"/>
              </a:ext>
            </a:extLst>
          </p:cNvPr>
          <p:cNvSpPr>
            <a:spLocks xmlns:a="http://schemas.openxmlformats.org/drawingml/2006/main" noGrp="1"/>
          </p:cNvSpPr>
          <p:nvPr/>
        </p:nvSpPr>
        <p:spPr>
          <a:xfrm xmlns:a="http://schemas.openxmlformats.org/drawingml/2006/main">
            <a:off x="723900" y="1609725"/>
            <a:ext cx="676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i="0">
                <a:solidFill>
                  <a:srgbClr val="29343A"/>
                </a:solidFill>
                <a:latin typeface="Calibri"/>
                <a:ea typeface="Calibri"/>
                <a:cs typeface="Calibri"/>
              </a:defRPr>
            </a:defPPr>
          </a:lstStyle>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HALY is a powdered-drink manufacturer.</a:t>
            </a:r>
          </a:p>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A seasonal promotion creates more orders</a:t>
            </a:r>
          </a:p>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than the available finished stock can cover.</a:t>
            </a:r>
          </a:p>
        </p:txBody>
      </p:sp>
      <p:sp>
        <p:nvSpPr>
          <p:cNvPr id="5" name="text-w4vzo2-4">
            <a:extLst xmlns:a="http://schemas.openxmlformats.org/drawingml/2006/main">
              <a:ext uri="{FF2B5EF4-FFF2-40B4-BE49-F238E27FC236}">
                <a16:creationId xmlns:a16="http://schemas.microsoft.com/office/drawing/2014/main" id="{B72B3743-C9CA-44D1-987C-44ED9A18F131}"/>
              </a:ext>
            </a:extLst>
          </p:cNvPr>
          <p:cNvSpPr>
            <a:spLocks xmlns:a="http://schemas.openxmlformats.org/drawingml/2006/main" noGrp="1"/>
          </p:cNvSpPr>
          <p:nvPr/>
        </p:nvSpPr>
        <p:spPr>
          <a:xfrm xmlns:a="http://schemas.openxmlformats.org/drawingml/2006/main">
            <a:off x="723900" y="3457575"/>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i="0">
                <a:solidFill>
                  <a:srgbClr val="29343A"/>
                </a:solidFill>
                <a:latin typeface="Calibri"/>
                <a:ea typeface="Calibri"/>
                <a:cs typeface="Calibri"/>
              </a:defRPr>
            </a:defPPr>
          </a:lstStyle>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Two suppliers provide the raw materials.</a:t>
            </a:r>
          </a:p>
          <a:p xmlns:a="http://schemas.openxmlformats.org/drawingml/2006/main">
            <a:pPr algn="l">
              <a:lnSpc>
                <a:spcPct val="116000"/>
              </a:lnSpc>
              <a:buNone/>
              <a:defRPr sz="2250" b="0" i="0">
                <a:solidFill>
                  <a:srgbClr val="29343A"/>
                </a:solidFill>
                <a:latin typeface="Calibri"/>
                <a:ea typeface="Calibri"/>
                <a:cs typeface="Calibri"/>
              </a:defRPr>
            </a:pPr>
            <a:r>
              <a:rPr sz="2250" b="0" i="0">
                <a:solidFill>
                  <a:srgbClr val="29343A"/>
                </a:solidFill>
                <a:latin typeface="Calibri"/>
                <a:ea typeface="Calibri"/>
                <a:cs typeface="Calibri"/>
              </a:rPr>
              <a:t>HALY uses them to make the remaining units.</a:t>
            </a:r>
          </a:p>
        </p:txBody>
      </p:sp>
      <p:sp>
        <p:nvSpPr>
          <p:cNvPr id="6" name="text-w4vzo2-5">
            <a:extLst xmlns:a="http://schemas.openxmlformats.org/drawingml/2006/main">
              <a:ext uri="{FF2B5EF4-FFF2-40B4-BE49-F238E27FC236}">
                <a16:creationId xmlns:a16="http://schemas.microsoft.com/office/drawing/2014/main" id="{5D1EE644-E9D0-4B26-96C0-4F7828E2E8C6}"/>
              </a:ext>
            </a:extLst>
          </p:cNvPr>
          <p:cNvSpPr>
            <a:spLocks xmlns:a="http://schemas.openxmlformats.org/drawingml/2006/main" noGrp="1"/>
          </p:cNvSpPr>
          <p:nvPr/>
        </p:nvSpPr>
        <p:spPr>
          <a:xfrm xmlns:a="http://schemas.openxmlformats.org/drawingml/2006/main">
            <a:off x="8267700" y="1724025"/>
            <a:ext cx="320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0" i="0">
                <a:solidFill>
                  <a:srgbClr val="29343A"/>
                </a:solidFill>
                <a:latin typeface="Calibri"/>
                <a:ea typeface="Calibri"/>
                <a:cs typeface="Calibri"/>
              </a:defRPr>
            </a:defPPr>
          </a:lstStyle>
          <a:p xmlns:a="http://schemas.openxmlformats.org/drawingml/2006/main">
            <a:pPr algn="r">
              <a:lnSpc>
                <a:spcPct val="116000"/>
              </a:lnSpc>
              <a:buNone/>
              <a:defRPr sz="2175" b="0" i="0">
                <a:solidFill>
                  <a:srgbClr val="29343A"/>
                </a:solidFill>
                <a:latin typeface="Calibri"/>
                <a:ea typeface="Calibri"/>
                <a:cs typeface="Calibri"/>
              </a:defRPr>
            </a:pPr>
            <a:r>
              <a:rPr sz="2175" b="0" i="0">
                <a:solidFill>
                  <a:srgbClr val="29343A"/>
                </a:solidFill>
                <a:latin typeface="Calibri"/>
                <a:ea typeface="Calibri"/>
                <a:cs typeface="Calibri"/>
              </a:rPr>
              <a:t>900 units ordered</a:t>
            </a:r>
          </a:p>
        </p:txBody>
      </p:sp>
      <p:sp>
        <p:nvSpPr>
          <p:cNvPr id="7" name="text-w4vzo2-6">
            <a:extLst xmlns:a="http://schemas.openxmlformats.org/drawingml/2006/main">
              <a:ext uri="{FF2B5EF4-FFF2-40B4-BE49-F238E27FC236}">
                <a16:creationId xmlns:a16="http://schemas.microsoft.com/office/drawing/2014/main" id="{9B39C566-7926-4463-9FCA-9F7085A8D02B}"/>
              </a:ext>
            </a:extLst>
          </p:cNvPr>
          <p:cNvSpPr>
            <a:spLocks xmlns:a="http://schemas.openxmlformats.org/drawingml/2006/main" noGrp="1"/>
          </p:cNvSpPr>
          <p:nvPr/>
        </p:nvSpPr>
        <p:spPr>
          <a:xfrm xmlns:a="http://schemas.openxmlformats.org/drawingml/2006/main">
            <a:off x="8267700" y="2324100"/>
            <a:ext cx="320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0" i="0">
                <a:solidFill>
                  <a:srgbClr val="29343A"/>
                </a:solidFill>
                <a:latin typeface="Calibri"/>
                <a:ea typeface="Calibri"/>
                <a:cs typeface="Calibri"/>
              </a:defRPr>
            </a:defPPr>
          </a:lstStyle>
          <a:p xmlns:a="http://schemas.openxmlformats.org/drawingml/2006/main">
            <a:pPr algn="r">
              <a:lnSpc>
                <a:spcPct val="116000"/>
              </a:lnSpc>
              <a:buNone/>
              <a:defRPr sz="2175" b="0" i="0">
                <a:solidFill>
                  <a:srgbClr val="29343A"/>
                </a:solidFill>
                <a:latin typeface="Calibri"/>
                <a:ea typeface="Calibri"/>
                <a:cs typeface="Calibri"/>
              </a:defRPr>
            </a:pPr>
            <a:r>
              <a:rPr sz="2175" b="0" i="0">
                <a:solidFill>
                  <a:srgbClr val="29343A"/>
                </a:solidFill>
                <a:latin typeface="Calibri"/>
                <a:ea typeface="Calibri"/>
                <a:cs typeface="Calibri"/>
              </a:rPr>
              <a:t>500 units in stock</a:t>
            </a:r>
          </a:p>
        </p:txBody>
      </p:sp>
      <p:sp>
        <p:nvSpPr>
          <p:cNvPr id="8" name="text-w4vzo2-7">
            <a:extLst xmlns:a="http://schemas.openxmlformats.org/drawingml/2006/main">
              <a:ext uri="{FF2B5EF4-FFF2-40B4-BE49-F238E27FC236}">
                <a16:creationId xmlns:a16="http://schemas.microsoft.com/office/drawing/2014/main" id="{178D5C23-1998-40FC-AB63-13B645C335A2}"/>
              </a:ext>
            </a:extLst>
          </p:cNvPr>
          <p:cNvSpPr>
            <a:spLocks xmlns:a="http://schemas.openxmlformats.org/drawingml/2006/main" noGrp="1"/>
          </p:cNvSpPr>
          <p:nvPr/>
        </p:nvSpPr>
        <p:spPr>
          <a:xfrm xmlns:a="http://schemas.openxmlformats.org/drawingml/2006/main">
            <a:off x="8267700" y="3057525"/>
            <a:ext cx="320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1" i="0">
                <a:solidFill>
                  <a:srgbClr val="6F4F64"/>
                </a:solidFill>
                <a:latin typeface="Calibri"/>
                <a:ea typeface="Calibri"/>
                <a:cs typeface="Calibri"/>
              </a:defRPr>
            </a:defPPr>
          </a:lstStyle>
          <a:p xmlns:a="http://schemas.openxmlformats.org/drawingml/2006/main">
            <a:pPr algn="r">
              <a:lnSpc>
                <a:spcPct val="116000"/>
              </a:lnSpc>
              <a:buNone/>
              <a:defRPr sz="2175" b="1" i="0">
                <a:solidFill>
                  <a:srgbClr val="6F4F64"/>
                </a:solidFill>
                <a:latin typeface="Calibri"/>
                <a:ea typeface="Calibri"/>
                <a:cs typeface="Calibri"/>
              </a:defRPr>
            </a:pPr>
            <a:r>
              <a:rPr sz="2175" b="1" i="0">
                <a:solidFill>
                  <a:srgbClr val="6F4F64"/>
                </a:solidFill>
                <a:latin typeface="Calibri"/>
                <a:ea typeface="Calibri"/>
                <a:cs typeface="Calibri"/>
              </a:rPr>
              <a:t>400 units to make</a:t>
            </a:r>
          </a:p>
        </p:txBody>
      </p:sp>
      <p:sp>
        <p:nvSpPr>
          <p:cNvPr id="9" name="text-w4vzo2-8">
            <a:extLst xmlns:a="http://schemas.openxmlformats.org/drawingml/2006/main">
              <a:ext uri="{FF2B5EF4-FFF2-40B4-BE49-F238E27FC236}">
                <a16:creationId xmlns:a16="http://schemas.microsoft.com/office/drawing/2014/main" id="{B7B19C20-9582-4055-9C18-E5E0D985F5F8}"/>
              </a:ext>
            </a:extLst>
          </p:cNvPr>
          <p:cNvSpPr>
            <a:spLocks xmlns:a="http://schemas.openxmlformats.org/drawingml/2006/main" noGrp="1"/>
          </p:cNvSpPr>
          <p:nvPr/>
        </p:nvSpPr>
        <p:spPr>
          <a:xfrm xmlns:a="http://schemas.openxmlformats.org/drawingml/2006/main">
            <a:off x="723900" y="5391150"/>
            <a:ext cx="10744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The question is who gets the available stock while production catches up.</a:t>
            </a:r>
          </a:p>
        </p:txBody>
      </p:sp>
    </p:spTree>
    <p:extLst>
      <p:ext uri="{BB962C8B-B14F-4D97-AF65-F5344CB8AC3E}">
        <p14:creationId xmlns:p14="http://schemas.microsoft.com/office/powerpoint/2010/main" val="802312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s9b4vc-0">
            <a:extLst xmlns:a="http://schemas.openxmlformats.org/drawingml/2006/main">
              <a:ext uri="{FF2B5EF4-FFF2-40B4-BE49-F238E27FC236}">
                <a16:creationId xmlns:a16="http://schemas.microsoft.com/office/drawing/2014/main" id="{F98743C2-EF62-4839-B482-3DB34E423006}"/>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How the work flows</a:t>
            </a:r>
          </a:p>
        </p:txBody>
      </p:sp>
      <p:sp>
        <p:nvSpPr>
          <p:cNvPr id="2" name="text-s9b4vc-1">
            <a:extLst xmlns:a="http://schemas.openxmlformats.org/drawingml/2006/main">
              <a:ext uri="{FF2B5EF4-FFF2-40B4-BE49-F238E27FC236}">
                <a16:creationId xmlns:a16="http://schemas.microsoft.com/office/drawing/2014/main" id="{E7BAC1D9-3D12-4C84-A739-FBE692373042}"/>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s9b4vc-2">
            <a:extLst xmlns:a="http://schemas.openxmlformats.org/drawingml/2006/main">
              <a:ext uri="{FF2B5EF4-FFF2-40B4-BE49-F238E27FC236}">
                <a16:creationId xmlns:a16="http://schemas.microsoft.com/office/drawing/2014/main" id="{B303DA5D-DFC5-4690-924E-7F85B95E9B16}"/>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3</a:t>
            </a:r>
          </a:p>
        </p:txBody>
      </p:sp>
      <p:sp>
        <p:nvSpPr>
          <p:cNvPr id="4" name="text-s9b4vc-3">
            <a:extLst xmlns:a="http://schemas.openxmlformats.org/drawingml/2006/main">
              <a:ext uri="{FF2B5EF4-FFF2-40B4-BE49-F238E27FC236}">
                <a16:creationId xmlns:a16="http://schemas.microsoft.com/office/drawing/2014/main" id="{15E5A6FB-6D17-455C-B8E2-692AB3521EE7}"/>
              </a:ext>
            </a:extLst>
          </p:cNvPr>
          <p:cNvSpPr>
            <a:spLocks xmlns:a="http://schemas.openxmlformats.org/drawingml/2006/main" noGrp="1"/>
          </p:cNvSpPr>
          <p:nvPr/>
        </p:nvSpPr>
        <p:spPr>
          <a:xfrm xmlns:a="http://schemas.openxmlformats.org/drawingml/2006/main">
            <a:off x="723900" y="16287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1. Sales</a:t>
            </a:r>
          </a:p>
        </p:txBody>
      </p:sp>
      <p:sp>
        <p:nvSpPr>
          <p:cNvPr id="5" name="text-s9b4vc-4">
            <a:extLst xmlns:a="http://schemas.openxmlformats.org/drawingml/2006/main">
              <a:ext uri="{FF2B5EF4-FFF2-40B4-BE49-F238E27FC236}">
                <a16:creationId xmlns:a16="http://schemas.microsoft.com/office/drawing/2014/main" id="{C47B6E7D-386A-4FFE-9FDC-0E6D94A3A4CD}"/>
              </a:ext>
            </a:extLst>
          </p:cNvPr>
          <p:cNvSpPr>
            <a:spLocks xmlns:a="http://schemas.openxmlformats.org/drawingml/2006/main" noGrp="1"/>
          </p:cNvSpPr>
          <p:nvPr/>
        </p:nvSpPr>
        <p:spPr>
          <a:xfrm xmlns:a="http://schemas.openxmlformats.org/drawingml/2006/main">
            <a:off x="3333750" y="1628775"/>
            <a:ext cx="813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Record the accepted warehouse dispatch date.</a:t>
            </a:r>
          </a:p>
        </p:txBody>
      </p:sp>
      <p:sp>
        <p:nvSpPr>
          <p:cNvPr id="6" name="text-s9b4vc-5">
            <a:extLst xmlns:a="http://schemas.openxmlformats.org/drawingml/2006/main">
              <a:ext uri="{FF2B5EF4-FFF2-40B4-BE49-F238E27FC236}">
                <a16:creationId xmlns:a16="http://schemas.microsoft.com/office/drawing/2014/main" id="{38CE829D-6581-465F-82ED-D115DDE21986}"/>
              </a:ext>
            </a:extLst>
          </p:cNvPr>
          <p:cNvSpPr>
            <a:spLocks xmlns:a="http://schemas.openxmlformats.org/drawingml/2006/main" noGrp="1"/>
          </p:cNvSpPr>
          <p:nvPr/>
        </p:nvSpPr>
        <p:spPr>
          <a:xfrm xmlns:a="http://schemas.openxmlformats.org/drawingml/2006/main">
            <a:off x="723900" y="24669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2. Stock</a:t>
            </a:r>
          </a:p>
        </p:txBody>
      </p:sp>
      <p:sp>
        <p:nvSpPr>
          <p:cNvPr id="7" name="text-s9b4vc-6">
            <a:extLst xmlns:a="http://schemas.openxmlformats.org/drawingml/2006/main">
              <a:ext uri="{FF2B5EF4-FFF2-40B4-BE49-F238E27FC236}">
                <a16:creationId xmlns:a16="http://schemas.microsoft.com/office/drawing/2014/main" id="{FC159EED-EECC-4536-AC12-8DBBA9C2259A}"/>
              </a:ext>
            </a:extLst>
          </p:cNvPr>
          <p:cNvSpPr>
            <a:spLocks xmlns:a="http://schemas.openxmlformats.org/drawingml/2006/main" noGrp="1"/>
          </p:cNvSpPr>
          <p:nvPr/>
        </p:nvSpPr>
        <p:spPr>
          <a:xfrm xmlns:a="http://schemas.openxmlformats.org/drawingml/2006/main">
            <a:off x="3333750" y="2466975"/>
            <a:ext cx="813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Reserve eligible stock in accepted-date order.</a:t>
            </a:r>
          </a:p>
        </p:txBody>
      </p:sp>
      <p:sp>
        <p:nvSpPr>
          <p:cNvPr id="8" name="text-s9b4vc-7">
            <a:extLst xmlns:a="http://schemas.openxmlformats.org/drawingml/2006/main">
              <a:ext uri="{FF2B5EF4-FFF2-40B4-BE49-F238E27FC236}">
                <a16:creationId xmlns:a16="http://schemas.microsoft.com/office/drawing/2014/main" id="{39D6942E-24FC-4F20-80C6-EFE416BB0E09}"/>
              </a:ext>
            </a:extLst>
          </p:cNvPr>
          <p:cNvSpPr>
            <a:spLocks xmlns:a="http://schemas.openxmlformats.org/drawingml/2006/main" noGrp="1"/>
          </p:cNvSpPr>
          <p:nvPr/>
        </p:nvSpPr>
        <p:spPr>
          <a:xfrm xmlns:a="http://schemas.openxmlformats.org/drawingml/2006/main">
            <a:off x="723900" y="33051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3. Supply</a:t>
            </a:r>
          </a:p>
        </p:txBody>
      </p:sp>
      <p:sp>
        <p:nvSpPr>
          <p:cNvPr id="9" name="text-s9b4vc-8">
            <a:extLst xmlns:a="http://schemas.openxmlformats.org/drawingml/2006/main">
              <a:ext uri="{FF2B5EF4-FFF2-40B4-BE49-F238E27FC236}">
                <a16:creationId xmlns:a16="http://schemas.microsoft.com/office/drawing/2014/main" id="{1ECE2F52-C289-4460-8BDB-3FF930ABC9AA}"/>
              </a:ext>
            </a:extLst>
          </p:cNvPr>
          <p:cNvSpPr>
            <a:spLocks xmlns:a="http://schemas.openxmlformats.org/drawingml/2006/main" noGrp="1"/>
          </p:cNvSpPr>
          <p:nvPr/>
        </p:nvSpPr>
        <p:spPr>
          <a:xfrm xmlns:a="http://schemas.openxmlformats.org/drawingml/2006/main">
            <a:off x="3333750" y="3305175"/>
            <a:ext cx="813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Receive raw materials and record in-house production.</a:t>
            </a:r>
          </a:p>
        </p:txBody>
      </p:sp>
      <p:sp>
        <p:nvSpPr>
          <p:cNvPr id="10" name="text-s9b4vc-9">
            <a:extLst xmlns:a="http://schemas.openxmlformats.org/drawingml/2006/main">
              <a:ext uri="{FF2B5EF4-FFF2-40B4-BE49-F238E27FC236}">
                <a16:creationId xmlns:a16="http://schemas.microsoft.com/office/drawing/2014/main" id="{CB42CF68-A2D8-4EFD-A8A9-9576DBD1781A}"/>
              </a:ext>
            </a:extLst>
          </p:cNvPr>
          <p:cNvSpPr>
            <a:spLocks xmlns:a="http://schemas.openxmlformats.org/drawingml/2006/main" noGrp="1"/>
          </p:cNvSpPr>
          <p:nvPr/>
        </p:nvSpPr>
        <p:spPr>
          <a:xfrm xmlns:a="http://schemas.openxmlformats.org/drawingml/2006/main">
            <a:off x="723900" y="41433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4. Warehouse</a:t>
            </a:r>
          </a:p>
        </p:txBody>
      </p:sp>
      <p:sp>
        <p:nvSpPr>
          <p:cNvPr id="11" name="text-s9b4vc-10">
            <a:extLst xmlns:a="http://schemas.openxmlformats.org/drawingml/2006/main">
              <a:ext uri="{FF2B5EF4-FFF2-40B4-BE49-F238E27FC236}">
                <a16:creationId xmlns:a16="http://schemas.microsoft.com/office/drawing/2014/main" id="{EC1B146B-258E-4891-9D94-D8DED136F8C2}"/>
              </a:ext>
            </a:extLst>
          </p:cNvPr>
          <p:cNvSpPr>
            <a:spLocks xmlns:a="http://schemas.openxmlformats.org/drawingml/2006/main" noGrp="1"/>
          </p:cNvSpPr>
          <p:nvPr/>
        </p:nvSpPr>
        <p:spPr>
          <a:xfrm xmlns:a="http://schemas.openxmlformats.org/drawingml/2006/main">
            <a:off x="3333750" y="4143375"/>
            <a:ext cx="813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Prepare and validate the permitted shipments.</a:t>
            </a:r>
          </a:p>
        </p:txBody>
      </p:sp>
      <p:sp>
        <p:nvSpPr>
          <p:cNvPr id="12" name="text-s9b4vc-11">
            <a:extLst xmlns:a="http://schemas.openxmlformats.org/drawingml/2006/main">
              <a:ext uri="{FF2B5EF4-FFF2-40B4-BE49-F238E27FC236}">
                <a16:creationId xmlns:a16="http://schemas.microsoft.com/office/drawing/2014/main" id="{A86B13FD-5135-4FBF-BD62-2EDEF0FE7A33}"/>
              </a:ext>
            </a:extLst>
          </p:cNvPr>
          <p:cNvSpPr>
            <a:spLocks xmlns:a="http://schemas.openxmlformats.org/drawingml/2006/main" noGrp="1"/>
          </p:cNvSpPr>
          <p:nvPr/>
        </p:nvSpPr>
        <p:spPr>
          <a:xfrm xmlns:a="http://schemas.openxmlformats.org/drawingml/2006/main">
            <a:off x="723900" y="49815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5. Follow-up</a:t>
            </a:r>
          </a:p>
        </p:txBody>
      </p:sp>
      <p:sp>
        <p:nvSpPr>
          <p:cNvPr id="13" name="text-s9b4vc-12">
            <a:extLst xmlns:a="http://schemas.openxmlformats.org/drawingml/2006/main">
              <a:ext uri="{FF2B5EF4-FFF2-40B4-BE49-F238E27FC236}">
                <a16:creationId xmlns:a16="http://schemas.microsoft.com/office/drawing/2014/main" id="{E411881A-BE0D-4E33-A4C1-131D078A1659}"/>
              </a:ext>
            </a:extLst>
          </p:cNvPr>
          <p:cNvSpPr>
            <a:spLocks xmlns:a="http://schemas.openxmlformats.org/drawingml/2006/main" noGrp="1"/>
          </p:cNvSpPr>
          <p:nvPr/>
        </p:nvSpPr>
        <p:spPr>
          <a:xfrm xmlns:a="http://schemas.openxmlformats.org/drawingml/2006/main">
            <a:off x="3333750" y="4981575"/>
            <a:ext cx="813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Give shortages an owner and a next action.</a:t>
            </a:r>
          </a:p>
        </p:txBody>
      </p:sp>
      <p:sp>
        <p:nvSpPr>
          <p:cNvPr id="14" name="text-s9b4vc-13">
            <a:extLst xmlns:a="http://schemas.openxmlformats.org/drawingml/2006/main">
              <a:ext uri="{FF2B5EF4-FFF2-40B4-BE49-F238E27FC236}">
                <a16:creationId xmlns:a16="http://schemas.microsoft.com/office/drawing/2014/main" id="{5568729D-7566-4B8B-A930-D73B23877591}"/>
              </a:ext>
            </a:extLst>
          </p:cNvPr>
          <p:cNvSpPr>
            <a:spLocks xmlns:a="http://schemas.openxmlformats.org/drawingml/2006/main" noGrp="1"/>
          </p:cNvSpPr>
          <p:nvPr/>
        </p:nvSpPr>
        <p:spPr>
          <a:xfrm xmlns:a="http://schemas.openxmlformats.org/drawingml/2006/main">
            <a:off x="723900" y="584835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i="0">
                <a:solidFill>
                  <a:srgbClr val="58636A"/>
                </a:solidFill>
                <a:latin typeface="Calibri"/>
                <a:ea typeface="Calibri"/>
                <a:cs typeface="Calibri"/>
              </a:defRPr>
            </a:defPPr>
          </a:lstStyle>
          <a:p xmlns:a="http://schemas.openxmlformats.org/drawingml/2006/main">
            <a:pPr algn="l">
              <a:lnSpc>
                <a:spcPct val="116000"/>
              </a:lnSpc>
              <a:buNone/>
              <a:defRPr sz="1725" b="0" i="0">
                <a:solidFill>
                  <a:srgbClr val="58636A"/>
                </a:solidFill>
                <a:latin typeface="Calibri"/>
                <a:ea typeface="Calibri"/>
                <a:cs typeface="Calibri"/>
              </a:defRPr>
            </a:pPr>
            <a:r>
              <a:rPr sz="1725" b="0" i="0">
                <a:solidFill>
                  <a:srgbClr val="58636A"/>
                </a:solidFill>
                <a:latin typeface="Calibri"/>
                <a:ea typeface="Calibri"/>
                <a:cs typeface="Calibri"/>
              </a:rPr>
              <a:t>Standard Odoo records the purchases, production and shipments.</a:t>
            </a:r>
          </a:p>
          <a:p xmlns:a="http://schemas.openxmlformats.org/drawingml/2006/main">
            <a:pPr algn="l">
              <a:lnSpc>
                <a:spcPct val="116000"/>
              </a:lnSpc>
              <a:buNone/>
              <a:defRPr sz="1725" b="0" i="0">
                <a:solidFill>
                  <a:srgbClr val="58636A"/>
                </a:solidFill>
                <a:latin typeface="Calibri"/>
                <a:ea typeface="Calibri"/>
                <a:cs typeface="Calibri"/>
              </a:defRPr>
            </a:pPr>
            <a:r>
              <a:rPr sz="1725" b="0" i="0">
                <a:solidFill>
                  <a:srgbClr val="58636A"/>
                </a:solidFill>
                <a:latin typeface="Calibri"/>
                <a:ea typeface="Calibri"/>
                <a:cs typeface="Calibri"/>
              </a:rPr>
              <a:t>The custom addons add date history, stock priority and dispatch checks.</a:t>
            </a:r>
          </a:p>
        </p:txBody>
      </p:sp>
    </p:spTree>
    <p:extLst>
      <p:ext uri="{BB962C8B-B14F-4D97-AF65-F5344CB8AC3E}">
        <p14:creationId xmlns:p14="http://schemas.microsoft.com/office/powerpoint/2010/main" val="841620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cwnvhj-0">
            <a:extLst xmlns:a="http://schemas.openxmlformats.org/drawingml/2006/main">
              <a:ext uri="{FF2B5EF4-FFF2-40B4-BE49-F238E27FC236}">
                <a16:creationId xmlns:a16="http://schemas.microsoft.com/office/drawing/2014/main" id="{16E6AF0D-A601-4CB3-87AC-3E0E0D75679B}"/>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First stock allocation</a:t>
            </a:r>
          </a:p>
        </p:txBody>
      </p:sp>
      <p:sp>
        <p:nvSpPr>
          <p:cNvPr id="2" name="text-cwnvhj-1">
            <a:extLst xmlns:a="http://schemas.openxmlformats.org/drawingml/2006/main">
              <a:ext uri="{FF2B5EF4-FFF2-40B4-BE49-F238E27FC236}">
                <a16:creationId xmlns:a16="http://schemas.microsoft.com/office/drawing/2014/main" id="{C5A5D86F-FA9F-4108-A933-B69A563C1431}"/>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cwnvhj-2">
            <a:extLst xmlns:a="http://schemas.openxmlformats.org/drawingml/2006/main">
              <a:ext uri="{FF2B5EF4-FFF2-40B4-BE49-F238E27FC236}">
                <a16:creationId xmlns:a16="http://schemas.microsoft.com/office/drawing/2014/main" id="{2D400093-B304-4217-BD83-8ACC5385B0E4}"/>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4</a:t>
            </a:r>
          </a:p>
        </p:txBody>
      </p:sp>
      <p:sp>
        <p:nvSpPr>
          <p:cNvPr id="4" name="text-cwnvhj-3">
            <a:extLst xmlns:a="http://schemas.openxmlformats.org/drawingml/2006/main">
              <a:ext uri="{FF2B5EF4-FFF2-40B4-BE49-F238E27FC236}">
                <a16:creationId xmlns:a16="http://schemas.microsoft.com/office/drawing/2014/main" id="{649D41BE-48BD-456A-BEA2-070E92C04D4C}"/>
              </a:ext>
            </a:extLst>
          </p:cNvPr>
          <p:cNvSpPr>
            <a:spLocks xmlns:a="http://schemas.openxmlformats.org/drawingml/2006/main" noGrp="1"/>
          </p:cNvSpPr>
          <p:nvPr/>
        </p:nvSpPr>
        <p:spPr>
          <a:xfrm xmlns:a="http://schemas.openxmlformats.org/drawingml/2006/main">
            <a:off x="723900" y="132397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The first 500 units go to the orders with the earliest accepted dispatch dates.</a:t>
            </a:r>
          </a:p>
        </p:txBody>
      </p:sp>
      <p:graphicFrame>
        <p:nvGraphicFramePr>
          <p:cNvPr id="5" name="">
            <a:extLst xmlns:a="http://schemas.openxmlformats.org/drawingml/2006/main">
              <a:ext uri="{FF2B5EF4-FFF2-40B4-BE49-F238E27FC236}">
                <a16:creationId xmlns:a16="http://schemas.microsoft.com/office/drawing/2014/main" id="{9FEDCDFF-31EA-4315-B847-CFAC9F616902}"/>
              </a:ext>
            </a:extLst>
          </p:cNvPr>
          <p:cNvGraphicFramePr/>
          <p:nvPr/>
        </p:nvGraphicFramePr>
        <p:xfrm>
          <a:off xmlns:a="http://schemas.openxmlformats.org/drawingml/2006/main" x="723900" y="2238375"/>
          <a:ext xmlns:a="http://schemas.openxmlformats.org/drawingml/2006/main" cx="10744200" cy="3048000"/>
        </p:xfrm>
        <a:graphic xmlns:a="http://schemas.openxmlformats.org/drawingml/2006/main">
          <a:graphicData uri="http://schemas.openxmlformats.org/drawingml/2006/table">
            <a:tbl>
              <a:tblPr firstRow="1" lastRow="0" bandRow="0"/>
              <a:tblGrid>
                <a:gridCol w="857250"/>
                <a:gridCol w="2857500"/>
                <a:gridCol w="1524000"/>
                <a:gridCol w="3048000"/>
                <a:gridCol w="2457450"/>
              </a:tblGrid>
              <a:tr h="762000">
                <a:tc>
                  <a:txBody>
                    <a:bodyPr lIns="95250" tIns="95250" rIns="95250" bIns="95250"/>
                    <a:lstStyle/>
                    <a:p>
                      <a:pPr algn="l">
                        <a:lnSpc>
                          <a:spcPct val="110000"/>
                        </a:lnSpc>
                        <a:buNone/>
                      </a:pPr>
                      <a:r>
                        <a:rPr sz="1800" b="1">
                          <a:solidFill>
                            <a:srgbClr val="29343A"/>
                          </a:solidFill>
                          <a:latin typeface="Calibri"/>
                          <a:ea typeface="Calibri"/>
                          <a:cs typeface="Calibri"/>
                        </a:rPr>
                        <a:t>Order</a:t>
                      </a:r>
                    </a:p>
                  </a:txBody>
                  <a:tcPr marL="91440" marR="91440" marT="45720" marB="45720" anchor="ctr">
                    <a:lnL w="6191">
                      <a:solidFill>
                        <a:srgbClr val="DCE0E3"/>
                      </a:solidFill>
                      <a:prstDash val="solid"/>
                    </a:lnL>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l">
                        <a:lnSpc>
                          <a:spcPct val="110000"/>
                        </a:lnSpc>
                        <a:buNone/>
                      </a:pPr>
                      <a:r>
                        <a:rPr sz="1800" b="1">
                          <a:solidFill>
                            <a:srgbClr val="29343A"/>
                          </a:solidFill>
                          <a:latin typeface="Calibri"/>
                          <a:ea typeface="Calibri"/>
                          <a:cs typeface="Calibri"/>
                        </a:rPr>
                        <a:t>Shipment policy</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Units</a:t>
                      </a:r>
                    </a:p>
                    <a:p>
                      <a:pPr algn="r">
                        <a:lnSpc>
                          <a:spcPct val="110000"/>
                        </a:lnSpc>
                        <a:buNone/>
                      </a:pPr>
                      <a:r>
                        <a:rPr sz="1800" b="1">
                          <a:solidFill>
                            <a:srgbClr val="29343A"/>
                          </a:solidFill>
                          <a:latin typeface="Calibri"/>
                          <a:ea typeface="Calibri"/>
                          <a:cs typeface="Calibri"/>
                        </a:rPr>
                        <a:t>ordered</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l">
                        <a:lnSpc>
                          <a:spcPct val="110000"/>
                        </a:lnSpc>
                        <a:buNone/>
                      </a:pPr>
                      <a:r>
                        <a:rPr sz="1800" b="1">
                          <a:solidFill>
                            <a:srgbClr val="29343A"/>
                          </a:solidFill>
                          <a:latin typeface="Calibri"/>
                          <a:ea typeface="Calibri"/>
                          <a:cs typeface="Calibri"/>
                        </a:rPr>
                        <a:t>Accepted</a:t>
                      </a:r>
                    </a:p>
                    <a:p>
                      <a:pPr algn="l">
                        <a:lnSpc>
                          <a:spcPct val="110000"/>
                        </a:lnSpc>
                        <a:buNone/>
                      </a:pPr>
                      <a:r>
                        <a:rPr sz="1800" b="1">
                          <a:solidFill>
                            <a:srgbClr val="29343A"/>
                          </a:solidFill>
                          <a:latin typeface="Calibri"/>
                          <a:ea typeface="Calibri"/>
                          <a:cs typeface="Calibri"/>
                        </a:rPr>
                        <a:t>dispatch date</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Units</a:t>
                      </a:r>
                    </a:p>
                    <a:p>
                      <a:pPr algn="r">
                        <a:lnSpc>
                          <a:spcPct val="110000"/>
                        </a:lnSpc>
                        <a:buNone/>
                      </a:pPr>
                      <a:r>
                        <a:rPr sz="1800" b="1">
                          <a:solidFill>
                            <a:srgbClr val="29343A"/>
                          </a:solidFill>
                          <a:latin typeface="Calibri"/>
                          <a:ea typeface="Calibri"/>
                          <a:cs typeface="Calibri"/>
                        </a:rPr>
                        <a:t>reserved</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A</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Individual: full order</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200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15 Dec 2026</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200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B</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Corporate: batches</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600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16 Dec 2026</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300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C</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Individual: full order</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100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17 Dec 2026</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1">
                          <a:solidFill>
                            <a:srgbClr val="29343A"/>
                          </a:solidFill>
                          <a:latin typeface="Calibri"/>
                          <a:ea typeface="Calibri"/>
                          <a:cs typeface="Calibri"/>
                        </a:rPr>
                        <a:t>Total</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7F7F7"/>
                    </a:solidFill>
                  </a:tcPr>
                </a:tc>
                <a:tc>
                  <a:txBody>
                    <a:bodyPr lIns="95250" tIns="95250" rIns="95250" bIns="95250"/>
                    <a:lstStyle/>
                    <a:p>
                      <a:r>
                        <a:rPr sz="1800" b="1">
                          <a:solidFill>
                            <a:srgbClr val="29343A"/>
                          </a:solidFill>
                          <a:latin typeface="Calibri"/>
                          <a:ea typeface="Calibri"/>
                          <a:cs typeface="Calibri"/>
                        </a:rPr>
                        <a:t/>
                      </a:r>
                    </a:p>
                  </a:txBody>
                  <a:tcPr marL="91440" marR="91440" marT="45720" marB="45720" anchor="ctr">
                    <a:lnR w="6191">
                      <a:solidFill>
                        <a:srgbClr val="DCE0E3"/>
                      </a:solidFill>
                      <a:prstDash val="solid"/>
                    </a:lnR>
                    <a:lnB w="6191">
                      <a:solidFill>
                        <a:srgbClr val="DCE0E3"/>
                      </a:solidFill>
                      <a:prstDash val="solid"/>
                    </a:lnB>
                    <a:solidFill>
                      <a:srgbClr val="F7F7F7"/>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900</a:t>
                      </a:r>
                    </a:p>
                  </a:txBody>
                  <a:tcPr marL="91440" marR="91440" marT="45720" marB="45720" anchor="ctr">
                    <a:lnR w="6191">
                      <a:solidFill>
                        <a:srgbClr val="DCE0E3"/>
                      </a:solidFill>
                      <a:prstDash val="solid"/>
                    </a:lnR>
                    <a:lnB w="6191">
                      <a:solidFill>
                        <a:srgbClr val="DCE0E3"/>
                      </a:solidFill>
                      <a:prstDash val="solid"/>
                    </a:lnB>
                    <a:solidFill>
                      <a:srgbClr val="F7F7F7"/>
                    </a:solidFill>
                  </a:tcPr>
                </a:tc>
                <a:tc>
                  <a:txBody>
                    <a:bodyPr lIns="95250" tIns="95250" rIns="95250" bIns="95250"/>
                    <a:lstStyle/>
                    <a:p>
                      <a:r>
                        <a:rPr sz="1800" b="1">
                          <a:solidFill>
                            <a:srgbClr val="29343A"/>
                          </a:solidFill>
                          <a:latin typeface="Calibri"/>
                          <a:ea typeface="Calibri"/>
                          <a:cs typeface="Calibri"/>
                        </a:rPr>
                        <a:t/>
                      </a:r>
                    </a:p>
                  </a:txBody>
                  <a:tcPr marL="91440" marR="91440" marT="45720" marB="45720" anchor="ctr">
                    <a:lnR w="6191">
                      <a:solidFill>
                        <a:srgbClr val="DCE0E3"/>
                      </a:solidFill>
                      <a:prstDash val="solid"/>
                    </a:lnR>
                    <a:lnB w="6191">
                      <a:solidFill>
                        <a:srgbClr val="DCE0E3"/>
                      </a:solidFill>
                      <a:prstDash val="solid"/>
                    </a:lnB>
                    <a:solidFill>
                      <a:srgbClr val="F7F7F7"/>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500</a:t>
                      </a:r>
                    </a:p>
                  </a:txBody>
                  <a:tcPr marL="91440" marR="91440" marT="45720" marB="45720" anchor="ctr">
                    <a:lnR w="6191">
                      <a:solidFill>
                        <a:srgbClr val="DCE0E3"/>
                      </a:solidFill>
                      <a:prstDash val="solid"/>
                    </a:lnR>
                    <a:lnB w="6191">
                      <a:solidFill>
                        <a:srgbClr val="DCE0E3"/>
                      </a:solidFill>
                      <a:prstDash val="solid"/>
                    </a:lnB>
                    <a:solidFill>
                      <a:srgbClr val="F7F7F7"/>
                    </a:solidFill>
                  </a:tcPr>
                </a:tc>
              </a:tr>
            </a:tbl>
          </a:graphicData>
        </a:graphic>
      </p:graphicFrame>
      <p:sp>
        <p:nvSpPr>
          <p:cNvPr id="6" name="text-cwnvhj-4">
            <a:extLst xmlns:a="http://schemas.openxmlformats.org/drawingml/2006/main">
              <a:ext uri="{FF2B5EF4-FFF2-40B4-BE49-F238E27FC236}">
                <a16:creationId xmlns:a16="http://schemas.microsoft.com/office/drawing/2014/main" id="{3D2657F9-B3F1-45F2-A691-94BD2F610315}"/>
              </a:ext>
            </a:extLst>
          </p:cNvPr>
          <p:cNvSpPr>
            <a:spLocks xmlns:a="http://schemas.openxmlformats.org/drawingml/2006/main" noGrp="1"/>
          </p:cNvSpPr>
          <p:nvPr/>
        </p:nvSpPr>
        <p:spPr>
          <a:xfrm xmlns:a="http://schemas.openxmlformats.org/drawingml/2006/main">
            <a:off x="723900" y="56197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6F4F64"/>
                </a:solidFill>
                <a:latin typeface="Calibri"/>
                <a:ea typeface="Calibri"/>
                <a:cs typeface="Calibri"/>
              </a:defRPr>
            </a:defPPr>
          </a:lstStyle>
          <a:p xmlns:a="http://schemas.openxmlformats.org/drawingml/2006/main">
            <a:pPr algn="l">
              <a:lnSpc>
                <a:spcPct val="116000"/>
              </a:lnSpc>
              <a:buNone/>
              <a:defRPr sz="2100" b="0" i="0">
                <a:solidFill>
                  <a:srgbClr val="6F4F64"/>
                </a:solidFill>
                <a:latin typeface="Calibri"/>
                <a:ea typeface="Calibri"/>
                <a:cs typeface="Calibri"/>
              </a:defRPr>
            </a:pPr>
            <a:r>
              <a:rPr sz="2100" b="0" i="0">
                <a:solidFill>
                  <a:srgbClr val="6F4F64"/>
                </a:solidFill>
                <a:latin typeface="Calibri"/>
                <a:ea typeface="Calibri"/>
                <a:cs typeface="Calibri"/>
              </a:rPr>
              <a:t>Customer type changes the shipment policy, not the stock priority.</a:t>
            </a:r>
          </a:p>
        </p:txBody>
      </p:sp>
    </p:spTree>
    <p:extLst>
      <p:ext uri="{BB962C8B-B14F-4D97-AF65-F5344CB8AC3E}">
        <p14:creationId xmlns:p14="http://schemas.microsoft.com/office/powerpoint/2010/main" val="18233655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b86kq0-0">
            <a:extLst xmlns:a="http://schemas.openxmlformats.org/drawingml/2006/main">
              <a:ext uri="{FF2B5EF4-FFF2-40B4-BE49-F238E27FC236}">
                <a16:creationId xmlns:a16="http://schemas.microsoft.com/office/drawing/2014/main" id="{180F1F6C-521B-4363-8A5F-0D184FEC9E3A}"/>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Changing a dispatch date</a:t>
            </a:r>
          </a:p>
        </p:txBody>
      </p:sp>
      <p:sp>
        <p:nvSpPr>
          <p:cNvPr id="2" name="text-b86kq0-1">
            <a:extLst xmlns:a="http://schemas.openxmlformats.org/drawingml/2006/main">
              <a:ext uri="{FF2B5EF4-FFF2-40B4-BE49-F238E27FC236}">
                <a16:creationId xmlns:a16="http://schemas.microsoft.com/office/drawing/2014/main" id="{743871F8-9CEE-43F3-AA41-05E97E5C6105}"/>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b86kq0-2">
            <a:extLst xmlns:a="http://schemas.openxmlformats.org/drawingml/2006/main">
              <a:ext uri="{FF2B5EF4-FFF2-40B4-BE49-F238E27FC236}">
                <a16:creationId xmlns:a16="http://schemas.microsoft.com/office/drawing/2014/main" id="{6E2A595D-5856-474C-B02B-CB06B6CFCEC4}"/>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5</a:t>
            </a:r>
          </a:p>
        </p:txBody>
      </p:sp>
      <p:sp>
        <p:nvSpPr>
          <p:cNvPr id="4" name="text-b86kq0-3">
            <a:extLst xmlns:a="http://schemas.openxmlformats.org/drawingml/2006/main">
              <a:ext uri="{FF2B5EF4-FFF2-40B4-BE49-F238E27FC236}">
                <a16:creationId xmlns:a16="http://schemas.microsoft.com/office/drawing/2014/main" id="{5FBE4FCB-7267-46E8-90D4-E41E4D24A9EC}"/>
              </a:ext>
            </a:extLst>
          </p:cNvPr>
          <p:cNvSpPr>
            <a:spLocks xmlns:a="http://schemas.openxmlformats.org/drawingml/2006/main" noGrp="1"/>
          </p:cNvSpPr>
          <p:nvPr/>
        </p:nvSpPr>
        <p:spPr>
          <a:xfrm xmlns:a="http://schemas.openxmlformats.org/drawingml/2006/main">
            <a:off x="723900" y="1304925"/>
            <a:ext cx="10744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A coordinator records acceptance of a proposal to move B from 16 to 14 December.</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The original date stays in the history. Pending or rejected proposals keep the current date.</a:t>
            </a:r>
          </a:p>
        </p:txBody>
      </p:sp>
      <p:pic>
        <p:nvPicPr>
          <p:cNvPr id="5" name="">
            <a:extLst xmlns:a="http://schemas.openxmlformats.org/drawingml/2006/main">
              <a:ext uri="{FF2B5EF4-FFF2-40B4-BE49-F238E27FC236}">
                <a16:creationId xmlns:a16="http://schemas.microsoft.com/office/drawing/2014/main" id="{CFD9C4C4-FED3-477D-B4E0-A575012C2F5E}"/>
              </a:ext>
            </a:extLst>
          </p:cNvPr>
          <p:cNvPicPr>
            <a:picLocks xmlns:a="http://schemas.openxmlformats.org/drawingml/2006/main" noChangeAspect="1"/>
          </p:cNvPicPr>
          <p:nvPr/>
        </p:nvPicPr>
        <p:blipFill>
          <a:blip xmlns:r="http://schemas.openxmlformats.org/officeDocument/2006/relationships" xmlns:a="http://schemas.openxmlformats.org/drawingml/2006/main" r:embed="R64c9779a000b48a8"/>
          <a:srcRect xmlns:a="http://schemas.openxmlformats.org/drawingml/2006/main" l="1953" t="34722" r="3125" b="12500"/>
          <a:stretch xmlns:a="http://schemas.openxmlformats.org/drawingml/2006/main"/>
        </p:blipFill>
        <p:spPr>
          <a:xfrm xmlns:a="http://schemas.openxmlformats.org/drawingml/2006/main">
            <a:off x="723900" y="2409825"/>
            <a:ext cx="10744200" cy="3362325"/>
          </a:xfrm>
          <a:prstGeom xmlns:a="http://schemas.openxmlformats.org/drawingml/2006/main" prst="rect">
            <a:avLst/>
          </a:prstGeom>
        </p:spPr>
      </p:pic>
      <p:sp>
        <p:nvSpPr>
          <p:cNvPr id="6" name="text-b86kq0-4">
            <a:extLst xmlns:a="http://schemas.openxmlformats.org/drawingml/2006/main">
              <a:ext uri="{FF2B5EF4-FFF2-40B4-BE49-F238E27FC236}">
                <a16:creationId xmlns:a16="http://schemas.microsoft.com/office/drawing/2014/main" id="{4DCFF18E-FD81-4D70-9F79-4044786BBB86}"/>
              </a:ext>
            </a:extLst>
          </p:cNvPr>
          <p:cNvSpPr>
            <a:spLocks xmlns:a="http://schemas.openxmlformats.org/drawingml/2006/main" noGrp="1"/>
          </p:cNvSpPr>
          <p:nvPr/>
        </p:nvSpPr>
        <p:spPr>
          <a:xfrm xmlns:a="http://schemas.openxmlformats.org/drawingml/2006/main">
            <a:off x="723900" y="59817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i="0">
                <a:solidFill>
                  <a:srgbClr val="58636A"/>
                </a:solidFill>
                <a:latin typeface="Calibri"/>
                <a:ea typeface="Calibri"/>
                <a:cs typeface="Calibri"/>
              </a:defRPr>
            </a:defPPr>
          </a:lstStyle>
          <a:p xmlns:a="http://schemas.openxmlformats.org/drawingml/2006/main">
            <a:pPr algn="l">
              <a:lnSpc>
                <a:spcPct val="116000"/>
              </a:lnSpc>
              <a:buNone/>
              <a:defRPr sz="1650" b="0" i="0">
                <a:solidFill>
                  <a:srgbClr val="58636A"/>
                </a:solidFill>
                <a:latin typeface="Calibri"/>
                <a:ea typeface="Calibri"/>
                <a:cs typeface="Calibri"/>
              </a:defRPr>
            </a:pPr>
            <a:r>
              <a:rPr sz="1650" b="0" i="0">
                <a:solidFill>
                  <a:srgbClr val="58636A"/>
                </a:solidFill>
                <a:latin typeface="Calibri"/>
                <a:ea typeface="Calibri"/>
                <a:cs typeface="Calibri"/>
              </a:rPr>
              <a:t>Staff enter the response manually. The system does not contact the customer.</a:t>
            </a:r>
          </a:p>
        </p:txBody>
      </p:sp>
    </p:spTree>
    <p:extLst>
      <p:ext uri="{BB962C8B-B14F-4D97-AF65-F5344CB8AC3E}">
        <p14:creationId xmlns:p14="http://schemas.microsoft.com/office/powerpoint/2010/main" val="12892749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ddtocr-0">
            <a:extLst xmlns:a="http://schemas.openxmlformats.org/drawingml/2006/main">
              <a:ext uri="{FF2B5EF4-FFF2-40B4-BE49-F238E27FC236}">
                <a16:creationId xmlns:a16="http://schemas.microsoft.com/office/drawing/2014/main" id="{18F9BDFB-1D2B-4758-819F-DEF4C19909EB}"/>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Stock after the date change</a:t>
            </a:r>
          </a:p>
        </p:txBody>
      </p:sp>
      <p:sp>
        <p:nvSpPr>
          <p:cNvPr id="2" name="text-ddtocr-1">
            <a:extLst xmlns:a="http://schemas.openxmlformats.org/drawingml/2006/main">
              <a:ext uri="{FF2B5EF4-FFF2-40B4-BE49-F238E27FC236}">
                <a16:creationId xmlns:a16="http://schemas.microsoft.com/office/drawing/2014/main" id="{5D78823D-169A-44F9-96B3-FC48D151C2C2}"/>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ddtocr-2">
            <a:extLst xmlns:a="http://schemas.openxmlformats.org/drawingml/2006/main">
              <a:ext uri="{FF2B5EF4-FFF2-40B4-BE49-F238E27FC236}">
                <a16:creationId xmlns:a16="http://schemas.microsoft.com/office/drawing/2014/main" id="{249C50F5-709E-47DF-BA59-65EB6A4A288F}"/>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6</a:t>
            </a:r>
          </a:p>
        </p:txBody>
      </p:sp>
      <p:pic>
        <p:nvPicPr>
          <p:cNvPr id="4" name="">
            <a:extLst xmlns:a="http://schemas.openxmlformats.org/drawingml/2006/main">
              <a:ext uri="{FF2B5EF4-FFF2-40B4-BE49-F238E27FC236}">
                <a16:creationId xmlns:a16="http://schemas.microsoft.com/office/drawing/2014/main" id="{A0601027-2BD3-416D-9D70-CA0DD8B48AC4}"/>
              </a:ext>
            </a:extLst>
          </p:cNvPr>
          <p:cNvPicPr>
            <a:picLocks xmlns:a="http://schemas.openxmlformats.org/drawingml/2006/main" noChangeAspect="1"/>
          </p:cNvPicPr>
          <p:nvPr/>
        </p:nvPicPr>
        <p:blipFill>
          <a:blip xmlns:r="http://schemas.openxmlformats.org/officeDocument/2006/relationships" xmlns:a="http://schemas.openxmlformats.org/drawingml/2006/main" r:embed="Ra642758eca144c8c"/>
          <a:srcRect xmlns:a="http://schemas.openxmlformats.org/drawingml/2006/main" l="1953" t="22917" r="2734" b="20417"/>
          <a:stretch xmlns:a="http://schemas.openxmlformats.org/drawingml/2006/main"/>
        </p:blipFill>
        <p:spPr>
          <a:xfrm xmlns:a="http://schemas.openxmlformats.org/drawingml/2006/main">
            <a:off x="723900" y="1895475"/>
            <a:ext cx="8001000" cy="2676525"/>
          </a:xfrm>
          <a:prstGeom xmlns:a="http://schemas.openxmlformats.org/drawingml/2006/main" prst="rect">
            <a:avLst/>
          </a:prstGeom>
        </p:spPr>
      </p:pic>
      <p:sp>
        <p:nvSpPr>
          <p:cNvPr id="5" name="text-ddtocr-3">
            <a:extLst xmlns:a="http://schemas.openxmlformats.org/drawingml/2006/main">
              <a:ext uri="{FF2B5EF4-FFF2-40B4-BE49-F238E27FC236}">
                <a16:creationId xmlns:a16="http://schemas.microsoft.com/office/drawing/2014/main" id="{981D4C8F-A195-48C5-9AF6-305F7A6CB877}"/>
              </a:ext>
            </a:extLst>
          </p:cNvPr>
          <p:cNvSpPr>
            <a:spLocks xmlns:a="http://schemas.openxmlformats.org/drawingml/2006/main" noGrp="1"/>
          </p:cNvSpPr>
          <p:nvPr/>
        </p:nvSpPr>
        <p:spPr>
          <a:xfrm xmlns:a="http://schemas.openxmlformats.org/drawingml/2006/main">
            <a:off x="9163050" y="1762125"/>
            <a:ext cx="23050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i="0">
                <a:solidFill>
                  <a:srgbClr val="29343A"/>
                </a:solidFill>
                <a:latin typeface="Calibri"/>
                <a:ea typeface="Calibri"/>
                <a:cs typeface="Calibri"/>
              </a:defRPr>
            </a:defPPr>
          </a:lstStyle>
          <a:p xmlns:a="http://schemas.openxmlformats.org/drawingml/2006/main">
            <a:pPr algn="l">
              <a:lnSpc>
                <a:spcPct val="116000"/>
              </a:lnSpc>
              <a:buNone/>
              <a:defRPr sz="1950" b="1" i="0">
                <a:solidFill>
                  <a:srgbClr val="29343A"/>
                </a:solidFill>
                <a:latin typeface="Calibri"/>
                <a:ea typeface="Calibri"/>
                <a:cs typeface="Calibri"/>
              </a:defRPr>
            </a:pPr>
            <a:r>
              <a:rPr sz="1950" b="1" i="0">
                <a:solidFill>
                  <a:srgbClr val="29343A"/>
                </a:solidFill>
                <a:latin typeface="Calibri"/>
                <a:ea typeface="Calibri"/>
                <a:cs typeface="Calibri"/>
              </a:rPr>
              <a:t>B now has the</a:t>
            </a:r>
          </a:p>
          <a:p xmlns:a="http://schemas.openxmlformats.org/drawingml/2006/main">
            <a:pPr algn="l">
              <a:lnSpc>
                <a:spcPct val="116000"/>
              </a:lnSpc>
              <a:buNone/>
              <a:defRPr sz="1950" b="1" i="0">
                <a:solidFill>
                  <a:srgbClr val="29343A"/>
                </a:solidFill>
                <a:latin typeface="Calibri"/>
                <a:ea typeface="Calibri"/>
                <a:cs typeface="Calibri"/>
              </a:defRPr>
            </a:pPr>
            <a:r>
              <a:rPr sz="1950" b="1" i="0">
                <a:solidFill>
                  <a:srgbClr val="29343A"/>
                </a:solidFill>
                <a:latin typeface="Calibri"/>
                <a:ea typeface="Calibri"/>
                <a:cs typeface="Calibri"/>
              </a:rPr>
              <a:t>earliest accepted</a:t>
            </a:r>
          </a:p>
          <a:p xmlns:a="http://schemas.openxmlformats.org/drawingml/2006/main">
            <a:pPr algn="l">
              <a:lnSpc>
                <a:spcPct val="116000"/>
              </a:lnSpc>
              <a:buNone/>
              <a:defRPr sz="1950" b="1" i="0">
                <a:solidFill>
                  <a:srgbClr val="29343A"/>
                </a:solidFill>
                <a:latin typeface="Calibri"/>
                <a:ea typeface="Calibri"/>
                <a:cs typeface="Calibri"/>
              </a:defRPr>
            </a:pPr>
            <a:r>
              <a:rPr sz="1950" b="1" i="0">
                <a:solidFill>
                  <a:srgbClr val="29343A"/>
                </a:solidFill>
                <a:latin typeface="Calibri"/>
                <a:ea typeface="Calibri"/>
                <a:cs typeface="Calibri"/>
              </a:rPr>
              <a:t>dispatch date.</a:t>
            </a:r>
          </a:p>
        </p:txBody>
      </p:sp>
      <p:sp>
        <p:nvSpPr>
          <p:cNvPr id="6" name="text-ddtocr-4">
            <a:extLst xmlns:a="http://schemas.openxmlformats.org/drawingml/2006/main">
              <a:ext uri="{FF2B5EF4-FFF2-40B4-BE49-F238E27FC236}">
                <a16:creationId xmlns:a16="http://schemas.microsoft.com/office/drawing/2014/main" id="{A6B5257B-35E6-477A-B41A-399EBB21F934}"/>
              </a:ext>
            </a:extLst>
          </p:cNvPr>
          <p:cNvSpPr>
            <a:spLocks xmlns:a="http://schemas.openxmlformats.org/drawingml/2006/main" noGrp="1"/>
          </p:cNvSpPr>
          <p:nvPr/>
        </p:nvSpPr>
        <p:spPr>
          <a:xfrm xmlns:a="http://schemas.openxmlformats.org/drawingml/2006/main">
            <a:off x="9163050" y="3238500"/>
            <a:ext cx="2305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i="0">
                <a:solidFill>
                  <a:srgbClr val="29343A"/>
                </a:solidFill>
                <a:latin typeface="Calibri"/>
                <a:ea typeface="Calibri"/>
                <a:cs typeface="Calibri"/>
              </a:defRPr>
            </a:defPPr>
          </a:lstStyle>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600 units ordered</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500 units reserved</a:t>
            </a:r>
          </a:p>
        </p:txBody>
      </p:sp>
      <p:sp>
        <p:nvSpPr>
          <p:cNvPr id="7" name="text-ddtocr-5">
            <a:extLst xmlns:a="http://schemas.openxmlformats.org/drawingml/2006/main">
              <a:ext uri="{FF2B5EF4-FFF2-40B4-BE49-F238E27FC236}">
                <a16:creationId xmlns:a16="http://schemas.microsoft.com/office/drawing/2014/main" id="{D01E3FFE-F70B-44C8-BE2D-8567E27BF398}"/>
              </a:ext>
            </a:extLst>
          </p:cNvPr>
          <p:cNvSpPr>
            <a:spLocks xmlns:a="http://schemas.openxmlformats.org/drawingml/2006/main" noGrp="1"/>
          </p:cNvSpPr>
          <p:nvPr/>
        </p:nvSpPr>
        <p:spPr>
          <a:xfrm xmlns:a="http://schemas.openxmlformats.org/drawingml/2006/main">
            <a:off x="723900" y="5181600"/>
            <a:ext cx="10744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The 500 eligible units move to B because they have not entered preparation.</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Stock already in preparation and reservations outside the campaign stay protected.</a:t>
            </a:r>
          </a:p>
        </p:txBody>
      </p:sp>
    </p:spTree>
    <p:extLst>
      <p:ext uri="{BB962C8B-B14F-4D97-AF65-F5344CB8AC3E}">
        <p14:creationId xmlns:p14="http://schemas.microsoft.com/office/powerpoint/2010/main" val="11696114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vaaq15-0">
            <a:extLst xmlns:a="http://schemas.openxmlformats.org/drawingml/2006/main">
              <a:ext uri="{FF2B5EF4-FFF2-40B4-BE49-F238E27FC236}">
                <a16:creationId xmlns:a16="http://schemas.microsoft.com/office/drawing/2014/main" id="{01E47C4F-C31E-420E-BB54-349CAF5A1913}"/>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Individual orders</a:t>
            </a:r>
          </a:p>
        </p:txBody>
      </p:sp>
      <p:sp>
        <p:nvSpPr>
          <p:cNvPr id="2" name="text-vaaq15-1">
            <a:extLst xmlns:a="http://schemas.openxmlformats.org/drawingml/2006/main">
              <a:ext uri="{FF2B5EF4-FFF2-40B4-BE49-F238E27FC236}">
                <a16:creationId xmlns:a16="http://schemas.microsoft.com/office/drawing/2014/main" id="{D9E07011-5121-469E-B5D0-E709181962C9}"/>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vaaq15-2">
            <a:extLst xmlns:a="http://schemas.openxmlformats.org/drawingml/2006/main">
              <a:ext uri="{FF2B5EF4-FFF2-40B4-BE49-F238E27FC236}">
                <a16:creationId xmlns:a16="http://schemas.microsoft.com/office/drawing/2014/main" id="{3A53A8C7-7CC7-401D-BD55-DAEFA7736ED6}"/>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7</a:t>
            </a:r>
          </a:p>
        </p:txBody>
      </p:sp>
      <p:sp>
        <p:nvSpPr>
          <p:cNvPr id="4" name="text-vaaq15-3">
            <a:extLst xmlns:a="http://schemas.openxmlformats.org/drawingml/2006/main">
              <a:ext uri="{FF2B5EF4-FFF2-40B4-BE49-F238E27FC236}">
                <a16:creationId xmlns:a16="http://schemas.microsoft.com/office/drawing/2014/main" id="{4AD4ECC4-DAC5-4B17-B020-FA9B7305703D}"/>
              </a:ext>
            </a:extLst>
          </p:cNvPr>
          <p:cNvSpPr>
            <a:spLocks xmlns:a="http://schemas.openxmlformats.org/drawingml/2006/main" noGrp="1"/>
          </p:cNvSpPr>
          <p:nvPr/>
        </p:nvSpPr>
        <p:spPr>
          <a:xfrm xmlns:a="http://schemas.openxmlformats.org/drawingml/2006/main">
            <a:off x="723900" y="1333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Separate check: an individual order for 200 units cannot ship only 100.</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It keeps its allocated stock while it waits for the full quantity.</a:t>
            </a:r>
          </a:p>
        </p:txBody>
      </p:sp>
      <p:pic>
        <p:nvPicPr>
          <p:cNvPr id="5" name="">
            <a:extLst xmlns:a="http://schemas.openxmlformats.org/drawingml/2006/main">
              <a:ext uri="{FF2B5EF4-FFF2-40B4-BE49-F238E27FC236}">
                <a16:creationId xmlns:a16="http://schemas.microsoft.com/office/drawing/2014/main" id="{D40A8BE9-DF52-4733-A6F8-4CBD32C7B149}"/>
              </a:ext>
            </a:extLst>
          </p:cNvPr>
          <p:cNvPicPr>
            <a:picLocks xmlns:a="http://schemas.openxmlformats.org/drawingml/2006/main" noChangeAspect="1"/>
          </p:cNvPicPr>
          <p:nvPr/>
        </p:nvPicPr>
        <p:blipFill>
          <a:blip xmlns:r="http://schemas.openxmlformats.org/officeDocument/2006/relationships" xmlns:a="http://schemas.openxmlformats.org/drawingml/2006/main" r:embed="R35b0480d03c54746"/>
          <a:srcRect xmlns:a="http://schemas.openxmlformats.org/drawingml/2006/main" l="4688" t="35417" r="4688" b="22639"/>
          <a:stretch xmlns:a="http://schemas.openxmlformats.org/drawingml/2006/main"/>
        </p:blipFill>
        <p:spPr>
          <a:xfrm xmlns:a="http://schemas.openxmlformats.org/drawingml/2006/main">
            <a:off x="723900" y="2686050"/>
            <a:ext cx="10744200" cy="2800350"/>
          </a:xfrm>
          <a:prstGeom xmlns:a="http://schemas.openxmlformats.org/drawingml/2006/main" prst="rect">
            <a:avLst/>
          </a:prstGeom>
        </p:spPr>
      </p:pic>
      <p:sp>
        <p:nvSpPr>
          <p:cNvPr id="6" name="text-vaaq15-4">
            <a:extLst xmlns:a="http://schemas.openxmlformats.org/drawingml/2006/main">
              <a:ext uri="{FF2B5EF4-FFF2-40B4-BE49-F238E27FC236}">
                <a16:creationId xmlns:a16="http://schemas.microsoft.com/office/drawing/2014/main" id="{BC9CC906-836F-4083-87A5-C7F1C1DB68B2}"/>
              </a:ext>
            </a:extLst>
          </p:cNvPr>
          <p:cNvSpPr>
            <a:spLocks xmlns:a="http://schemas.openxmlformats.org/drawingml/2006/main" noGrp="1"/>
          </p:cNvSpPr>
          <p:nvPr/>
        </p:nvSpPr>
        <p:spPr>
          <a:xfrm xmlns:a="http://schemas.openxmlformats.org/drawingml/2006/main">
            <a:off x="723900" y="591502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i="0">
                <a:solidFill>
                  <a:srgbClr val="58636A"/>
                </a:solidFill>
                <a:latin typeface="Calibri"/>
                <a:ea typeface="Calibri"/>
                <a:cs typeface="Calibri"/>
              </a:defRPr>
            </a:defPPr>
          </a:lstStyle>
          <a:p xmlns:a="http://schemas.openxmlformats.org/drawingml/2006/main">
            <a:pPr algn="l">
              <a:lnSpc>
                <a:spcPct val="116000"/>
              </a:lnSpc>
              <a:buNone/>
              <a:defRPr sz="1800" b="0" i="0">
                <a:solidFill>
                  <a:srgbClr val="58636A"/>
                </a:solidFill>
                <a:latin typeface="Calibri"/>
                <a:ea typeface="Calibri"/>
                <a:cs typeface="Calibri"/>
              </a:defRPr>
            </a:pPr>
            <a:r>
              <a:rPr sz="1800" b="0" i="0">
                <a:solidFill>
                  <a:srgbClr val="58636A"/>
                </a:solidFill>
                <a:latin typeface="Calibri"/>
                <a:ea typeface="Calibri"/>
                <a:cs typeface="Calibri"/>
              </a:rPr>
              <a:t>The partial shipment is refused before dispatch.</a:t>
            </a:r>
          </a:p>
        </p:txBody>
      </p:sp>
    </p:spTree>
    <p:extLst>
      <p:ext uri="{BB962C8B-B14F-4D97-AF65-F5344CB8AC3E}">
        <p14:creationId xmlns:p14="http://schemas.microsoft.com/office/powerpoint/2010/main" val="850215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q4g5mb-0">
            <a:extLst xmlns:a="http://schemas.openxmlformats.org/drawingml/2006/main">
              <a:ext uri="{FF2B5EF4-FFF2-40B4-BE49-F238E27FC236}">
                <a16:creationId xmlns:a16="http://schemas.microsoft.com/office/drawing/2014/main" id="{BC5C50EB-F4B7-47CE-ACDA-84005F554E9A}"/>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Corporate shipments</a:t>
            </a:r>
          </a:p>
        </p:txBody>
      </p:sp>
      <p:sp>
        <p:nvSpPr>
          <p:cNvPr id="2" name="text-q4g5mb-1">
            <a:extLst xmlns:a="http://schemas.openxmlformats.org/drawingml/2006/main">
              <a:ext uri="{FF2B5EF4-FFF2-40B4-BE49-F238E27FC236}">
                <a16:creationId xmlns:a16="http://schemas.microsoft.com/office/drawing/2014/main" id="{20411AE4-BB0E-480D-8E98-99F147457890}"/>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q4g5mb-2">
            <a:extLst xmlns:a="http://schemas.openxmlformats.org/drawingml/2006/main">
              <a:ext uri="{FF2B5EF4-FFF2-40B4-BE49-F238E27FC236}">
                <a16:creationId xmlns:a16="http://schemas.microsoft.com/office/drawing/2014/main" id="{08C21847-84D2-4F73-9951-5BF2857BEA6C}"/>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8</a:t>
            </a:r>
          </a:p>
        </p:txBody>
      </p:sp>
      <p:sp>
        <p:nvSpPr>
          <p:cNvPr id="4" name="text-q4g5mb-3">
            <a:extLst xmlns:a="http://schemas.openxmlformats.org/drawingml/2006/main">
              <a:ext uri="{FF2B5EF4-FFF2-40B4-BE49-F238E27FC236}">
                <a16:creationId xmlns:a16="http://schemas.microsoft.com/office/drawing/2014/main" id="{D5F3A22E-83A1-43E5-BD1C-07C73E4F841A}"/>
              </a:ext>
            </a:extLst>
          </p:cNvPr>
          <p:cNvSpPr>
            <a:spLocks xmlns:a="http://schemas.openxmlformats.org/drawingml/2006/main" noGrp="1"/>
          </p:cNvSpPr>
          <p:nvPr/>
        </p:nvSpPr>
        <p:spPr>
          <a:xfrm xmlns:a="http://schemas.openxmlformats.org/drawingml/2006/main">
            <a:off x="723900" y="1304925"/>
            <a:ext cx="10744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Corporate orders can leave in batches. Here, 300 of the 600 units have shipped,</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and the other 300 remain on a backorder.</a:t>
            </a:r>
          </a:p>
        </p:txBody>
      </p:sp>
      <p:sp>
        <p:nvSpPr>
          <p:cNvPr id="5" name="text-q4g5mb-4">
            <a:extLst xmlns:a="http://schemas.openxmlformats.org/drawingml/2006/main">
              <a:ext uri="{FF2B5EF4-FFF2-40B4-BE49-F238E27FC236}">
                <a16:creationId xmlns:a16="http://schemas.microsoft.com/office/drawing/2014/main" id="{24FF0FB5-6372-4B58-B946-85FC0E136043}"/>
              </a:ext>
            </a:extLst>
          </p:cNvPr>
          <p:cNvSpPr>
            <a:spLocks xmlns:a="http://schemas.openxmlformats.org/drawingml/2006/main" noGrp="1"/>
          </p:cNvSpPr>
          <p:nvPr/>
        </p:nvSpPr>
        <p:spPr>
          <a:xfrm xmlns:a="http://schemas.openxmlformats.org/drawingml/2006/main">
            <a:off x="723900" y="21812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i="0">
                <a:solidFill>
                  <a:srgbClr val="29343A"/>
                </a:solidFill>
                <a:latin typeface="Calibri"/>
                <a:ea typeface="Calibri"/>
                <a:cs typeface="Calibri"/>
              </a:defRPr>
            </a:defPPr>
          </a:lstStyle>
          <a:p xmlns:a="http://schemas.openxmlformats.org/drawingml/2006/main">
            <a:pPr algn="l">
              <a:lnSpc>
                <a:spcPct val="116000"/>
              </a:lnSpc>
              <a:buNone/>
              <a:defRPr sz="2025" b="1" i="0">
                <a:solidFill>
                  <a:srgbClr val="29343A"/>
                </a:solidFill>
                <a:latin typeface="Calibri"/>
                <a:ea typeface="Calibri"/>
                <a:cs typeface="Calibri"/>
              </a:defRPr>
            </a:pPr>
            <a:r>
              <a:rPr sz="2025" b="1" i="0">
                <a:solidFill>
                  <a:srgbClr val="29343A"/>
                </a:solidFill>
                <a:latin typeface="Calibri"/>
                <a:ea typeface="Calibri"/>
                <a:cs typeface="Calibri"/>
              </a:rPr>
              <a:t>First shipment: 300 units</a:t>
            </a:r>
          </a:p>
        </p:txBody>
      </p:sp>
      <p:sp>
        <p:nvSpPr>
          <p:cNvPr id="6" name="text-q4g5mb-5">
            <a:extLst xmlns:a="http://schemas.openxmlformats.org/drawingml/2006/main">
              <a:ext uri="{FF2B5EF4-FFF2-40B4-BE49-F238E27FC236}">
                <a16:creationId xmlns:a16="http://schemas.microsoft.com/office/drawing/2014/main" id="{F3ABE961-D2DC-417A-8758-68AB56EF3C1A}"/>
              </a:ext>
            </a:extLst>
          </p:cNvPr>
          <p:cNvSpPr>
            <a:spLocks xmlns:a="http://schemas.openxmlformats.org/drawingml/2006/main" noGrp="1"/>
          </p:cNvSpPr>
          <p:nvPr/>
        </p:nvSpPr>
        <p:spPr>
          <a:xfrm xmlns:a="http://schemas.openxmlformats.org/drawingml/2006/main">
            <a:off x="6381750" y="21812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i="0">
                <a:solidFill>
                  <a:srgbClr val="29343A"/>
                </a:solidFill>
                <a:latin typeface="Calibri"/>
                <a:ea typeface="Calibri"/>
                <a:cs typeface="Calibri"/>
              </a:defRPr>
            </a:defPPr>
          </a:lstStyle>
          <a:p xmlns:a="http://schemas.openxmlformats.org/drawingml/2006/main">
            <a:pPr algn="l">
              <a:lnSpc>
                <a:spcPct val="116000"/>
              </a:lnSpc>
              <a:buNone/>
              <a:defRPr sz="2025" b="1" i="0">
                <a:solidFill>
                  <a:srgbClr val="29343A"/>
                </a:solidFill>
                <a:latin typeface="Calibri"/>
                <a:ea typeface="Calibri"/>
                <a:cs typeface="Calibri"/>
              </a:defRPr>
            </a:pPr>
            <a:r>
              <a:rPr sz="2025" b="1" i="0">
                <a:solidFill>
                  <a:srgbClr val="29343A"/>
                </a:solidFill>
                <a:latin typeface="Calibri"/>
                <a:ea typeface="Calibri"/>
                <a:cs typeface="Calibri"/>
              </a:rPr>
              <a:t>Backorder: 300 outstanding</a:t>
            </a:r>
          </a:p>
        </p:txBody>
      </p:sp>
      <p:pic>
        <p:nvPicPr>
          <p:cNvPr id="7" name="">
            <a:extLst xmlns:a="http://schemas.openxmlformats.org/drawingml/2006/main">
              <a:ext uri="{FF2B5EF4-FFF2-40B4-BE49-F238E27FC236}">
                <a16:creationId xmlns:a16="http://schemas.microsoft.com/office/drawing/2014/main" id="{909BF6AB-CD53-42D5-A46A-913A3496BAE6}"/>
              </a:ext>
            </a:extLst>
          </p:cNvPr>
          <p:cNvPicPr>
            <a:picLocks xmlns:a="http://schemas.openxmlformats.org/drawingml/2006/main" noChangeAspect="1"/>
          </p:cNvPicPr>
          <p:nvPr/>
        </p:nvPicPr>
        <p:blipFill>
          <a:blip xmlns:r="http://schemas.openxmlformats.org/officeDocument/2006/relationships" xmlns:a="http://schemas.openxmlformats.org/drawingml/2006/main" r:embed="R34ad35b385be47ae"/>
          <a:srcRect xmlns:a="http://schemas.openxmlformats.org/drawingml/2006/main" l="50781" t="15278" r="1563" b="33333"/>
          <a:stretch xmlns:a="http://schemas.openxmlformats.org/drawingml/2006/main"/>
        </p:blipFill>
        <p:spPr>
          <a:xfrm xmlns:a="http://schemas.openxmlformats.org/drawingml/2006/main">
            <a:off x="723900" y="2752725"/>
            <a:ext cx="5095875" cy="30861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FAC7073-0908-47CB-8F59-E9192389D6BD}"/>
              </a:ext>
            </a:extLst>
          </p:cNvPr>
          <p:cNvPicPr>
            <a:picLocks xmlns:a="http://schemas.openxmlformats.org/drawingml/2006/main" noChangeAspect="1"/>
          </p:cNvPicPr>
          <p:nvPr/>
        </p:nvPicPr>
        <p:blipFill>
          <a:blip xmlns:r="http://schemas.openxmlformats.org/officeDocument/2006/relationships" xmlns:a="http://schemas.openxmlformats.org/drawingml/2006/main" r:embed="R4af883ef39a64e50"/>
          <a:srcRect xmlns:a="http://schemas.openxmlformats.org/drawingml/2006/main" l="50781" t="15278" r="1563" b="26389"/>
          <a:stretch xmlns:a="http://schemas.openxmlformats.org/drawingml/2006/main"/>
        </p:blipFill>
        <p:spPr>
          <a:xfrm xmlns:a="http://schemas.openxmlformats.org/drawingml/2006/main">
            <a:off x="6381750" y="2752725"/>
            <a:ext cx="5095875" cy="3343275"/>
          </a:xfrm>
          <a:prstGeom xmlns:a="http://schemas.openxmlformats.org/drawingml/2006/main" prst="rect">
            <a:avLst/>
          </a:prstGeom>
        </p:spPr>
      </p:pic>
      <p:sp>
        <p:nvSpPr>
          <p:cNvPr id="9" name="text-q4g5mb-6">
            <a:extLst xmlns:a="http://schemas.openxmlformats.org/drawingml/2006/main">
              <a:ext uri="{FF2B5EF4-FFF2-40B4-BE49-F238E27FC236}">
                <a16:creationId xmlns:a16="http://schemas.microsoft.com/office/drawing/2014/main" id="{4CBE7532-6AF2-4F9D-983C-315F7528312D}"/>
              </a:ext>
            </a:extLst>
          </p:cNvPr>
          <p:cNvSpPr>
            <a:spLocks xmlns:a="http://schemas.openxmlformats.org/drawingml/2006/main" noGrp="1"/>
          </p:cNvSpPr>
          <p:nvPr/>
        </p:nvSpPr>
        <p:spPr>
          <a:xfrm xmlns:a="http://schemas.openxmlformats.org/drawingml/2006/main">
            <a:off x="723900" y="59245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i="0">
                <a:solidFill>
                  <a:srgbClr val="58636A"/>
                </a:solidFill>
                <a:latin typeface="Calibri"/>
                <a:ea typeface="Calibri"/>
                <a:cs typeface="Calibri"/>
              </a:defRPr>
            </a:defPPr>
          </a:lstStyle>
          <a:p xmlns:a="http://schemas.openxmlformats.org/drawingml/2006/main">
            <a:pPr algn="l">
              <a:lnSpc>
                <a:spcPct val="116000"/>
              </a:lnSpc>
              <a:buNone/>
              <a:defRPr sz="1500" b="0" i="0">
                <a:solidFill>
                  <a:srgbClr val="58636A"/>
                </a:solidFill>
                <a:latin typeface="Calibri"/>
                <a:ea typeface="Calibri"/>
                <a:cs typeface="Calibri"/>
              </a:defRPr>
            </a:pPr>
            <a:r>
              <a:rPr sz="1500" b="0" i="0">
                <a:solidFill>
                  <a:srgbClr val="58636A"/>
                </a:solidFill>
                <a:latin typeface="Calibri"/>
                <a:ea typeface="Calibri"/>
                <a:cs typeface="Calibri"/>
              </a:rPr>
              <a:t>Browser example, separate from the</a:t>
            </a:r>
          </a:p>
          <a:p xmlns:a="http://schemas.openxmlformats.org/drawingml/2006/main">
            <a:pPr algn="l">
              <a:lnSpc>
                <a:spcPct val="116000"/>
              </a:lnSpc>
              <a:buNone/>
              <a:defRPr sz="1500" b="0" i="0">
                <a:solidFill>
                  <a:srgbClr val="58636A"/>
                </a:solidFill>
                <a:latin typeface="Calibri"/>
                <a:ea typeface="Calibri"/>
                <a:cs typeface="Calibri"/>
              </a:defRPr>
            </a:pPr>
            <a:r>
              <a:rPr sz="1500" b="0" i="0">
                <a:solidFill>
                  <a:srgbClr val="58636A"/>
                </a:solidFill>
                <a:latin typeface="Calibri"/>
                <a:ea typeface="Calibri"/>
                <a:cs typeface="Calibri"/>
              </a:rPr>
              <a:t>full test scenario on slide 12.</a:t>
            </a:r>
          </a:p>
        </p:txBody>
      </p:sp>
      <p:sp>
        <p:nvSpPr>
          <p:cNvPr id="10" name="text-q4g5mb-7">
            <a:extLst xmlns:a="http://schemas.openxmlformats.org/drawingml/2006/main">
              <a:ext uri="{FF2B5EF4-FFF2-40B4-BE49-F238E27FC236}">
                <a16:creationId xmlns:a16="http://schemas.microsoft.com/office/drawing/2014/main" id="{5C2B9E8E-9F31-4EB7-BF54-1B941FA75F89}"/>
              </a:ext>
            </a:extLst>
          </p:cNvPr>
          <p:cNvSpPr>
            <a:spLocks xmlns:a="http://schemas.openxmlformats.org/drawingml/2006/main" noGrp="1"/>
          </p:cNvSpPr>
          <p:nvPr/>
        </p:nvSpPr>
        <p:spPr>
          <a:xfrm xmlns:a="http://schemas.openxmlformats.org/drawingml/2006/main">
            <a:off x="6381750" y="6172200"/>
            <a:ext cx="509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i="0">
                <a:solidFill>
                  <a:srgbClr val="58636A"/>
                </a:solidFill>
                <a:latin typeface="Calibri"/>
                <a:ea typeface="Calibri"/>
                <a:cs typeface="Calibri"/>
              </a:defRPr>
            </a:defPPr>
          </a:lstStyle>
          <a:p xmlns:a="http://schemas.openxmlformats.org/drawingml/2006/main">
            <a:pPr algn="l">
              <a:lnSpc>
                <a:spcPct val="116000"/>
              </a:lnSpc>
              <a:buNone/>
              <a:defRPr sz="1500" b="0" i="0">
                <a:solidFill>
                  <a:srgbClr val="58636A"/>
                </a:solidFill>
                <a:latin typeface="Calibri"/>
                <a:ea typeface="Calibri"/>
                <a:cs typeface="Calibri"/>
              </a:defRPr>
            </a:pPr>
            <a:r>
              <a:rPr sz="1500" b="0" i="0">
                <a:solidFill>
                  <a:srgbClr val="58636A"/>
                </a:solidFill>
                <a:latin typeface="Calibri"/>
                <a:ea typeface="Calibri"/>
                <a:cs typeface="Calibri"/>
              </a:rPr>
              <a:t>200 units reserved for the next batch</a:t>
            </a:r>
          </a:p>
        </p:txBody>
      </p:sp>
    </p:spTree>
    <p:extLst>
      <p:ext uri="{BB962C8B-B14F-4D97-AF65-F5344CB8AC3E}">
        <p14:creationId xmlns:p14="http://schemas.microsoft.com/office/powerpoint/2010/main" val="18080673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m0oy-0">
            <a:extLst xmlns:a="http://schemas.openxmlformats.org/drawingml/2006/main">
              <a:ext uri="{FF2B5EF4-FFF2-40B4-BE49-F238E27FC236}">
                <a16:creationId xmlns:a16="http://schemas.microsoft.com/office/drawing/2014/main" id="{57F008AD-4231-4060-A074-FDB83E69E1FC}"/>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Making the remaining stock</a:t>
            </a:r>
          </a:p>
        </p:txBody>
      </p:sp>
      <p:sp>
        <p:nvSpPr>
          <p:cNvPr id="2" name="text-73m0oy-1">
            <a:extLst xmlns:a="http://schemas.openxmlformats.org/drawingml/2006/main">
              <a:ext uri="{FF2B5EF4-FFF2-40B4-BE49-F238E27FC236}">
                <a16:creationId xmlns:a16="http://schemas.microsoft.com/office/drawing/2014/main" id="{5C679D37-C5E5-4417-B7AC-ACB73BDDF948}"/>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73m0oy-2">
            <a:extLst xmlns:a="http://schemas.openxmlformats.org/drawingml/2006/main">
              <a:ext uri="{FF2B5EF4-FFF2-40B4-BE49-F238E27FC236}">
                <a16:creationId xmlns:a16="http://schemas.microsoft.com/office/drawing/2014/main" id="{0829222E-C469-4F60-8F3D-67A7325CC00C}"/>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9</a:t>
            </a:r>
          </a:p>
        </p:txBody>
      </p:sp>
      <p:sp>
        <p:nvSpPr>
          <p:cNvPr id="4" name="text-73m0oy-3">
            <a:extLst xmlns:a="http://schemas.openxmlformats.org/drawingml/2006/main">
              <a:ext uri="{FF2B5EF4-FFF2-40B4-BE49-F238E27FC236}">
                <a16:creationId xmlns:a16="http://schemas.microsoft.com/office/drawing/2014/main" id="{E6AC1084-BFA6-4EE3-A178-0BD18D40209D}"/>
              </a:ext>
            </a:extLst>
          </p:cNvPr>
          <p:cNvSpPr>
            <a:spLocks xmlns:a="http://schemas.openxmlformats.org/drawingml/2006/main" noGrp="1"/>
          </p:cNvSpPr>
          <p:nvPr/>
        </p:nvSpPr>
        <p:spPr>
          <a:xfrm xmlns:a="http://schemas.openxmlformats.org/drawingml/2006/main">
            <a:off x="723900" y="132397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The full test scenario covers purchasing and production, as well as dispatch.</a:t>
            </a:r>
          </a:p>
        </p:txBody>
      </p:sp>
      <p:sp>
        <p:nvSpPr>
          <p:cNvPr id="5" name="text-73m0oy-4">
            <a:extLst xmlns:a="http://schemas.openxmlformats.org/drawingml/2006/main">
              <a:ext uri="{FF2B5EF4-FFF2-40B4-BE49-F238E27FC236}">
                <a16:creationId xmlns:a16="http://schemas.microsoft.com/office/drawing/2014/main" id="{F13DE759-BADF-4841-B2CF-E9B196F3D7D6}"/>
              </a:ext>
            </a:extLst>
          </p:cNvPr>
          <p:cNvSpPr>
            <a:spLocks xmlns:a="http://schemas.openxmlformats.org/drawingml/2006/main" noGrp="1"/>
          </p:cNvSpPr>
          <p:nvPr/>
        </p:nvSpPr>
        <p:spPr>
          <a:xfrm xmlns:a="http://schemas.openxmlformats.org/drawingml/2006/main">
            <a:off x="723900" y="2409825"/>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1. Buy the inputs</a:t>
            </a:r>
          </a:p>
        </p:txBody>
      </p:sp>
      <p:sp>
        <p:nvSpPr>
          <p:cNvPr id="6" name="text-73m0oy-5">
            <a:extLst xmlns:a="http://schemas.openxmlformats.org/drawingml/2006/main">
              <a:ext uri="{FF2B5EF4-FFF2-40B4-BE49-F238E27FC236}">
                <a16:creationId xmlns:a16="http://schemas.microsoft.com/office/drawing/2014/main" id="{018F4045-0657-473D-BC36-A14D0B43BAEB}"/>
              </a:ext>
            </a:extLst>
          </p:cNvPr>
          <p:cNvSpPr>
            <a:spLocks xmlns:a="http://schemas.openxmlformats.org/drawingml/2006/main" noGrp="1"/>
          </p:cNvSpPr>
          <p:nvPr/>
        </p:nvSpPr>
        <p:spPr>
          <a:xfrm xmlns:a="http://schemas.openxmlformats.org/drawingml/2006/main">
            <a:off x="3924300" y="2409825"/>
            <a:ext cx="7543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400 units of each required raw material, from two suppliers.</a:t>
            </a:r>
          </a:p>
        </p:txBody>
      </p:sp>
      <p:sp>
        <p:nvSpPr>
          <p:cNvPr id="7" name="text-73m0oy-6">
            <a:extLst xmlns:a="http://schemas.openxmlformats.org/drawingml/2006/main">
              <a:ext uri="{FF2B5EF4-FFF2-40B4-BE49-F238E27FC236}">
                <a16:creationId xmlns:a16="http://schemas.microsoft.com/office/drawing/2014/main" id="{BF1B60CC-BB78-4C1B-B36D-E0C76CAD6822}"/>
              </a:ext>
            </a:extLst>
          </p:cNvPr>
          <p:cNvSpPr>
            <a:spLocks xmlns:a="http://schemas.openxmlformats.org/drawingml/2006/main" noGrp="1"/>
          </p:cNvSpPr>
          <p:nvPr/>
        </p:nvSpPr>
        <p:spPr>
          <a:xfrm xmlns:a="http://schemas.openxmlformats.org/drawingml/2006/main">
            <a:off x="723900" y="3371850"/>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2. Record receipt</a:t>
            </a:r>
          </a:p>
        </p:txBody>
      </p:sp>
      <p:sp>
        <p:nvSpPr>
          <p:cNvPr id="8" name="text-73m0oy-7">
            <a:extLst xmlns:a="http://schemas.openxmlformats.org/drawingml/2006/main">
              <a:ext uri="{FF2B5EF4-FFF2-40B4-BE49-F238E27FC236}">
                <a16:creationId xmlns:a16="http://schemas.microsoft.com/office/drawing/2014/main" id="{99003EF7-4E30-409D-93F2-C5DEF85A8702}"/>
              </a:ext>
            </a:extLst>
          </p:cNvPr>
          <p:cNvSpPr>
            <a:spLocks xmlns:a="http://schemas.openxmlformats.org/drawingml/2006/main" noGrp="1"/>
          </p:cNvSpPr>
          <p:nvPr/>
        </p:nvSpPr>
        <p:spPr>
          <a:xfrm xmlns:a="http://schemas.openxmlformats.org/drawingml/2006/main">
            <a:off x="3924300" y="3371850"/>
            <a:ext cx="7543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Add the received inputs to stock.</a:t>
            </a:r>
          </a:p>
        </p:txBody>
      </p:sp>
      <p:sp>
        <p:nvSpPr>
          <p:cNvPr id="9" name="text-73m0oy-8">
            <a:extLst xmlns:a="http://schemas.openxmlformats.org/drawingml/2006/main">
              <a:ext uri="{FF2B5EF4-FFF2-40B4-BE49-F238E27FC236}">
                <a16:creationId xmlns:a16="http://schemas.microsoft.com/office/drawing/2014/main" id="{63DA8DE5-9B0C-4F3C-994E-9CF7B06186C1}"/>
              </a:ext>
            </a:extLst>
          </p:cNvPr>
          <p:cNvSpPr>
            <a:spLocks xmlns:a="http://schemas.openxmlformats.org/drawingml/2006/main" noGrp="1"/>
          </p:cNvSpPr>
          <p:nvPr/>
        </p:nvSpPr>
        <p:spPr>
          <a:xfrm xmlns:a="http://schemas.openxmlformats.org/drawingml/2006/main">
            <a:off x="723900" y="4333875"/>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3. Make the product</a:t>
            </a:r>
          </a:p>
        </p:txBody>
      </p:sp>
      <p:sp>
        <p:nvSpPr>
          <p:cNvPr id="10" name="text-73m0oy-9">
            <a:extLst xmlns:a="http://schemas.openxmlformats.org/drawingml/2006/main">
              <a:ext uri="{FF2B5EF4-FFF2-40B4-BE49-F238E27FC236}">
                <a16:creationId xmlns:a16="http://schemas.microsoft.com/office/drawing/2014/main" id="{B746FF5C-B9F0-4BDF-8540-B6BF379060E3}"/>
              </a:ext>
            </a:extLst>
          </p:cNvPr>
          <p:cNvSpPr>
            <a:spLocks xmlns:a="http://schemas.openxmlformats.org/drawingml/2006/main" noGrp="1"/>
          </p:cNvSpPr>
          <p:nvPr/>
        </p:nvSpPr>
        <p:spPr>
          <a:xfrm xmlns:a="http://schemas.openxmlformats.org/drawingml/2006/main">
            <a:off x="3924300" y="4333875"/>
            <a:ext cx="7543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Complete a production order for 400 finished units.</a:t>
            </a:r>
          </a:p>
        </p:txBody>
      </p:sp>
      <p:sp>
        <p:nvSpPr>
          <p:cNvPr id="11" name="text-73m0oy-10">
            <a:extLst xmlns:a="http://schemas.openxmlformats.org/drawingml/2006/main">
              <a:ext uri="{FF2B5EF4-FFF2-40B4-BE49-F238E27FC236}">
                <a16:creationId xmlns:a16="http://schemas.microsoft.com/office/drawing/2014/main" id="{B9A21C60-D444-4C5A-AD9B-B510EEB3828D}"/>
              </a:ext>
            </a:extLst>
          </p:cNvPr>
          <p:cNvSpPr>
            <a:spLocks xmlns:a="http://schemas.openxmlformats.org/drawingml/2006/main" noGrp="1"/>
          </p:cNvSpPr>
          <p:nvPr/>
        </p:nvSpPr>
        <p:spPr>
          <a:xfrm xmlns:a="http://schemas.openxmlformats.org/drawingml/2006/main">
            <a:off x="723900" y="57150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i="0">
                <a:solidFill>
                  <a:srgbClr val="6F4F64"/>
                </a:solidFill>
                <a:latin typeface="Calibri"/>
                <a:ea typeface="Calibri"/>
                <a:cs typeface="Calibri"/>
              </a:defRPr>
            </a:defPPr>
          </a:lstStyle>
          <a:p xmlns:a="http://schemas.openxmlformats.org/drawingml/2006/main">
            <a:pPr algn="l">
              <a:lnSpc>
                <a:spcPct val="116000"/>
              </a:lnSpc>
              <a:buNone/>
              <a:defRPr sz="2175" b="0" i="0">
                <a:solidFill>
                  <a:srgbClr val="6F4F64"/>
                </a:solidFill>
                <a:latin typeface="Calibri"/>
                <a:ea typeface="Calibri"/>
                <a:cs typeface="Calibri"/>
              </a:defRPr>
            </a:pPr>
            <a:r>
              <a:rPr sz="2175" b="0" i="0">
                <a:solidFill>
                  <a:srgbClr val="6F4F64"/>
                </a:solidFill>
                <a:latin typeface="Calibri"/>
                <a:ea typeface="Calibri"/>
                <a:cs typeface="Calibri"/>
              </a:rPr>
              <a:t>500 opening units + 400 manufactured = 900 finished units</a:t>
            </a:r>
          </a:p>
        </p:txBody>
      </p:sp>
    </p:spTree>
    <p:extLst>
      <p:ext uri="{BB962C8B-B14F-4D97-AF65-F5344CB8AC3E}">
        <p14:creationId xmlns:p14="http://schemas.microsoft.com/office/powerpoint/2010/main" val="8321888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j5k6f4-0">
            <a:extLst xmlns:a="http://schemas.openxmlformats.org/drawingml/2006/main">
              <a:ext uri="{FF2B5EF4-FFF2-40B4-BE49-F238E27FC236}">
                <a16:creationId xmlns:a16="http://schemas.microsoft.com/office/drawing/2014/main" id="{A911C97F-CE26-4323-B500-5AD0950DCC91}"/>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Following up on a shortage</a:t>
            </a:r>
          </a:p>
        </p:txBody>
      </p:sp>
      <p:sp>
        <p:nvSpPr>
          <p:cNvPr id="2" name="text-j5k6f4-1">
            <a:extLst xmlns:a="http://schemas.openxmlformats.org/drawingml/2006/main">
              <a:ext uri="{FF2B5EF4-FFF2-40B4-BE49-F238E27FC236}">
                <a16:creationId xmlns:a16="http://schemas.microsoft.com/office/drawing/2014/main" id="{742BAD2B-9481-40FA-A7D1-569880701C34}"/>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j5k6f4-2">
            <a:extLst xmlns:a="http://schemas.openxmlformats.org/drawingml/2006/main">
              <a:ext uri="{FF2B5EF4-FFF2-40B4-BE49-F238E27FC236}">
                <a16:creationId xmlns:a16="http://schemas.microsoft.com/office/drawing/2014/main" id="{AA0A3FA7-5664-4D19-B759-B55A1AD9CC65}"/>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10</a:t>
            </a:r>
          </a:p>
        </p:txBody>
      </p:sp>
      <p:pic>
        <p:nvPicPr>
          <p:cNvPr id="4" name="">
            <a:extLst xmlns:a="http://schemas.openxmlformats.org/drawingml/2006/main">
              <a:ext uri="{FF2B5EF4-FFF2-40B4-BE49-F238E27FC236}">
                <a16:creationId xmlns:a16="http://schemas.microsoft.com/office/drawing/2014/main" id="{8B0E1B4D-D925-4DC3-A507-0F5A1E051873}"/>
              </a:ext>
            </a:extLst>
          </p:cNvPr>
          <p:cNvPicPr>
            <a:picLocks xmlns:a="http://schemas.openxmlformats.org/drawingml/2006/main" noChangeAspect="1"/>
          </p:cNvPicPr>
          <p:nvPr/>
        </p:nvPicPr>
        <p:blipFill>
          <a:blip xmlns:r="http://schemas.openxmlformats.org/officeDocument/2006/relationships" xmlns:a="http://schemas.openxmlformats.org/drawingml/2006/main" r:embed="Rb355c6a6e9184117"/>
          <a:srcRect xmlns:a="http://schemas.openxmlformats.org/drawingml/2006/main" l="1953" t="17361" r="4297" b="26389"/>
          <a:stretch xmlns:a="http://schemas.openxmlformats.org/drawingml/2006/main"/>
        </p:blipFill>
        <p:spPr>
          <a:xfrm xmlns:a="http://schemas.openxmlformats.org/drawingml/2006/main">
            <a:off x="723900" y="1752600"/>
            <a:ext cx="8001000" cy="2705100"/>
          </a:xfrm>
          <a:prstGeom xmlns:a="http://schemas.openxmlformats.org/drawingml/2006/main" prst="rect">
            <a:avLst/>
          </a:prstGeom>
        </p:spPr>
      </p:pic>
      <p:sp>
        <p:nvSpPr>
          <p:cNvPr id="5" name="text-j5k6f4-3">
            <a:extLst xmlns:a="http://schemas.openxmlformats.org/drawingml/2006/main">
              <a:ext uri="{FF2B5EF4-FFF2-40B4-BE49-F238E27FC236}">
                <a16:creationId xmlns:a16="http://schemas.microsoft.com/office/drawing/2014/main" id="{EB87A3DB-6013-470A-9595-DF0F3D8B4B60}"/>
              </a:ext>
            </a:extLst>
          </p:cNvPr>
          <p:cNvSpPr>
            <a:spLocks xmlns:a="http://schemas.openxmlformats.org/drawingml/2006/main" noGrp="1"/>
          </p:cNvSpPr>
          <p:nvPr/>
        </p:nvSpPr>
        <p:spPr>
          <a:xfrm xmlns:a="http://schemas.openxmlformats.org/drawingml/2006/main">
            <a:off x="9163050" y="1781175"/>
            <a:ext cx="230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Follow-up</a:t>
            </a:r>
          </a:p>
        </p:txBody>
      </p:sp>
      <p:sp>
        <p:nvSpPr>
          <p:cNvPr id="6" name="text-j5k6f4-4">
            <a:extLst xmlns:a="http://schemas.openxmlformats.org/drawingml/2006/main">
              <a:ext uri="{FF2B5EF4-FFF2-40B4-BE49-F238E27FC236}">
                <a16:creationId xmlns:a16="http://schemas.microsoft.com/office/drawing/2014/main" id="{0A3B5214-1379-4934-91E4-567084F51BB9}"/>
              </a:ext>
            </a:extLst>
          </p:cNvPr>
          <p:cNvSpPr>
            <a:spLocks xmlns:a="http://schemas.openxmlformats.org/drawingml/2006/main" noGrp="1"/>
          </p:cNvSpPr>
          <p:nvPr/>
        </p:nvSpPr>
        <p:spPr>
          <a:xfrm xmlns:a="http://schemas.openxmlformats.org/drawingml/2006/main">
            <a:off x="9163050" y="2390775"/>
            <a:ext cx="2305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i="0">
                <a:solidFill>
                  <a:srgbClr val="29343A"/>
                </a:solidFill>
                <a:latin typeface="Calibri"/>
                <a:ea typeface="Calibri"/>
                <a:cs typeface="Calibri"/>
              </a:defRPr>
            </a:defPPr>
          </a:lstStyle>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The coordinator</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can see who owns</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the issue and</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what to do next.</a:t>
            </a:r>
          </a:p>
        </p:txBody>
      </p:sp>
      <p:sp>
        <p:nvSpPr>
          <p:cNvPr id="7" name="text-j5k6f4-5">
            <a:extLst xmlns:a="http://schemas.openxmlformats.org/drawingml/2006/main">
              <a:ext uri="{FF2B5EF4-FFF2-40B4-BE49-F238E27FC236}">
                <a16:creationId xmlns:a16="http://schemas.microsoft.com/office/drawing/2014/main" id="{9438741B-239B-49AB-862C-1D11F457BDA8}"/>
              </a:ext>
            </a:extLst>
          </p:cNvPr>
          <p:cNvSpPr>
            <a:spLocks xmlns:a="http://schemas.openxmlformats.org/drawingml/2006/main" noGrp="1"/>
          </p:cNvSpPr>
          <p:nvPr/>
        </p:nvSpPr>
        <p:spPr>
          <a:xfrm xmlns:a="http://schemas.openxmlformats.org/drawingml/2006/main">
            <a:off x="723900" y="5133975"/>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Each shortage links back to its sales order. The record stays visible</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while the issue is open.</a:t>
            </a:r>
          </a:p>
        </p:txBody>
      </p:sp>
    </p:spTree>
    <p:extLst>
      <p:ext uri="{BB962C8B-B14F-4D97-AF65-F5344CB8AC3E}">
        <p14:creationId xmlns:p14="http://schemas.microsoft.com/office/powerpoint/2010/main" val="13573568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bepbtp-0">
            <a:extLst xmlns:a="http://schemas.openxmlformats.org/drawingml/2006/main">
              <a:ext uri="{FF2B5EF4-FFF2-40B4-BE49-F238E27FC236}">
                <a16:creationId xmlns:a16="http://schemas.microsoft.com/office/drawing/2014/main" id="{B216DC97-EFA8-4925-8406-57E7F54B41DB}"/>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Checking preparation quantities</a:t>
            </a:r>
          </a:p>
        </p:txBody>
      </p:sp>
      <p:sp>
        <p:nvSpPr>
          <p:cNvPr id="2" name="text-bepbtp-1">
            <a:extLst xmlns:a="http://schemas.openxmlformats.org/drawingml/2006/main">
              <a:ext uri="{FF2B5EF4-FFF2-40B4-BE49-F238E27FC236}">
                <a16:creationId xmlns:a16="http://schemas.microsoft.com/office/drawing/2014/main" id="{678A0E61-944B-425C-9C6F-F28C935E653A}"/>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bepbtp-2">
            <a:extLst xmlns:a="http://schemas.openxmlformats.org/drawingml/2006/main">
              <a:ext uri="{FF2B5EF4-FFF2-40B4-BE49-F238E27FC236}">
                <a16:creationId xmlns:a16="http://schemas.microsoft.com/office/drawing/2014/main" id="{541DF2FD-E985-4698-8D70-CE4D9F77500A}"/>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11</a:t>
            </a:r>
          </a:p>
        </p:txBody>
      </p:sp>
      <p:sp>
        <p:nvSpPr>
          <p:cNvPr id="4" name="text-bepbtp-3">
            <a:extLst xmlns:a="http://schemas.openxmlformats.org/drawingml/2006/main">
              <a:ext uri="{FF2B5EF4-FFF2-40B4-BE49-F238E27FC236}">
                <a16:creationId xmlns:a16="http://schemas.microsoft.com/office/drawing/2014/main" id="{322899A9-443B-4932-BF26-4FAF0AE79AAC}"/>
              </a:ext>
            </a:extLst>
          </p:cNvPr>
          <p:cNvSpPr>
            <a:spLocks xmlns:a="http://schemas.openxmlformats.org/drawingml/2006/main" noGrp="1"/>
          </p:cNvSpPr>
          <p:nvPr/>
        </p:nvSpPr>
        <p:spPr>
          <a:xfrm xmlns:a="http://schemas.openxmlformats.org/drawingml/2006/main">
            <a:off x="723900" y="1323975"/>
            <a:ext cx="1074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Separate check: a warehouse user tries to prepare more than the order's</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allocated stock. The system refuses the quantity when it is saved.</a:t>
            </a:r>
          </a:p>
        </p:txBody>
      </p:sp>
      <p:pic>
        <p:nvPicPr>
          <p:cNvPr id="5" name="">
            <a:extLst xmlns:a="http://schemas.openxmlformats.org/drawingml/2006/main">
              <a:ext uri="{FF2B5EF4-FFF2-40B4-BE49-F238E27FC236}">
                <a16:creationId xmlns:a16="http://schemas.microsoft.com/office/drawing/2014/main" id="{D6D0EF90-AE73-4418-928A-E120EC050EE6}"/>
              </a:ext>
            </a:extLst>
          </p:cNvPr>
          <p:cNvPicPr>
            <a:picLocks xmlns:a="http://schemas.openxmlformats.org/drawingml/2006/main" noChangeAspect="1"/>
          </p:cNvPicPr>
          <p:nvPr/>
        </p:nvPicPr>
        <p:blipFill>
          <a:blip xmlns:r="http://schemas.openxmlformats.org/officeDocument/2006/relationships" xmlns:a="http://schemas.openxmlformats.org/drawingml/2006/main" r:embed="R1034ca0667e44595"/>
          <a:srcRect xmlns:a="http://schemas.openxmlformats.org/drawingml/2006/main" l="4688" t="35417" r="4688" b="26806"/>
          <a:stretch xmlns:a="http://schemas.openxmlformats.org/drawingml/2006/main"/>
        </p:blipFill>
        <p:spPr>
          <a:xfrm xmlns:a="http://schemas.openxmlformats.org/drawingml/2006/main">
            <a:off x="723900" y="2828925"/>
            <a:ext cx="10744200" cy="2524125"/>
          </a:xfrm>
          <a:prstGeom xmlns:a="http://schemas.openxmlformats.org/drawingml/2006/main" prst="rect">
            <a:avLst/>
          </a:prstGeom>
        </p:spPr>
      </p:pic>
      <p:sp>
        <p:nvSpPr>
          <p:cNvPr id="6" name="text-bepbtp-4">
            <a:extLst xmlns:a="http://schemas.openxmlformats.org/drawingml/2006/main">
              <a:ext uri="{FF2B5EF4-FFF2-40B4-BE49-F238E27FC236}">
                <a16:creationId xmlns:a16="http://schemas.microsoft.com/office/drawing/2014/main" id="{C057013D-2EF7-47F9-A68D-07D8A2C671F2}"/>
              </a:ext>
            </a:extLst>
          </p:cNvPr>
          <p:cNvSpPr>
            <a:spLocks xmlns:a="http://schemas.openxmlformats.org/drawingml/2006/main" noGrp="1"/>
          </p:cNvSpPr>
          <p:nvPr/>
        </p:nvSpPr>
        <p:spPr>
          <a:xfrm xmlns:a="http://schemas.openxmlformats.org/drawingml/2006/main">
            <a:off x="723900" y="5838825"/>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i="0">
                <a:solidFill>
                  <a:srgbClr val="58636A"/>
                </a:solidFill>
                <a:latin typeface="Calibri"/>
                <a:ea typeface="Calibri"/>
                <a:cs typeface="Calibri"/>
              </a:defRPr>
            </a:defPPr>
          </a:lstStyle>
          <a:p xmlns:a="http://schemas.openxmlformats.org/drawingml/2006/main">
            <a:pPr algn="l">
              <a:lnSpc>
                <a:spcPct val="116000"/>
              </a:lnSpc>
              <a:buNone/>
              <a:defRPr sz="1800" b="0" i="0">
                <a:solidFill>
                  <a:srgbClr val="58636A"/>
                </a:solidFill>
                <a:latin typeface="Calibri"/>
                <a:ea typeface="Calibri"/>
                <a:cs typeface="Calibri"/>
              </a:defRPr>
            </a:pPr>
            <a:r>
              <a:rPr sz="1800" b="0" i="0">
                <a:solidFill>
                  <a:srgbClr val="58636A"/>
                </a:solidFill>
                <a:latin typeface="Calibri"/>
                <a:ea typeface="Calibri"/>
                <a:cs typeface="Calibri"/>
              </a:rPr>
              <a:t>The operator must reconcile availability before preparing more stock.</a:t>
            </a:r>
          </a:p>
        </p:txBody>
      </p:sp>
    </p:spTree>
    <p:extLst>
      <p:ext uri="{BB962C8B-B14F-4D97-AF65-F5344CB8AC3E}">
        <p14:creationId xmlns:p14="http://schemas.microsoft.com/office/powerpoint/2010/main" val="4799390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wnb5q-0">
            <a:extLst xmlns:a="http://schemas.openxmlformats.org/drawingml/2006/main">
              <a:ext uri="{FF2B5EF4-FFF2-40B4-BE49-F238E27FC236}">
                <a16:creationId xmlns:a16="http://schemas.microsoft.com/office/drawing/2014/main" id="{3E92885B-B14F-4C32-9F75-D4F2C03362D5}"/>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The completed test scenario</a:t>
            </a:r>
          </a:p>
        </p:txBody>
      </p:sp>
      <p:sp>
        <p:nvSpPr>
          <p:cNvPr id="2" name="text-6wnb5q-1">
            <a:extLst xmlns:a="http://schemas.openxmlformats.org/drawingml/2006/main">
              <a:ext uri="{FF2B5EF4-FFF2-40B4-BE49-F238E27FC236}">
                <a16:creationId xmlns:a16="http://schemas.microsoft.com/office/drawing/2014/main" id="{C31C0137-7431-4323-BBCD-DE547121F9EC}"/>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6wnb5q-2">
            <a:extLst xmlns:a="http://schemas.openxmlformats.org/drawingml/2006/main">
              <a:ext uri="{FF2B5EF4-FFF2-40B4-BE49-F238E27FC236}">
                <a16:creationId xmlns:a16="http://schemas.microsoft.com/office/drawing/2014/main" id="{4C1B006C-027E-4D1C-815B-E3F320D0258E}"/>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12</a:t>
            </a:r>
          </a:p>
        </p:txBody>
      </p:sp>
      <p:sp>
        <p:nvSpPr>
          <p:cNvPr id="4" name="text-6wnb5q-3">
            <a:extLst xmlns:a="http://schemas.openxmlformats.org/drawingml/2006/main">
              <a:ext uri="{FF2B5EF4-FFF2-40B4-BE49-F238E27FC236}">
                <a16:creationId xmlns:a16="http://schemas.microsoft.com/office/drawing/2014/main" id="{4115DA37-EC84-47D2-AE04-D3A28D29D540}"/>
              </a:ext>
            </a:extLst>
          </p:cNvPr>
          <p:cNvSpPr>
            <a:spLocks xmlns:a="http://schemas.openxmlformats.org/drawingml/2006/main" noGrp="1"/>
          </p:cNvSpPr>
          <p:nvPr/>
        </p:nvSpPr>
        <p:spPr>
          <a:xfrm xmlns:a="http://schemas.openxmlformats.org/drawingml/2006/main">
            <a:off x="723900" y="132397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Local synthetic end-to-end test, separate from the browser examples.</a:t>
            </a:r>
          </a:p>
        </p:txBody>
      </p:sp>
      <p:graphicFrame>
        <p:nvGraphicFramePr>
          <p:cNvPr id="5" name="">
            <a:extLst xmlns:a="http://schemas.openxmlformats.org/drawingml/2006/main">
              <a:ext uri="{FF2B5EF4-FFF2-40B4-BE49-F238E27FC236}">
                <a16:creationId xmlns:a16="http://schemas.microsoft.com/office/drawing/2014/main" id="{72FE2BDA-C340-4A25-95E3-B046304141F9}"/>
              </a:ext>
            </a:extLst>
          </p:cNvPr>
          <p:cNvGraphicFramePr/>
          <p:nvPr/>
        </p:nvGraphicFramePr>
        <p:xfrm>
          <a:off xmlns:a="http://schemas.openxmlformats.org/drawingml/2006/main" x="723900" y="2238375"/>
          <a:ext xmlns:a="http://schemas.openxmlformats.org/drawingml/2006/main" cx="10744200" cy="3048000"/>
        </p:xfrm>
        <a:graphic xmlns:a="http://schemas.openxmlformats.org/drawingml/2006/main">
          <a:graphicData uri="http://schemas.openxmlformats.org/drawingml/2006/table">
            <a:tbl>
              <a:tblPr firstRow="1" lastRow="0" bandRow="0"/>
              <a:tblGrid>
                <a:gridCol w="2476500"/>
                <a:gridCol w="1714500"/>
                <a:gridCol w="4171950"/>
                <a:gridCol w="2381250"/>
              </a:tblGrid>
              <a:tr h="762000">
                <a:tc>
                  <a:txBody>
                    <a:bodyPr lIns="95250" tIns="95250" rIns="95250" bIns="95250"/>
                    <a:lstStyle/>
                    <a:p>
                      <a:pPr algn="l">
                        <a:lnSpc>
                          <a:spcPct val="110000"/>
                        </a:lnSpc>
                        <a:buNone/>
                      </a:pPr>
                      <a:r>
                        <a:rPr sz="1800" b="1">
                          <a:solidFill>
                            <a:srgbClr val="29343A"/>
                          </a:solidFill>
                          <a:latin typeface="Calibri"/>
                          <a:ea typeface="Calibri"/>
                          <a:cs typeface="Calibri"/>
                        </a:rPr>
                        <a:t>Order</a:t>
                      </a:r>
                    </a:p>
                  </a:txBody>
                  <a:tcPr marL="91440" marR="91440" marT="45720" marB="45720" anchor="ctr">
                    <a:lnL w="6191">
                      <a:solidFill>
                        <a:srgbClr val="DCE0E3"/>
                      </a:solidFill>
                      <a:prstDash val="solid"/>
                    </a:lnL>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Units</a:t>
                      </a:r>
                    </a:p>
                    <a:p>
                      <a:pPr algn="r">
                        <a:lnSpc>
                          <a:spcPct val="110000"/>
                        </a:lnSpc>
                        <a:buNone/>
                      </a:pPr>
                      <a:r>
                        <a:rPr sz="1800" b="1">
                          <a:solidFill>
                            <a:srgbClr val="29343A"/>
                          </a:solidFill>
                          <a:latin typeface="Calibri"/>
                          <a:ea typeface="Calibri"/>
                          <a:cs typeface="Calibri"/>
                        </a:rPr>
                        <a:t>ordered</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l">
                        <a:lnSpc>
                          <a:spcPct val="110000"/>
                        </a:lnSpc>
                        <a:buNone/>
                      </a:pPr>
                      <a:r>
                        <a:rPr sz="1800" b="1">
                          <a:solidFill>
                            <a:srgbClr val="29343A"/>
                          </a:solidFill>
                          <a:latin typeface="Calibri"/>
                          <a:ea typeface="Calibri"/>
                          <a:cs typeface="Calibri"/>
                        </a:rPr>
                        <a:t>Shipments</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Units</a:t>
                      </a:r>
                    </a:p>
                    <a:p>
                      <a:pPr algn="r">
                        <a:lnSpc>
                          <a:spcPct val="110000"/>
                        </a:lnSpc>
                        <a:buNone/>
                      </a:pPr>
                      <a:r>
                        <a:rPr sz="1800" b="1">
                          <a:solidFill>
                            <a:srgbClr val="29343A"/>
                          </a:solidFill>
                          <a:latin typeface="Calibri"/>
                          <a:ea typeface="Calibri"/>
                          <a:cs typeface="Calibri"/>
                        </a:rPr>
                        <a:t>dispatched</a:t>
                      </a:r>
                    </a:p>
                  </a:txBody>
                  <a:tcPr marL="91440" marR="91440" marT="45720" marB="45720" anchor="ctr">
                    <a:lnR w="6191">
                      <a:solidFill>
                        <a:srgbClr val="DCE0E3"/>
                      </a:solidFill>
                      <a:prstDash val="solid"/>
                    </a:lnR>
                    <a:lnT w="6191">
                      <a:solidFill>
                        <a:srgbClr val="DCE0E3"/>
                      </a:solidFill>
                      <a:prstDash val="solid"/>
                    </a:lnT>
                    <a:lnB w="6191">
                      <a:solidFill>
                        <a:srgbClr val="DCE0E3"/>
                      </a:solidFill>
                      <a:prstDash val="solid"/>
                    </a:lnB>
                    <a:solidFill>
                      <a:srgbClr val="F0EDF0"/>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A: individual</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200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One full shipment</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200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B: corporate</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600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300 + 200 + 100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600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0">
                          <a:solidFill>
                            <a:srgbClr val="29343A"/>
                          </a:solidFill>
                          <a:latin typeface="Calibri"/>
                          <a:ea typeface="Calibri"/>
                          <a:cs typeface="Calibri"/>
                        </a:rPr>
                        <a:t>C: individual</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100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l">
                        <a:lnSpc>
                          <a:spcPct val="110000"/>
                        </a:lnSpc>
                        <a:buNone/>
                      </a:pPr>
                      <a:r>
                        <a:rPr sz="1800" b="0">
                          <a:solidFill>
                            <a:srgbClr val="29343A"/>
                          </a:solidFill>
                          <a:latin typeface="Calibri"/>
                          <a:ea typeface="Calibri"/>
                          <a:cs typeface="Calibri"/>
                        </a:rPr>
                        <a:t>One full shipment</a:t>
                      </a:r>
                    </a:p>
                  </a:txBody>
                  <a:tcPr marL="91440" marR="91440" marT="45720" marB="45720" anchor="ctr">
                    <a:lnR w="6191">
                      <a:solidFill>
                        <a:srgbClr val="DCE0E3"/>
                      </a:solidFill>
                      <a:prstDash val="solid"/>
                    </a:lnR>
                    <a:lnB w="6191">
                      <a:solidFill>
                        <a:srgbClr val="DCE0E3"/>
                      </a:solidFill>
                      <a:prstDash val="solid"/>
                    </a:lnB>
                    <a:solidFill>
                      <a:srgbClr val="FFFFFF"/>
                    </a:solidFill>
                  </a:tcPr>
                </a:tc>
                <a:tc>
                  <a:txBody>
                    <a:bodyPr lIns="95250" tIns="95250" rIns="95250" bIns="95250"/>
                    <a:lstStyle/>
                    <a:p>
                      <a:pPr algn="r">
                        <a:lnSpc>
                          <a:spcPct val="110000"/>
                        </a:lnSpc>
                        <a:buNone/>
                      </a:pPr>
                      <a:r>
                        <a:rPr sz="1800" b="0">
                          <a:solidFill>
                            <a:srgbClr val="29343A"/>
                          </a:solidFill>
                          <a:latin typeface="Calibri"/>
                          <a:ea typeface="Calibri"/>
                          <a:cs typeface="Calibri"/>
                        </a:rPr>
                        <a:t>100</a:t>
                      </a:r>
                    </a:p>
                  </a:txBody>
                  <a:tcPr marL="91440" marR="91440" marT="45720" marB="45720" anchor="ctr">
                    <a:lnR w="6191">
                      <a:solidFill>
                        <a:srgbClr val="DCE0E3"/>
                      </a:solidFill>
                      <a:prstDash val="solid"/>
                    </a:lnR>
                    <a:lnB w="6191">
                      <a:solidFill>
                        <a:srgbClr val="DCE0E3"/>
                      </a:solidFill>
                      <a:prstDash val="solid"/>
                    </a:lnB>
                    <a:solidFill>
                      <a:srgbClr val="FFFFFF"/>
                    </a:solidFill>
                  </a:tcPr>
                </a:tc>
              </a:tr>
              <a:tr h="571500">
                <a:tc>
                  <a:txBody>
                    <a:bodyPr lIns="95250" tIns="95250" rIns="95250" bIns="95250"/>
                    <a:lstStyle/>
                    <a:p>
                      <a:pPr algn="l">
                        <a:lnSpc>
                          <a:spcPct val="110000"/>
                        </a:lnSpc>
                        <a:buNone/>
                      </a:pPr>
                      <a:r>
                        <a:rPr sz="1800" b="1">
                          <a:solidFill>
                            <a:srgbClr val="29343A"/>
                          </a:solidFill>
                          <a:latin typeface="Calibri"/>
                          <a:ea typeface="Calibri"/>
                          <a:cs typeface="Calibri"/>
                        </a:rPr>
                        <a:t>Total</a:t>
                      </a:r>
                    </a:p>
                  </a:txBody>
                  <a:tcPr marL="91440" marR="91440" marT="45720" marB="45720" anchor="ctr">
                    <a:lnL w="6191">
                      <a:solidFill>
                        <a:srgbClr val="DCE0E3"/>
                      </a:solidFill>
                      <a:prstDash val="solid"/>
                    </a:lnL>
                    <a:lnR w="6191">
                      <a:solidFill>
                        <a:srgbClr val="DCE0E3"/>
                      </a:solidFill>
                      <a:prstDash val="solid"/>
                    </a:lnR>
                    <a:lnB w="6191">
                      <a:solidFill>
                        <a:srgbClr val="DCE0E3"/>
                      </a:solidFill>
                      <a:prstDash val="solid"/>
                    </a:lnB>
                    <a:solidFill>
                      <a:srgbClr val="F7F7F7"/>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900</a:t>
                      </a:r>
                    </a:p>
                  </a:txBody>
                  <a:tcPr marL="91440" marR="91440" marT="45720" marB="45720" anchor="ctr">
                    <a:lnR w="6191">
                      <a:solidFill>
                        <a:srgbClr val="DCE0E3"/>
                      </a:solidFill>
                      <a:prstDash val="solid"/>
                    </a:lnR>
                    <a:lnB w="6191">
                      <a:solidFill>
                        <a:srgbClr val="DCE0E3"/>
                      </a:solidFill>
                      <a:prstDash val="solid"/>
                    </a:lnB>
                    <a:solidFill>
                      <a:srgbClr val="F7F7F7"/>
                    </a:solidFill>
                  </a:tcPr>
                </a:tc>
                <a:tc>
                  <a:txBody>
                    <a:bodyPr lIns="95250" tIns="95250" rIns="95250" bIns="95250"/>
                    <a:lstStyle/>
                    <a:p>
                      <a:r>
                        <a:rPr sz="1800" b="1">
                          <a:solidFill>
                            <a:srgbClr val="29343A"/>
                          </a:solidFill>
                          <a:latin typeface="Calibri"/>
                          <a:ea typeface="Calibri"/>
                          <a:cs typeface="Calibri"/>
                        </a:rPr>
                        <a:t/>
                      </a:r>
                    </a:p>
                  </a:txBody>
                  <a:tcPr marL="91440" marR="91440" marT="45720" marB="45720" anchor="ctr">
                    <a:lnR w="6191">
                      <a:solidFill>
                        <a:srgbClr val="DCE0E3"/>
                      </a:solidFill>
                      <a:prstDash val="solid"/>
                    </a:lnR>
                    <a:lnB w="6191">
                      <a:solidFill>
                        <a:srgbClr val="DCE0E3"/>
                      </a:solidFill>
                      <a:prstDash val="solid"/>
                    </a:lnB>
                    <a:solidFill>
                      <a:srgbClr val="F7F7F7"/>
                    </a:solidFill>
                  </a:tcPr>
                </a:tc>
                <a:tc>
                  <a:txBody>
                    <a:bodyPr lIns="95250" tIns="95250" rIns="95250" bIns="95250"/>
                    <a:lstStyle/>
                    <a:p>
                      <a:pPr algn="r">
                        <a:lnSpc>
                          <a:spcPct val="110000"/>
                        </a:lnSpc>
                        <a:buNone/>
                      </a:pPr>
                      <a:r>
                        <a:rPr sz="1800" b="1">
                          <a:solidFill>
                            <a:srgbClr val="29343A"/>
                          </a:solidFill>
                          <a:latin typeface="Calibri"/>
                          <a:ea typeface="Calibri"/>
                          <a:cs typeface="Calibri"/>
                        </a:rPr>
                        <a:t>900</a:t>
                      </a:r>
                    </a:p>
                  </a:txBody>
                  <a:tcPr marL="91440" marR="91440" marT="45720" marB="45720" anchor="ctr">
                    <a:lnR w="6191">
                      <a:solidFill>
                        <a:srgbClr val="DCE0E3"/>
                      </a:solidFill>
                      <a:prstDash val="solid"/>
                    </a:lnR>
                    <a:lnB w="6191">
                      <a:solidFill>
                        <a:srgbClr val="DCE0E3"/>
                      </a:solidFill>
                      <a:prstDash val="solid"/>
                    </a:lnB>
                    <a:solidFill>
                      <a:srgbClr val="F7F7F7"/>
                    </a:solidFill>
                  </a:tcPr>
                </a:tc>
              </a:tr>
            </a:tbl>
          </a:graphicData>
        </a:graphic>
      </p:graphicFrame>
      <p:sp>
        <p:nvSpPr>
          <p:cNvPr id="6" name="text-6wnb5q-4">
            <a:extLst xmlns:a="http://schemas.openxmlformats.org/drawingml/2006/main">
              <a:ext uri="{FF2B5EF4-FFF2-40B4-BE49-F238E27FC236}">
                <a16:creationId xmlns:a16="http://schemas.microsoft.com/office/drawing/2014/main" id="{5E352BDD-94D2-42CF-86AA-E82CAE7A63BE}"/>
              </a:ext>
            </a:extLst>
          </p:cNvPr>
          <p:cNvSpPr>
            <a:spLocks xmlns:a="http://schemas.openxmlformats.org/drawingml/2006/main" noGrp="1"/>
          </p:cNvSpPr>
          <p:nvPr/>
        </p:nvSpPr>
        <p:spPr>
          <a:xfrm xmlns:a="http://schemas.openxmlformats.org/drawingml/2006/main">
            <a:off x="723900" y="5600700"/>
            <a:ext cx="1074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The test combines 500 opening units with 400 manufactured units.</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All 900 ordered units are dispatched.</a:t>
            </a:r>
          </a:p>
        </p:txBody>
      </p:sp>
    </p:spTree>
    <p:extLst>
      <p:ext uri="{BB962C8B-B14F-4D97-AF65-F5344CB8AC3E}">
        <p14:creationId xmlns:p14="http://schemas.microsoft.com/office/powerpoint/2010/main" val="16402645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5xg922-0">
            <a:extLst xmlns:a="http://schemas.openxmlformats.org/drawingml/2006/main">
              <a:ext uri="{FF2B5EF4-FFF2-40B4-BE49-F238E27FC236}">
                <a16:creationId xmlns:a16="http://schemas.microsoft.com/office/drawing/2014/main" id="{DA368662-EA5F-44B2-B6DB-B60FDA731B00}"/>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My work on the case</a:t>
            </a:r>
          </a:p>
        </p:txBody>
      </p:sp>
      <p:sp>
        <p:nvSpPr>
          <p:cNvPr id="2" name="text-5xg922-1">
            <a:extLst xmlns:a="http://schemas.openxmlformats.org/drawingml/2006/main">
              <a:ext uri="{FF2B5EF4-FFF2-40B4-BE49-F238E27FC236}">
                <a16:creationId xmlns:a16="http://schemas.microsoft.com/office/drawing/2014/main" id="{02EF6D42-46C1-4639-A977-610C0B87513F}"/>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5xg922-2">
            <a:extLst xmlns:a="http://schemas.openxmlformats.org/drawingml/2006/main">
              <a:ext uri="{FF2B5EF4-FFF2-40B4-BE49-F238E27FC236}">
                <a16:creationId xmlns:a16="http://schemas.microsoft.com/office/drawing/2014/main" id="{21A4F433-B44F-4AD2-99C1-D2A6C5F5E0F6}"/>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13</a:t>
            </a:r>
          </a:p>
        </p:txBody>
      </p:sp>
      <p:sp>
        <p:nvSpPr>
          <p:cNvPr id="4" name="text-5xg922-3">
            <a:extLst xmlns:a="http://schemas.openxmlformats.org/drawingml/2006/main">
              <a:ext uri="{FF2B5EF4-FFF2-40B4-BE49-F238E27FC236}">
                <a16:creationId xmlns:a16="http://schemas.microsoft.com/office/drawing/2014/main" id="{F1FB57FC-37C4-4411-A9BF-6A3C8871FDFB}"/>
              </a:ext>
            </a:extLst>
          </p:cNvPr>
          <p:cNvSpPr>
            <a:spLocks xmlns:a="http://schemas.openxmlformats.org/drawingml/2006/main" noGrp="1"/>
          </p:cNvSpPr>
          <p:nvPr/>
        </p:nvSpPr>
        <p:spPr>
          <a:xfrm xmlns:a="http://schemas.openxmlformats.org/drawingml/2006/main">
            <a:off x="723900" y="158115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i="0">
                <a:solidFill>
                  <a:srgbClr val="29343A"/>
                </a:solidFill>
                <a:latin typeface="Calibri"/>
                <a:ea typeface="Calibri"/>
                <a:cs typeface="Calibri"/>
              </a:defRPr>
            </a:defPPr>
          </a:lstStyle>
          <a:p xmlns:a="http://schemas.openxmlformats.org/drawingml/2006/main">
            <a:pPr algn="l">
              <a:lnSpc>
                <a:spcPct val="116000"/>
              </a:lnSpc>
              <a:buNone/>
              <a:defRPr sz="2175" b="1" i="0">
                <a:solidFill>
                  <a:srgbClr val="29343A"/>
                </a:solidFill>
                <a:latin typeface="Calibri"/>
                <a:ea typeface="Calibri"/>
                <a:cs typeface="Calibri"/>
              </a:defRPr>
            </a:pPr>
            <a:r>
              <a:rPr sz="2175" b="1" i="0">
                <a:solidFill>
                  <a:srgbClr val="29343A"/>
                </a:solidFill>
                <a:latin typeface="Calibri"/>
                <a:ea typeface="Calibri"/>
                <a:cs typeface="Calibri"/>
              </a:rPr>
              <a:t>Business decisions</a:t>
            </a:r>
          </a:p>
        </p:txBody>
      </p:sp>
      <p:sp>
        <p:nvSpPr>
          <p:cNvPr id="5" name="text-5xg922-4">
            <a:extLst xmlns:a="http://schemas.openxmlformats.org/drawingml/2006/main">
              <a:ext uri="{FF2B5EF4-FFF2-40B4-BE49-F238E27FC236}">
                <a16:creationId xmlns:a16="http://schemas.microsoft.com/office/drawing/2014/main" id="{EF9FE006-76EC-46AF-9E6A-43E4DF42C664}"/>
              </a:ext>
            </a:extLst>
          </p:cNvPr>
          <p:cNvSpPr>
            <a:spLocks xmlns:a="http://schemas.openxmlformats.org/drawingml/2006/main" noGrp="1"/>
          </p:cNvSpPr>
          <p:nvPr/>
        </p:nvSpPr>
        <p:spPr>
          <a:xfrm xmlns:a="http://schemas.openxmlformats.org/drawingml/2006/main">
            <a:off x="723900" y="2143125"/>
            <a:ext cx="6000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I defined the scenario and approved the</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rules for dispatch dates, reservations</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and partial shipments.</a:t>
            </a:r>
          </a:p>
        </p:txBody>
      </p:sp>
      <p:sp>
        <p:nvSpPr>
          <p:cNvPr id="6" name="text-5xg922-5">
            <a:extLst xmlns:a="http://schemas.openxmlformats.org/drawingml/2006/main">
              <a:ext uri="{FF2B5EF4-FFF2-40B4-BE49-F238E27FC236}">
                <a16:creationId xmlns:a16="http://schemas.microsoft.com/office/drawing/2014/main" id="{84374C90-8D41-454F-A751-FA85982CE73F}"/>
              </a:ext>
            </a:extLst>
          </p:cNvPr>
          <p:cNvSpPr>
            <a:spLocks xmlns:a="http://schemas.openxmlformats.org/drawingml/2006/main" noGrp="1"/>
          </p:cNvSpPr>
          <p:nvPr/>
        </p:nvSpPr>
        <p:spPr>
          <a:xfrm xmlns:a="http://schemas.openxmlformats.org/drawingml/2006/main">
            <a:off x="723900" y="37814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i="0">
                <a:solidFill>
                  <a:srgbClr val="29343A"/>
                </a:solidFill>
                <a:latin typeface="Calibri"/>
                <a:ea typeface="Calibri"/>
                <a:cs typeface="Calibri"/>
              </a:defRPr>
            </a:defPPr>
          </a:lstStyle>
          <a:p xmlns:a="http://schemas.openxmlformats.org/drawingml/2006/main">
            <a:pPr algn="l">
              <a:lnSpc>
                <a:spcPct val="116000"/>
              </a:lnSpc>
              <a:buNone/>
              <a:defRPr sz="2175" b="1" i="0">
                <a:solidFill>
                  <a:srgbClr val="29343A"/>
                </a:solidFill>
                <a:latin typeface="Calibri"/>
                <a:ea typeface="Calibri"/>
                <a:cs typeface="Calibri"/>
              </a:defRPr>
            </a:pPr>
            <a:r>
              <a:rPr sz="2175" b="1" i="0">
                <a:solidFill>
                  <a:srgbClr val="29343A"/>
                </a:solidFill>
                <a:latin typeface="Calibri"/>
                <a:ea typeface="Calibri"/>
                <a:cs typeface="Calibri"/>
              </a:rPr>
              <a:t>Review and revision</a:t>
            </a:r>
          </a:p>
        </p:txBody>
      </p:sp>
      <p:sp>
        <p:nvSpPr>
          <p:cNvPr id="7" name="text-5xg922-6">
            <a:extLst xmlns:a="http://schemas.openxmlformats.org/drawingml/2006/main">
              <a:ext uri="{FF2B5EF4-FFF2-40B4-BE49-F238E27FC236}">
                <a16:creationId xmlns:a16="http://schemas.microsoft.com/office/drawing/2014/main" id="{30431103-D60E-435B-8B05-1D4973D2D591}"/>
              </a:ext>
            </a:extLst>
          </p:cNvPr>
          <p:cNvSpPr>
            <a:spLocks xmlns:a="http://schemas.openxmlformats.org/drawingml/2006/main" noGrp="1"/>
          </p:cNvSpPr>
          <p:nvPr/>
        </p:nvSpPr>
        <p:spPr>
          <a:xfrm xmlns:a="http://schemas.openxmlformats.org/drawingml/2006/main">
            <a:off x="723900" y="4343400"/>
            <a:ext cx="6096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i="0">
                <a:solidFill>
                  <a:srgbClr val="29343A"/>
                </a:solidFill>
                <a:latin typeface="Calibri"/>
                <a:ea typeface="Calibri"/>
                <a:cs typeface="Calibri"/>
              </a:defRPr>
            </a:defPPr>
          </a:lstStyle>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Review exposed ways to prepare stock</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outside the allocation. Those cases shaped</a:t>
            </a:r>
          </a:p>
          <a:p xmlns:a="http://schemas.openxmlformats.org/drawingml/2006/main">
            <a:pPr algn="l">
              <a:lnSpc>
                <a:spcPct val="116000"/>
              </a:lnSpc>
              <a:buNone/>
              <a:defRPr sz="2100" b="0" i="0">
                <a:solidFill>
                  <a:srgbClr val="29343A"/>
                </a:solidFill>
                <a:latin typeface="Calibri"/>
                <a:ea typeface="Calibri"/>
                <a:cs typeface="Calibri"/>
              </a:defRPr>
            </a:pPr>
            <a:r>
              <a:rPr sz="2100" b="0" i="0">
                <a:solidFill>
                  <a:srgbClr val="29343A"/>
                </a:solidFill>
                <a:latin typeface="Calibri"/>
                <a:ea typeface="Calibri"/>
                <a:cs typeface="Calibri"/>
              </a:rPr>
              <a:t>the final controls and regression checks.</a:t>
            </a:r>
          </a:p>
        </p:txBody>
      </p:sp>
      <p:sp>
        <p:nvSpPr>
          <p:cNvPr id="8" name="text-5xg922-7">
            <a:extLst xmlns:a="http://schemas.openxmlformats.org/drawingml/2006/main">
              <a:ext uri="{FF2B5EF4-FFF2-40B4-BE49-F238E27FC236}">
                <a16:creationId xmlns:a16="http://schemas.microsoft.com/office/drawing/2014/main" id="{86677AC8-2A1F-4434-8723-37CF12F48794}"/>
              </a:ext>
            </a:extLst>
          </p:cNvPr>
          <p:cNvSpPr>
            <a:spLocks xmlns:a="http://schemas.openxmlformats.org/drawingml/2006/main" noGrp="1"/>
          </p:cNvSpPr>
          <p:nvPr/>
        </p:nvSpPr>
        <p:spPr>
          <a:xfrm xmlns:a="http://schemas.openxmlformats.org/drawingml/2006/main">
            <a:off x="7524750" y="158115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i="0">
                <a:solidFill>
                  <a:srgbClr val="29343A"/>
                </a:solidFill>
                <a:latin typeface="Calibri"/>
                <a:ea typeface="Calibri"/>
                <a:cs typeface="Calibri"/>
              </a:defRPr>
            </a:defPPr>
          </a:lstStyle>
          <a:p xmlns:a="http://schemas.openxmlformats.org/drawingml/2006/main">
            <a:pPr algn="l">
              <a:lnSpc>
                <a:spcPct val="116000"/>
              </a:lnSpc>
              <a:buNone/>
              <a:defRPr sz="2175" b="1" i="0">
                <a:solidFill>
                  <a:srgbClr val="29343A"/>
                </a:solidFill>
                <a:latin typeface="Calibri"/>
                <a:ea typeface="Calibri"/>
                <a:cs typeface="Calibri"/>
              </a:defRPr>
            </a:pPr>
            <a:r>
              <a:rPr sz="2175" b="1" i="0">
                <a:solidFill>
                  <a:srgbClr val="29343A"/>
                </a:solidFill>
                <a:latin typeface="Calibri"/>
                <a:ea typeface="Calibri"/>
                <a:cs typeface="Calibri"/>
              </a:rPr>
              <a:t>Checks and results</a:t>
            </a:r>
          </a:p>
        </p:txBody>
      </p:sp>
      <p:sp>
        <p:nvSpPr>
          <p:cNvPr id="9" name="text-5xg922-8">
            <a:extLst xmlns:a="http://schemas.openxmlformats.org/drawingml/2006/main">
              <a:ext uri="{FF2B5EF4-FFF2-40B4-BE49-F238E27FC236}">
                <a16:creationId xmlns:a16="http://schemas.microsoft.com/office/drawing/2014/main" id="{AFC553AD-72A7-499C-BD34-85497CA31496}"/>
              </a:ext>
            </a:extLst>
          </p:cNvPr>
          <p:cNvSpPr>
            <a:spLocks xmlns:a="http://schemas.openxmlformats.org/drawingml/2006/main" noGrp="1"/>
          </p:cNvSpPr>
          <p:nvPr/>
        </p:nvSpPr>
        <p:spPr>
          <a:xfrm xmlns:a="http://schemas.openxmlformats.org/drawingml/2006/main">
            <a:off x="7524750" y="2143125"/>
            <a:ext cx="39433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81 local test methods passed.</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11 campaign checks also passed.</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Recorded on 15 October 2026.</a:t>
            </a:r>
          </a:p>
        </p:txBody>
      </p:sp>
      <p:sp>
        <p:nvSpPr>
          <p:cNvPr id="10" name="text-5xg922-9">
            <a:extLst xmlns:a="http://schemas.openxmlformats.org/drawingml/2006/main">
              <a:ext uri="{FF2B5EF4-FFF2-40B4-BE49-F238E27FC236}">
                <a16:creationId xmlns:a16="http://schemas.microsoft.com/office/drawing/2014/main" id="{D1F51BF0-CE80-48AD-8105-E08493D182AD}"/>
              </a:ext>
            </a:extLst>
          </p:cNvPr>
          <p:cNvSpPr>
            <a:spLocks xmlns:a="http://schemas.openxmlformats.org/drawingml/2006/main" noGrp="1"/>
          </p:cNvSpPr>
          <p:nvPr/>
        </p:nvSpPr>
        <p:spPr>
          <a:xfrm xmlns:a="http://schemas.openxmlformats.org/drawingml/2006/main">
            <a:off x="7524750" y="392430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i="0">
                <a:solidFill>
                  <a:srgbClr val="29343A"/>
                </a:solidFill>
                <a:latin typeface="Calibri"/>
                <a:ea typeface="Calibri"/>
                <a:cs typeface="Calibri"/>
              </a:defRPr>
            </a:defPPr>
          </a:lstStyle>
          <a:p xmlns:a="http://schemas.openxmlformats.org/drawingml/2006/main">
            <a:pPr algn="l">
              <a:lnSpc>
                <a:spcPct val="116000"/>
              </a:lnSpc>
              <a:buNone/>
              <a:defRPr sz="2025" b="1" i="0">
                <a:solidFill>
                  <a:srgbClr val="29343A"/>
                </a:solidFill>
                <a:latin typeface="Calibri"/>
                <a:ea typeface="Calibri"/>
                <a:cs typeface="Calibri"/>
              </a:defRPr>
            </a:pPr>
            <a:r>
              <a:rPr sz="2025" b="1" i="0">
                <a:solidFill>
                  <a:srgbClr val="29343A"/>
                </a:solidFill>
                <a:latin typeface="Calibri"/>
                <a:ea typeface="Calibri"/>
                <a:cs typeface="Calibri"/>
              </a:rPr>
              <a:t>Outside the current scope</a:t>
            </a:r>
          </a:p>
        </p:txBody>
      </p:sp>
      <p:sp>
        <p:nvSpPr>
          <p:cNvPr id="11" name="text-5xg922-10">
            <a:extLst xmlns:a="http://schemas.openxmlformats.org/drawingml/2006/main">
              <a:ext uri="{FF2B5EF4-FFF2-40B4-BE49-F238E27FC236}">
                <a16:creationId xmlns:a16="http://schemas.microsoft.com/office/drawing/2014/main" id="{9BADD804-002E-441F-9F17-1913C1F4FBD2}"/>
              </a:ext>
            </a:extLst>
          </p:cNvPr>
          <p:cNvSpPr>
            <a:spLocks xmlns:a="http://schemas.openxmlformats.org/drawingml/2006/main" noGrp="1"/>
          </p:cNvSpPr>
          <p:nvPr/>
        </p:nvSpPr>
        <p:spPr>
          <a:xfrm xmlns:a="http://schemas.openxmlformats.org/drawingml/2006/main">
            <a:off x="7524750" y="4486275"/>
            <a:ext cx="3943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i="0">
                <a:solidFill>
                  <a:srgbClr val="29343A"/>
                </a:solidFill>
                <a:latin typeface="Calibri"/>
                <a:ea typeface="Calibri"/>
                <a:cs typeface="Calibri"/>
              </a:defRPr>
            </a:defPPr>
          </a:lstStyle>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Capacity planning, carrier/WMS</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integration and production hosting</a:t>
            </a:r>
          </a:p>
          <a:p xmlns:a="http://schemas.openxmlformats.org/drawingml/2006/main">
            <a:pPr algn="l">
              <a:lnSpc>
                <a:spcPct val="116000"/>
              </a:lnSpc>
              <a:buNone/>
              <a:defRPr sz="1950" b="0" i="0">
                <a:solidFill>
                  <a:srgbClr val="29343A"/>
                </a:solidFill>
                <a:latin typeface="Calibri"/>
                <a:ea typeface="Calibri"/>
                <a:cs typeface="Calibri"/>
              </a:defRPr>
            </a:pPr>
            <a:r>
              <a:rPr sz="1950" b="0" i="0">
                <a:solidFill>
                  <a:srgbClr val="29343A"/>
                </a:solidFill>
                <a:latin typeface="Calibri"/>
                <a:ea typeface="Calibri"/>
                <a:cs typeface="Calibri"/>
              </a:rPr>
              <a:t>would need separate work.</a:t>
            </a:r>
          </a:p>
        </p:txBody>
      </p:sp>
      <p:sp>
        <p:nvSpPr>
          <p:cNvPr id="12" name="text-5xg922-11">
            <a:extLst xmlns:a="http://schemas.openxmlformats.org/drawingml/2006/main">
              <a:ext uri="{FF2B5EF4-FFF2-40B4-BE49-F238E27FC236}">
                <a16:creationId xmlns:a16="http://schemas.microsoft.com/office/drawing/2014/main" id="{2172EA94-DF4B-4590-B9AA-C1C2BF234DF9}"/>
              </a:ext>
            </a:extLst>
          </p:cNvPr>
          <p:cNvSpPr>
            <a:spLocks xmlns:a="http://schemas.openxmlformats.org/drawingml/2006/main" noGrp="1"/>
          </p:cNvSpPr>
          <p:nvPr/>
        </p:nvSpPr>
        <p:spPr>
          <a:xfrm xmlns:a="http://schemas.openxmlformats.org/drawingml/2006/main">
            <a:off x="723900" y="606742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i="0">
                <a:solidFill>
                  <a:srgbClr val="58636A"/>
                </a:solidFill>
                <a:latin typeface="Calibri"/>
                <a:ea typeface="Calibri"/>
                <a:cs typeface="Calibri"/>
              </a:defRPr>
            </a:defPPr>
          </a:lstStyle>
          <a:p xmlns:a="http://schemas.openxmlformats.org/drawingml/2006/main">
            <a:pPr algn="l">
              <a:lnSpc>
                <a:spcPct val="116000"/>
              </a:lnSpc>
              <a:buNone/>
              <a:defRPr sz="1500" b="0" i="0">
                <a:solidFill>
                  <a:srgbClr val="58636A"/>
                </a:solidFill>
                <a:latin typeface="Calibri"/>
                <a:ea typeface="Calibri"/>
                <a:cs typeface="Calibri"/>
              </a:defRPr>
            </a:pPr>
            <a:r>
              <a:rPr sz="1500" b="0" i="0">
                <a:solidFill>
                  <a:srgbClr val="58636A"/>
                </a:solidFill>
                <a:latin typeface="Calibri"/>
                <a:ea typeface="Calibri"/>
                <a:cs typeface="Calibri"/>
              </a:rPr>
              <a:t>These checks demonstrate functional behaviour, not measured savings or delivery-rate improvements.</a:t>
            </a:r>
          </a:p>
        </p:txBody>
      </p:sp>
    </p:spTree>
    <p:extLst>
      <p:ext uri="{BB962C8B-B14F-4D97-AF65-F5344CB8AC3E}">
        <p14:creationId xmlns:p14="http://schemas.microsoft.com/office/powerpoint/2010/main" val="6401053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8jcrh0-0">
            <a:extLst xmlns:a="http://schemas.openxmlformats.org/drawingml/2006/main">
              <a:ext uri="{FF2B5EF4-FFF2-40B4-BE49-F238E27FC236}">
                <a16:creationId xmlns:a16="http://schemas.microsoft.com/office/drawing/2014/main" id="{D6F438B0-BB88-4C8B-BF82-4537128AF127}"/>
              </a:ext>
            </a:extLst>
          </p:cNvPr>
          <p:cNvSpPr>
            <a:spLocks xmlns:a="http://schemas.openxmlformats.org/drawingml/2006/main" noGrp="1"/>
          </p:cNvSpPr>
          <p:nvPr/>
        </p:nvSpPr>
        <p:spPr>
          <a:xfrm xmlns:a="http://schemas.openxmlformats.org/drawingml/2006/main">
            <a:off x="723900" y="49530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i="0">
                <a:solidFill>
                  <a:srgbClr val="29343A"/>
                </a:solidFill>
                <a:latin typeface="Calibri"/>
                <a:ea typeface="Calibri"/>
                <a:cs typeface="Calibri"/>
              </a:defRPr>
            </a:defPPr>
          </a:lstStyle>
          <a:p xmlns:a="http://schemas.openxmlformats.org/drawingml/2006/main">
            <a:pPr algn="l">
              <a:lnSpc>
                <a:spcPct val="116000"/>
              </a:lnSpc>
              <a:buNone/>
              <a:defRPr sz="3200" b="1" i="0">
                <a:solidFill>
                  <a:srgbClr val="29343A"/>
                </a:solidFill>
                <a:latin typeface="Calibri"/>
                <a:ea typeface="Calibri"/>
                <a:cs typeface="Calibri"/>
              </a:defRPr>
            </a:pPr>
            <a:r>
              <a:rPr sz="3200" b="1" i="0">
                <a:solidFill>
                  <a:srgbClr val="29343A"/>
                </a:solidFill>
                <a:latin typeface="Calibri"/>
                <a:ea typeface="Calibri"/>
                <a:cs typeface="Calibri"/>
              </a:rPr>
              <a:t>Technology and source</a:t>
            </a:r>
          </a:p>
        </p:txBody>
      </p:sp>
      <p:sp>
        <p:nvSpPr>
          <p:cNvPr id="2" name="text-8jcrh0-1">
            <a:extLst xmlns:a="http://schemas.openxmlformats.org/drawingml/2006/main">
              <a:ext uri="{FF2B5EF4-FFF2-40B4-BE49-F238E27FC236}">
                <a16:creationId xmlns:a16="http://schemas.microsoft.com/office/drawing/2014/main" id="{BE6FDA2C-6F82-4C00-ABFE-4E65D629EC07}"/>
              </a:ext>
            </a:extLst>
          </p:cNvPr>
          <p:cNvSpPr>
            <a:spLocks xmlns:a="http://schemas.openxmlformats.org/drawingml/2006/main" noGrp="1"/>
          </p:cNvSpPr>
          <p:nvPr/>
        </p:nvSpPr>
        <p:spPr>
          <a:xfrm xmlns:a="http://schemas.openxmlformats.org/drawingml/2006/main">
            <a:off x="723900" y="65055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i="0">
                <a:solidFill>
                  <a:srgbClr val="6F757B"/>
                </a:solidFill>
                <a:latin typeface="Calibri"/>
                <a:ea typeface="Calibri"/>
                <a:cs typeface="Calibri"/>
              </a:defRPr>
            </a:defPPr>
          </a:lstStyle>
          <a:p xmlns:a="http://schemas.openxmlformats.org/drawingml/2006/main">
            <a:pPr algn="l">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HALY / Operations Control Tower</a:t>
            </a:r>
          </a:p>
        </p:txBody>
      </p:sp>
      <p:sp>
        <p:nvSpPr>
          <p:cNvPr id="3" name="text-8jcrh0-2">
            <a:extLst xmlns:a="http://schemas.openxmlformats.org/drawingml/2006/main">
              <a:ext uri="{FF2B5EF4-FFF2-40B4-BE49-F238E27FC236}">
                <a16:creationId xmlns:a16="http://schemas.microsoft.com/office/drawing/2014/main" id="{BE6BCD12-092D-45BB-984A-1D617D420454}"/>
              </a:ext>
            </a:extLst>
          </p:cNvPr>
          <p:cNvSpPr>
            <a:spLocks xmlns:a="http://schemas.openxmlformats.org/drawingml/2006/main" noGrp="1"/>
          </p:cNvSpPr>
          <p:nvPr/>
        </p:nvSpPr>
        <p:spPr>
          <a:xfrm xmlns:a="http://schemas.openxmlformats.org/drawingml/2006/main">
            <a:off x="10953750" y="6505575"/>
            <a:ext cx="51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i="0">
                <a:solidFill>
                  <a:srgbClr val="6F757B"/>
                </a:solidFill>
                <a:latin typeface="Calibri"/>
                <a:ea typeface="Calibri"/>
                <a:cs typeface="Calibri"/>
              </a:defRPr>
            </a:defPPr>
          </a:lstStyle>
          <a:p xmlns:a="http://schemas.openxmlformats.org/drawingml/2006/main">
            <a:pPr algn="r">
              <a:lnSpc>
                <a:spcPct val="116000"/>
              </a:lnSpc>
              <a:buNone/>
              <a:defRPr sz="1125" b="0" i="0">
                <a:solidFill>
                  <a:srgbClr val="6F757B"/>
                </a:solidFill>
                <a:latin typeface="Calibri"/>
                <a:ea typeface="Calibri"/>
                <a:cs typeface="Calibri"/>
              </a:defRPr>
            </a:pPr>
            <a:r>
              <a:rPr sz="1125" b="0" i="0">
                <a:solidFill>
                  <a:srgbClr val="6F757B"/>
                </a:solidFill>
                <a:latin typeface="Calibri"/>
                <a:ea typeface="Calibri"/>
                <a:cs typeface="Calibri"/>
              </a:rPr>
              <a:t>14</a:t>
            </a:r>
          </a:p>
        </p:txBody>
      </p:sp>
      <p:sp>
        <p:nvSpPr>
          <p:cNvPr id="4" name="text-8jcrh0-3">
            <a:extLst xmlns:a="http://schemas.openxmlformats.org/drawingml/2006/main">
              <a:ext uri="{FF2B5EF4-FFF2-40B4-BE49-F238E27FC236}">
                <a16:creationId xmlns:a16="http://schemas.microsoft.com/office/drawing/2014/main" id="{5B1B17CD-75D4-4A45-B7AC-EC607B5E494C}"/>
              </a:ext>
            </a:extLst>
          </p:cNvPr>
          <p:cNvSpPr>
            <a:spLocks xmlns:a="http://schemas.openxmlformats.org/drawingml/2006/main" noGrp="1"/>
          </p:cNvSpPr>
          <p:nvPr/>
        </p:nvSpPr>
        <p:spPr>
          <a:xfrm xmlns:a="http://schemas.openxmlformats.org/drawingml/2006/main">
            <a:off x="723900" y="1504950"/>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ERP platform</a:t>
            </a:r>
          </a:p>
        </p:txBody>
      </p:sp>
      <p:sp>
        <p:nvSpPr>
          <p:cNvPr id="5" name="text-8jcrh0-4">
            <a:extLst xmlns:a="http://schemas.openxmlformats.org/drawingml/2006/main">
              <a:ext uri="{FF2B5EF4-FFF2-40B4-BE49-F238E27FC236}">
                <a16:creationId xmlns:a16="http://schemas.microsoft.com/office/drawing/2014/main" id="{5379783D-124E-4EA3-B196-3FB41D6445A6}"/>
              </a:ext>
            </a:extLst>
          </p:cNvPr>
          <p:cNvSpPr>
            <a:spLocks xmlns:a="http://schemas.openxmlformats.org/drawingml/2006/main" noGrp="1"/>
          </p:cNvSpPr>
          <p:nvPr/>
        </p:nvSpPr>
        <p:spPr>
          <a:xfrm xmlns:a="http://schemas.openxmlformats.org/drawingml/2006/main">
            <a:off x="3524250" y="15049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Odoo 19 Community</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Sales, Inventory, Purchase and Manufacturing</a:t>
            </a:r>
          </a:p>
        </p:txBody>
      </p:sp>
      <p:sp>
        <p:nvSpPr>
          <p:cNvPr id="6" name="text-8jcrh0-5">
            <a:extLst xmlns:a="http://schemas.openxmlformats.org/drawingml/2006/main">
              <a:ext uri="{FF2B5EF4-FFF2-40B4-BE49-F238E27FC236}">
                <a16:creationId xmlns:a16="http://schemas.microsoft.com/office/drawing/2014/main" id="{E3D53EB9-78F1-47A0-920D-17ACEFB0E8C3}"/>
              </a:ext>
            </a:extLst>
          </p:cNvPr>
          <p:cNvSpPr>
            <a:spLocks xmlns:a="http://schemas.openxmlformats.org/drawingml/2006/main" noGrp="1"/>
          </p:cNvSpPr>
          <p:nvPr/>
        </p:nvSpPr>
        <p:spPr>
          <a:xfrm xmlns:a="http://schemas.openxmlformats.org/drawingml/2006/main">
            <a:off x="723900" y="2552700"/>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Custom work</a:t>
            </a:r>
          </a:p>
        </p:txBody>
      </p:sp>
      <p:sp>
        <p:nvSpPr>
          <p:cNvPr id="7" name="text-8jcrh0-6">
            <a:extLst xmlns:a="http://schemas.openxmlformats.org/drawingml/2006/main">
              <a:ext uri="{FF2B5EF4-FFF2-40B4-BE49-F238E27FC236}">
                <a16:creationId xmlns:a16="http://schemas.microsoft.com/office/drawing/2014/main" id="{A38E8076-CA1D-41A8-B794-04AD4FDC042A}"/>
              </a:ext>
            </a:extLst>
          </p:cNvPr>
          <p:cNvSpPr>
            <a:spLocks xmlns:a="http://schemas.openxmlformats.org/drawingml/2006/main" noGrp="1"/>
          </p:cNvSpPr>
          <p:nvPr/>
        </p:nvSpPr>
        <p:spPr>
          <a:xfrm xmlns:a="http://schemas.openxmlformats.org/drawingml/2006/main">
            <a:off x="3524250" y="25527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Python business rules</a:t>
            </a:r>
          </a:p>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XML views and CSV access controls</a:t>
            </a:r>
          </a:p>
        </p:txBody>
      </p:sp>
      <p:sp>
        <p:nvSpPr>
          <p:cNvPr id="8" name="text-8jcrh0-7">
            <a:extLst xmlns:a="http://schemas.openxmlformats.org/drawingml/2006/main">
              <a:ext uri="{FF2B5EF4-FFF2-40B4-BE49-F238E27FC236}">
                <a16:creationId xmlns:a16="http://schemas.microsoft.com/office/drawing/2014/main" id="{7A9A1834-E683-47EC-A865-8DB7C99E9B43}"/>
              </a:ext>
            </a:extLst>
          </p:cNvPr>
          <p:cNvSpPr>
            <a:spLocks xmlns:a="http://schemas.openxmlformats.org/drawingml/2006/main" noGrp="1"/>
          </p:cNvSpPr>
          <p:nvPr/>
        </p:nvSpPr>
        <p:spPr>
          <a:xfrm xmlns:a="http://schemas.openxmlformats.org/drawingml/2006/main">
            <a:off x="723900" y="3600450"/>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Environment</a:t>
            </a:r>
          </a:p>
        </p:txBody>
      </p:sp>
      <p:sp>
        <p:nvSpPr>
          <p:cNvPr id="9" name="text-8jcrh0-8">
            <a:extLst xmlns:a="http://schemas.openxmlformats.org/drawingml/2006/main">
              <a:ext uri="{FF2B5EF4-FFF2-40B4-BE49-F238E27FC236}">
                <a16:creationId xmlns:a16="http://schemas.microsoft.com/office/drawing/2014/main" id="{E13F4CA8-E162-47A8-ACA0-2EE0C55567A1}"/>
              </a:ext>
            </a:extLst>
          </p:cNvPr>
          <p:cNvSpPr>
            <a:spLocks xmlns:a="http://schemas.openxmlformats.org/drawingml/2006/main" noGrp="1"/>
          </p:cNvSpPr>
          <p:nvPr/>
        </p:nvSpPr>
        <p:spPr>
          <a:xfrm xmlns:a="http://schemas.openxmlformats.org/drawingml/2006/main">
            <a:off x="3524250" y="36004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i="0">
                <a:solidFill>
                  <a:srgbClr val="29343A"/>
                </a:solidFill>
                <a:latin typeface="Calibri"/>
                <a:ea typeface="Calibri"/>
                <a:cs typeface="Calibri"/>
              </a:defRPr>
            </a:defPPr>
          </a:lstStyle>
          <a:p xmlns:a="http://schemas.openxmlformats.org/drawingml/2006/main">
            <a:pPr algn="l">
              <a:lnSpc>
                <a:spcPct val="116000"/>
              </a:lnSpc>
              <a:buNone/>
              <a:defRPr sz="2025" b="0" i="0">
                <a:solidFill>
                  <a:srgbClr val="29343A"/>
                </a:solidFill>
                <a:latin typeface="Calibri"/>
                <a:ea typeface="Calibri"/>
                <a:cs typeface="Calibri"/>
              </a:defRPr>
            </a:pPr>
            <a:r>
              <a:rPr sz="2025" b="0" i="0">
                <a:solidFill>
                  <a:srgbClr val="29343A"/>
                </a:solidFill>
                <a:latin typeface="Calibri"/>
                <a:ea typeface="Calibri"/>
                <a:cs typeface="Calibri"/>
              </a:rPr>
              <a:t>PostgreSQL 15, Docker and PowerShell</a:t>
            </a:r>
          </a:p>
        </p:txBody>
      </p:sp>
      <p:sp>
        <p:nvSpPr>
          <p:cNvPr id="10" name="text-8jcrh0-9">
            <a:extLst xmlns:a="http://schemas.openxmlformats.org/drawingml/2006/main">
              <a:ext uri="{FF2B5EF4-FFF2-40B4-BE49-F238E27FC236}">
                <a16:creationId xmlns:a16="http://schemas.microsoft.com/office/drawing/2014/main" id="{752A817F-BE34-4D27-A076-D6D1B949061A}"/>
              </a:ext>
            </a:extLst>
          </p:cNvPr>
          <p:cNvSpPr>
            <a:spLocks xmlns:a="http://schemas.openxmlformats.org/drawingml/2006/main" noGrp="1"/>
          </p:cNvSpPr>
          <p:nvPr/>
        </p:nvSpPr>
        <p:spPr>
          <a:xfrm xmlns:a="http://schemas.openxmlformats.org/drawingml/2006/main">
            <a:off x="723900" y="4781550"/>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i="0">
                <a:solidFill>
                  <a:srgbClr val="29343A"/>
                </a:solidFill>
                <a:latin typeface="Calibri"/>
                <a:ea typeface="Calibri"/>
                <a:cs typeface="Calibri"/>
              </a:defRPr>
            </a:defPPr>
          </a:lstStyle>
          <a:p xmlns:a="http://schemas.openxmlformats.org/drawingml/2006/main">
            <a:pPr algn="l">
              <a:lnSpc>
                <a:spcPct val="116000"/>
              </a:lnSpc>
              <a:buNone/>
              <a:defRPr sz="2100" b="1" i="0">
                <a:solidFill>
                  <a:srgbClr val="29343A"/>
                </a:solidFill>
                <a:latin typeface="Calibri"/>
                <a:ea typeface="Calibri"/>
                <a:cs typeface="Calibri"/>
              </a:defRPr>
            </a:pPr>
            <a:r>
              <a:rPr sz="2100" b="1" i="0">
                <a:solidFill>
                  <a:srgbClr val="29343A"/>
                </a:solidFill>
                <a:latin typeface="Calibri"/>
                <a:ea typeface="Calibri"/>
                <a:cs typeface="Calibri"/>
              </a:rPr>
              <a:t>Source</a:t>
            </a:r>
          </a:p>
        </p:txBody>
      </p:sp>
      <p:sp>
        <p:nvSpPr>
          <p:cNvPr id="11" name="text-8jcrh0-10">
            <a:extLst xmlns:a="http://schemas.openxmlformats.org/drawingml/2006/main">
              <a:ext uri="{FF2B5EF4-FFF2-40B4-BE49-F238E27FC236}">
                <a16:creationId xmlns:a16="http://schemas.microsoft.com/office/drawing/2014/main" id="{412FFA5C-1EFF-4BD8-A340-373E375CF00F}"/>
              </a:ext>
            </a:extLst>
          </p:cNvPr>
          <p:cNvSpPr>
            <a:spLocks xmlns:a="http://schemas.openxmlformats.org/drawingml/2006/main" noGrp="1"/>
          </p:cNvSpPr>
          <p:nvPr/>
        </p:nvSpPr>
        <p:spPr>
          <a:xfrm xmlns:a="http://schemas.openxmlformats.org/drawingml/2006/main">
            <a:off x="3524250" y="4781550"/>
            <a:ext cx="794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i="0">
                <a:solidFill>
                  <a:srgbClr val="6F4F64"/>
                </a:solidFill>
                <a:latin typeface="Calibri"/>
                <a:ea typeface="Calibri"/>
                <a:cs typeface="Calibri"/>
              </a:defRPr>
            </a:defPPr>
          </a:lstStyle>
          <a:p xmlns:a="http://schemas.openxmlformats.org/drawingml/2006/main">
            <a:pPr algn="l">
              <a:lnSpc>
                <a:spcPct val="116000"/>
              </a:lnSpc>
              <a:buNone/>
              <a:defRPr sz="1950" b="0" i="0">
                <a:solidFill>
                  <a:srgbClr val="6F4F64"/>
                </a:solidFill>
                <a:latin typeface="Calibri"/>
                <a:ea typeface="Calibri"/>
                <a:cs typeface="Calibri"/>
              </a:defRPr>
            </a:pPr>
            <a:r>
              <a:rPr sz="1950" b="0" i="0">
                <a:solidFill>
                  <a:srgbClr val="6F4F64"/>
                </a:solidFill>
                <a:latin typeface="Calibri"/>
                <a:ea typeface="Calibri"/>
                <a:cs typeface="Calibri"/>
                <a:hlinkClick xmlns:r="http://schemas.openxmlformats.org/officeDocument/2006/relationships" r:id="R2de7135473bf49fc"/>
              </a:rPr>
              <a:t>github.com/yusufondes/Operations-Control-Tower</a:t>
            </a:r>
          </a:p>
        </p:txBody>
      </p:sp>
      <p:sp>
        <p:nvSpPr>
          <p:cNvPr id="12" name="text-8jcrh0-11">
            <a:extLst xmlns:a="http://schemas.openxmlformats.org/drawingml/2006/main">
              <a:ext uri="{FF2B5EF4-FFF2-40B4-BE49-F238E27FC236}">
                <a16:creationId xmlns:a16="http://schemas.microsoft.com/office/drawing/2014/main" id="{3C434D2F-E07B-4B05-A1DB-0764055BD071}"/>
              </a:ext>
            </a:extLst>
          </p:cNvPr>
          <p:cNvSpPr>
            <a:spLocks xmlns:a="http://schemas.openxmlformats.org/drawingml/2006/main" noGrp="1"/>
          </p:cNvSpPr>
          <p:nvPr/>
        </p:nvSpPr>
        <p:spPr>
          <a:xfrm xmlns:a="http://schemas.openxmlformats.org/drawingml/2006/main">
            <a:off x="723900" y="574357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i="0">
                <a:solidFill>
                  <a:srgbClr val="58636A"/>
                </a:solidFill>
                <a:latin typeface="Calibri"/>
                <a:ea typeface="Calibri"/>
                <a:cs typeface="Calibri"/>
              </a:defRPr>
            </a:defPPr>
          </a:lstStyle>
          <a:p xmlns:a="http://schemas.openxmlformats.org/drawingml/2006/main">
            <a:pPr algn="l">
              <a:lnSpc>
                <a:spcPct val="116000"/>
              </a:lnSpc>
              <a:buNone/>
              <a:defRPr sz="1650" b="0" i="0">
                <a:solidFill>
                  <a:srgbClr val="58636A"/>
                </a:solidFill>
                <a:latin typeface="Calibri"/>
                <a:ea typeface="Calibri"/>
                <a:cs typeface="Calibri"/>
              </a:defRPr>
            </a:pPr>
            <a:r>
              <a:rPr sz="1650" b="0" i="0">
                <a:solidFill>
                  <a:srgbClr val="58636A"/>
                </a:solidFill>
                <a:latin typeface="Calibri"/>
                <a:ea typeface="Calibri"/>
                <a:cs typeface="Calibri"/>
              </a:rPr>
              <a:t>Implementation, testing and review used AI assistance.</a:t>
            </a:r>
          </a:p>
          <a:p xmlns:a="http://schemas.openxmlformats.org/drawingml/2006/main">
            <a:pPr algn="l">
              <a:lnSpc>
                <a:spcPct val="116000"/>
              </a:lnSpc>
              <a:buNone/>
              <a:defRPr sz="1650" b="0" i="0">
                <a:solidFill>
                  <a:srgbClr val="58636A"/>
                </a:solidFill>
                <a:latin typeface="Calibri"/>
                <a:ea typeface="Calibri"/>
                <a:cs typeface="Calibri"/>
              </a:defRPr>
            </a:pPr>
            <a:r>
              <a:rPr sz="1650" b="0" i="0">
                <a:solidFill>
                  <a:srgbClr val="58636A"/>
                </a:solidFill>
                <a:latin typeface="Calibri"/>
                <a:ea typeface="Calibri"/>
                <a:cs typeface="Calibri"/>
              </a:rPr>
              <a:t>Synthetic local demonstration. No production deployment.</a:t>
            </a:r>
          </a:p>
        </p:txBody>
      </p:sp>
    </p:spTree>
    <p:extLst>
      <p:ext uri="{BB962C8B-B14F-4D97-AF65-F5344CB8AC3E}">
        <p14:creationId xmlns:p14="http://schemas.microsoft.com/office/powerpoint/2010/main" val="1466103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2026-10-15T22:21:39.4940000Z</dcterms:created>
  <dcterms:modified xsi:type="dcterms:W3CDTF">2026-10-15T22:21:39.4940000Z</dcterms:modified>
</coreProperties>
</file>