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9edca5c6084776" /><Relationship Type="http://schemas.openxmlformats.org/officeDocument/2006/relationships/extended-properties" Target="/docProps/app.xml" Id="Rfacfd77a52d54bf1" /><Relationship Type="http://schemas.openxmlformats.org/officeDocument/2006/relationships/officeDocument" Target="/ppt/presentation.xml" Id="Rb5a16abe64a24c3d" /></Relationships>
</file>

<file path=ppt/presentation.xml><?xml version="1.0" encoding="utf-8"?>
<p:presentation xmlns:p="http://schemas.openxmlformats.org/presentationml/2006/main">
  <p:sldMasterIdLst>
    <p:sldMasterId xmlns:r="http://schemas.openxmlformats.org/officeDocument/2006/relationships" id="2147483648" r:id="R31f48e639e054b50"/>
  </p:sldMasterIdLst>
  <p:notesMasterIdLst>
    <p:notesMasterId xmlns:r="http://schemas.openxmlformats.org/officeDocument/2006/relationships" r:id="R02c492a9e5614272"/>
  </p:notesMasterIdLst>
  <p:sldIdLst>
    <p:sldId xmlns:r="http://schemas.openxmlformats.org/officeDocument/2006/relationships" id="256" r:id="Rec8293195a2d416b"/>
    <p:sldId xmlns:r="http://schemas.openxmlformats.org/officeDocument/2006/relationships" id="257" r:id="R903902cbf06e4c3a"/>
    <p:sldId xmlns:r="http://schemas.openxmlformats.org/officeDocument/2006/relationships" id="258" r:id="R167ac55b3bfa4555"/>
    <p:sldId xmlns:r="http://schemas.openxmlformats.org/officeDocument/2006/relationships" id="259" r:id="R46a70dbf1fff497c"/>
    <p:sldId xmlns:r="http://schemas.openxmlformats.org/officeDocument/2006/relationships" id="260" r:id="Rc4da5ca905cf4aa8"/>
    <p:sldId xmlns:r="http://schemas.openxmlformats.org/officeDocument/2006/relationships" id="261" r:id="R7118ff7f8e4f4e64"/>
    <p:sldId xmlns:r="http://schemas.openxmlformats.org/officeDocument/2006/relationships" id="262" r:id="R0442d3cb8697471c"/>
    <p:sldId xmlns:r="http://schemas.openxmlformats.org/officeDocument/2006/relationships" id="263" r:id="Rcc7ed5ce103d4f1c"/>
    <p:sldId xmlns:r="http://schemas.openxmlformats.org/officeDocument/2006/relationships" id="264" r:id="R11f3980727e94467"/>
    <p:sldId xmlns:r="http://schemas.openxmlformats.org/officeDocument/2006/relationships" id="265" r:id="Rc890480ac9e2464b"/>
    <p:sldId xmlns:r="http://schemas.openxmlformats.org/officeDocument/2006/relationships" id="266" r:id="R7dca13037d3b44be"/>
    <p:sldId xmlns:r="http://schemas.openxmlformats.org/officeDocument/2006/relationships" id="267" r:id="R922e2e25b56d44de"/>
    <p:sldId xmlns:r="http://schemas.openxmlformats.org/officeDocument/2006/relationships" id="268" r:id="Rd072e937362a48ba"/>
    <p:sldId xmlns:r="http://schemas.openxmlformats.org/officeDocument/2006/relationships" id="269" r:id="R623e0487aeff40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9d0a9c13774ec1" /><Relationship Type="http://schemas.openxmlformats.org/officeDocument/2006/relationships/slideMaster" Target="/ppt/slideMasters/slideMaster1.xml" Id="R31f48e639e054b50" /><Relationship Type="http://schemas.openxmlformats.org/officeDocument/2006/relationships/notesMaster" Target="/ppt/notesMasters/notesMaster1.xml" Id="R02c492a9e5614272" /><Relationship Type="http://schemas.openxmlformats.org/officeDocument/2006/relationships/presProps" Target="/ppt/presProps.xml" Id="R133e01a92a694d31" /><Relationship Type="http://schemas.openxmlformats.org/officeDocument/2006/relationships/tableStyles" Target="/ppt/tableStyles.xml" Id="Raa52864963e64b4a" /><Relationship Type="http://schemas.openxmlformats.org/officeDocument/2006/relationships/slide" Target="/ppt/slides/slide1.xml" Id="Rec8293195a2d416b" /><Relationship Type="http://schemas.openxmlformats.org/officeDocument/2006/relationships/slide" Target="/ppt/slides/slide2.xml" Id="R903902cbf06e4c3a" /><Relationship Type="http://schemas.openxmlformats.org/officeDocument/2006/relationships/slide" Target="/ppt/slides/slide3.xml" Id="R167ac55b3bfa4555" /><Relationship Type="http://schemas.openxmlformats.org/officeDocument/2006/relationships/slide" Target="/ppt/slides/slide4.xml" Id="R46a70dbf1fff497c" /><Relationship Type="http://schemas.openxmlformats.org/officeDocument/2006/relationships/slide" Target="/ppt/slides/slide5.xml" Id="Rc4da5ca905cf4aa8" /><Relationship Type="http://schemas.openxmlformats.org/officeDocument/2006/relationships/slide" Target="/ppt/slides/slide6.xml" Id="R7118ff7f8e4f4e64" /><Relationship Type="http://schemas.openxmlformats.org/officeDocument/2006/relationships/slide" Target="/ppt/slides/slide7.xml" Id="R0442d3cb8697471c" /><Relationship Type="http://schemas.openxmlformats.org/officeDocument/2006/relationships/slide" Target="/ppt/slides/slide8.xml" Id="Rcc7ed5ce103d4f1c" /><Relationship Type="http://schemas.openxmlformats.org/officeDocument/2006/relationships/slide" Target="/ppt/slides/slide9.xml" Id="R11f3980727e94467" /><Relationship Type="http://schemas.openxmlformats.org/officeDocument/2006/relationships/slide" Target="/ppt/slides/slide10.xml" Id="Rc890480ac9e2464b" /><Relationship Type="http://schemas.openxmlformats.org/officeDocument/2006/relationships/slide" Target="/ppt/slides/slide11.xml" Id="R7dca13037d3b44be" /><Relationship Type="http://schemas.openxmlformats.org/officeDocument/2006/relationships/slide" Target="/ppt/slides/slide12.xml" Id="R922e2e25b56d44de" /><Relationship Type="http://schemas.openxmlformats.org/officeDocument/2006/relationships/slide" Target="/ppt/slides/slide13.xml" Id="Rd072e937362a48ba" /><Relationship Type="http://schemas.openxmlformats.org/officeDocument/2006/relationships/slide" Target="/ppt/slides/slide14.xml" Id="R623e0487aeff40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a342985ece4a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3c01e4eb4b4429" /><Relationship Type="http://schemas.openxmlformats.org/officeDocument/2006/relationships/notesMaster" Target="/ppt/notesMasters/notesMaster1.xml" Id="R88d8ebb3a97c43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09374b52544128" /><Relationship Type="http://schemas.openxmlformats.org/officeDocument/2006/relationships/notesMaster" Target="/ppt/notesMasters/notesMaster1.xml" Id="R2930bcc99d984b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31d520c2a64a13" /><Relationship Type="http://schemas.openxmlformats.org/officeDocument/2006/relationships/notesMaster" Target="/ppt/notesMasters/notesMaster1.xml" Id="R6ed89fb0fdce41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526894c0444a4e" /><Relationship Type="http://schemas.openxmlformats.org/officeDocument/2006/relationships/notesMaster" Target="/ppt/notesMasters/notesMaster1.xml" Id="R458a0cdf70ea47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f5e371b1da4846" /><Relationship Type="http://schemas.openxmlformats.org/officeDocument/2006/relationships/notesMaster" Target="/ppt/notesMasters/notesMaster1.xml" Id="R76e158e9d7514a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9440d93bf246bd" /><Relationship Type="http://schemas.openxmlformats.org/officeDocument/2006/relationships/notesMaster" Target="/ppt/notesMasters/notesMaster1.xml" Id="R951ca8e7ff454f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48e797d5fb4825" /><Relationship Type="http://schemas.openxmlformats.org/officeDocument/2006/relationships/notesMaster" Target="/ppt/notesMasters/notesMaster1.xml" Id="R5b856e5d67ff42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7fac33b39f4f96" /><Relationship Type="http://schemas.openxmlformats.org/officeDocument/2006/relationships/notesMaster" Target="/ppt/notesMasters/notesMaster1.xml" Id="Rdd1b706c00ff43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38c75dd8184845" /><Relationship Type="http://schemas.openxmlformats.org/officeDocument/2006/relationships/notesMaster" Target="/ppt/notesMasters/notesMaster1.xml" Id="Rba60895b09ab4c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eae92c20734425" /><Relationship Type="http://schemas.openxmlformats.org/officeDocument/2006/relationships/notesMaster" Target="/ppt/notesMasters/notesMaster1.xml" Id="R6d72aad0f5684b1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2e501577f94d81" /><Relationship Type="http://schemas.openxmlformats.org/officeDocument/2006/relationships/notesMaster" Target="/ppt/notesMasters/notesMaster1.xml" Id="R4730fb303c5049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3896f98057242c5" /><Relationship Type="http://schemas.openxmlformats.org/officeDocument/2006/relationships/notesMaster" Target="/ppt/notesMasters/notesMaster1.xml" Id="Rb5e5988c21c346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31c502731554813" /><Relationship Type="http://schemas.openxmlformats.org/officeDocument/2006/relationships/notesMaster" Target="/ppt/notesMasters/notesMaster1.xml" Id="R1d25161131ba41f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6443c43fe734c6a" /><Relationship Type="http://schemas.openxmlformats.org/officeDocument/2006/relationships/notesMaster" Target="/ppt/notesMasters/notesMaster1.xml" Id="R4964845179814b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HALY is a fictional powdered-drink manufacturer. This portfolio demonstrates a realistic campaign-fulfilment problem with synthetic data. The project connects accepted dispatch promises to stock allocation, controlled shipments and accountable exceptions. The source repository is on GitHub. This is a local portfolio demonstration with no production client implementation. The cover is an AI-generated representative concept image, not a photograph of an actual HALY company or facility.</a:t>
            </a:r>
          </a:p>
          <a:p xmlns:a="http://schemas.openxmlformats.org/drawingml/2006/main">
            <a:r>
              <a:t/>
            </a:r>
          </a:p>
          <a:p xmlns:a="http://schemas.openxmlformats.org/drawingml/2006/main">
            <a:r>
              <a:t>Sources: Repository: docs/DEMO.md; docs/TASKS.md, TASK-0007; docs/evidence/task-0007/README.md. Presentation design reference: https://support.microsoft.com/en-us/powerpoint/tips-for-creating-and-delivering-an-effective-presentation and https://support.microsoft.com/en-us/powerpoint/combining-colors-in-powerpoint-mistakes-to-avoid Cover asset: docs/portfolio/assets/haly-cover-concept.png. Generated with the built-in image tool on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synthetic campaign starts with 900 units of demand and 500 finished units on hand. HALY closes the remaining 400-unit gap through its own manufacturing process rather than buying finished products. Two suppliers provide raw materials. These values describe the validated end-to-end scenario, not a real sales forecast or measured company result.</a:t>
            </a:r>
          </a:p>
          <a:p xmlns:a="http://schemas.openxmlformats.org/drawingml/2006/main">
            <a:r>
              <a:t/>
            </a:r>
          </a:p>
          <a:p xmlns:a="http://schemas.openxmlformats.org/drawingml/2006/main">
            <a:r>
              <a:t>Sources: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business workflow. Physical work does not happen automatically. Sales establishes the accepted warehouse dispatch commitment. The campaign addon allocates eligible stock under the approved policy. Procurement and manufacturing users record input receipts and completed production. Warehouse users prepare and validate shipments. All operations in this demonstration use synthetic records. Derived risk information supports coordinated follow-up.</a:t>
            </a:r>
          </a:p>
          <a:p xmlns:a="http://schemas.openxmlformats.org/drawingml/2006/main">
            <a:r>
              <a:t/>
            </a:r>
          </a:p>
          <a:p xmlns:a="http://schemas.openxmlformats.org/drawingml/2006/main">
            <a:r>
              <a:t>Sources: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allocation is A 200, B 300, C 0. The first accepted dispatch date receives stock first. For equal dates, earlier confirmation wins. Stable order ID breaks an exact tie. An incomplete individual order retains its eligible allocated stock but cannot ship until complete. These are illustrative warehouse-dispatch dates, not delivery dates or a promised universal service level. Arithmetic: 200+600+100=900 ordered and 200+300+0=500 initially allocated.</a:t>
            </a:r>
          </a:p>
          <a:p xmlns:a="http://schemas.openxmlformats.org/drawingml/2006/main">
            <a:r>
              <a:t/>
            </a:r>
          </a:p>
          <a:p xmlns:a="http://schemas.openxmlformats.org/drawingml/2006/main">
            <a:r>
              <a:t>Sources: docs/DEMO.md, Campaign walkthrough table; docs/DECISIONS.md, D-015;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 synthetic browser capture shows order B with original 16 December and current 14 December after a coordinator records acceptance. The original promise remains visible and response history identifies the applied change. A pending proposal, rejection, stale response or internal estimate does not move priority. Acceptance of the latest valid proposal updates the promise and can reprioritize stock not yet prepared. Staff record responses manually. The application does not authenticate customer consent or contact the customer. On rejection the existing promise and its risk remain visible, with an operational next action. The screenshot crop does not alter the source image.</a:t>
            </a:r>
          </a:p>
          <a:p xmlns:a="http://schemas.openxmlformats.org/drawingml/2006/main">
            <a:r>
              <a:t/>
            </a:r>
          </a:p>
          <a:p xmlns:a="http://schemas.openxmlformats.org/drawingml/2006/main">
            <a:r>
              <a:t>Sources: docs/evidence/task-0007/04-accepted-date-history.png; docs/DECISIONS.md, D-011, D-012, D-015;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later browser state, not the initial 200/300/0 allocation. B has an accepted date of 14 December and now receives all 500 eligible unprepared units against 600 demand. It wins because its promise is earlier, not because it is corporate. The application preserves prepared moves and outside reservations. It refuses unsupported or unmanaged competition rather than taking stock silently. A partly prepared short individual order needs warehouse unprepare/recheck before extra allocation.</a:t>
            </a:r>
          </a:p>
          <a:p xmlns:a="http://schemas.openxmlformats.org/drawingml/2006/main">
            <a:r>
              <a:t/>
            </a:r>
          </a:p>
          <a:p xmlns:a="http://schemas.openxmlformats.org/drawingml/2006/main">
            <a:r>
              <a:t>Sources: docs/evidence/task-0007/05-accepted-priority-reserves-500.png;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screenshot shows an actual refused synthetic consumer shipment. Demand is 200 and the entered quantity is 100. Every physical line of the supported individual order must ship completely in one picking. Allocated stock can remain reserved while the order waits for completion. This is a policy-specific control within the configured one-step, untracked-goods scope.</a:t>
            </a:r>
          </a:p>
          <a:p xmlns:a="http://schemas.openxmlformats.org/drawingml/2006/main">
            <a:r>
              <a:t/>
            </a:r>
          </a:p>
          <a:p xmlns:a="http://schemas.openxmlformats.org/drawingml/2006/main">
            <a:r>
              <a:t>Sources: docs/evidence/task-0007/02-consumer-partial-blocked.png;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browser capture shows a 300-unit corporate shipment completed. The right capture shows the retained 300-unit backorder, with 200 currently available/reserved. The remaining demand does not disappear when a batch leaves. This browser path later shipped 100 and 50 in separate checks; it is not the end-to-end 300/200/100 manufacturing scenario shown later. No real shipment occurred.</a:t>
            </a:r>
          </a:p>
          <a:p xmlns:a="http://schemas.openxmlformats.org/drawingml/2006/main">
            <a:r>
              <a:t/>
            </a:r>
          </a:p>
          <a:p xmlns:a="http://schemas.openxmlformats.org/drawingml/2006/main">
            <a:r>
              <a:t>Sources: docs/evidence/task-0007/06-corporate-300-dispatched.png; docs/evidence/task-0007/07-corporate-backorder-preserved.png;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the validated automated purchase/manufacturing/dispatch scenario. Two 400-unit raw-material POs supply two inputs. Their 800 raw units are not 800 finished units. The bill of materials and one 400-unit manufacturing order produce 400 finished goods, which combine with 500 opening finished units. Procurement, receipt and production are recorded standard Odoo actions. The separate browser preview has no raw-material or manufacturing fixture.</a:t>
            </a:r>
          </a:p>
          <a:p xmlns:a="http://schemas.openxmlformats.org/drawingml/2006/main">
            <a:r>
              <a:t/>
            </a:r>
          </a:p>
          <a:p xmlns:a="http://schemas.openxmlformats.org/drawingml/2006/main">
            <a:r>
              <a:t>Sources: scripts/validate_campaign.py; docs/evidence/task-0007/README.md;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capture shows a campaign shortage linked to the source order, with a coordinator, Blocked state and a next action. Separate runtime cases test supplier delay, one linked risk item and repeated updates without duplicates. Supply-risk dates use a one-level input/production signal, not exact order pegging or a guaranteed feasible date. A card/status does not imply physical shipment or customer contact.</a:t>
            </a:r>
          </a:p>
          <a:p xmlns:a="http://schemas.openxmlformats.org/drawingml/2006/main">
            <a:r>
              <a:t/>
            </a:r>
          </a:p>
          <a:p xmlns:a="http://schemas.openxmlformats.org/drawingml/2006/main">
            <a:r>
              <a:t>Sources: docs/evidence/task-0007/03-owned-risk-item.png; Repository: docs/DEMO.md; docs/TASKS.md, TASK-0007;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final-source browser capture demonstrates the repaired preparation guard. The application refuses a saved prepared quantity above the move allocation and asks the operator to reconcile availability. Independent review found two bypasses during development. Both were reproduced, repaired and retested. The final supported guards cover saved move/raw-line preparation and nested commands; they are not a claim that a privileged administrator cannot change any ERP data.</a:t>
            </a:r>
          </a:p>
          <a:p xmlns:a="http://schemas.openxmlformats.org/drawingml/2006/main">
            <a:r>
              <a:t/>
            </a:r>
          </a:p>
          <a:p xmlns:a="http://schemas.openxmlformats.org/drawingml/2006/main">
            <a:r>
              <a:t>Sources: docs/evidence/task-0007/12-final-preparation-guard.png; docs/TASKS.md, TASK-0007 repair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local campaign probe passes the 500+400=900 arithmetic. A ships 200 completely, B ships 600 in 300/200/100 batches, C ships 100 completely. Final main finished-goods stock is 0. Seven final probe quants remain nonnegative and not over-reserved. These are synthetic test outcomes, not measured performance of a real operation. The browser screenshots depict a separate partial-shipment walkthrough.</a:t>
            </a:r>
          </a:p>
          <a:p xmlns:a="http://schemas.openxmlformats.org/drawingml/2006/main">
            <a:r>
              <a:t/>
            </a:r>
          </a:p>
          <a:p xmlns:a="http://schemas.openxmlformats.org/drawingml/2006/main">
            <a:r>
              <a:t>Sources: scripts/validate_campaign.py;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Yusuf owns the project and approved its business rules. The work includes requirement clarification, standard-flow assessment, focused extensions, synthetic scenarios, negative/concurrency checks and review-driven repairs. AI-assisted implementation and a separate agent review supported this work. Local validation on 15 October 2026 passed 81 test methods with zero failures and zero errors: 8 base, 22 promise and 51 campaign methods. A separate campaign probe passed 11 cases. These historical local results are separate from GitHub CI and business performance KPIs. No time-saving, ROI or delivery-rate improvement has been measured. Date history makes commitments visible, priority controls stock decisions, shipment guards enforce customer policy and a linked risk item assigns follow-up. Supported scope is one-step make-to-stock with configured untracked goods. Staff record customer responses and physical work. Capacity planning, carrier/WMS integration, formal quality release, authenticated consent and production hosting are not delivered. Future options are proposals, not approved commitments.</a:t>
            </a:r>
          </a:p>
          <a:p xmlns:a="http://schemas.openxmlformats.org/drawingml/2006/main">
            <a:r>
              <a:t/>
            </a:r>
          </a:p>
          <a:p xmlns:a="http://schemas.openxmlformats.org/drawingml/2006/main">
            <a:r>
              <a:t>Sources: docs/TASKS.md, TASK-0003 through TASK-0010; docs/ARCHITECTURE.md; docs/DECISIONS.md; docs/evidence/task-0007/README.md.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repository: https://github.com/yusufondes/Operations-Control-Tower . No installation is needed to understand this deck. The source uses Odoo 19 Community, Python, PostgreSQL 15, Docker, XML/CSV and PowerShell. Git and GitHub preserve the project history. Development was AI-assisted with Codex and a separate agent review. Local validation on 15 October 2026 passed 81 custom-addon test methods and 11 separate campaign probe cases. GitHub CI covers repository checks and the eight base-addon test methods. The optional promise and campaign suites use a separate local validation runner. This deck does not claim full campaign coverage in remote CI. The repository README and Actions page provide current build status. No production deployment or automated customer messaging exists.</a:t>
            </a:r>
          </a:p>
          <a:p xmlns:a="http://schemas.openxmlformats.org/drawingml/2006/main">
            <a:r>
              <a:t/>
            </a:r>
          </a:p>
          <a:p xmlns:a="http://schemas.openxmlformats.org/drawingml/2006/main">
            <a:r>
              <a:t>Sources: README.md; compose.yaml; .github/workflows/ci.yml; docs/TASKS.md, TASK-0010 and TASK-0012. Repository: https://github.com/yusufondes/Operations-Control-Tower . Actions: https://github.com/yusufondes/Operations-Control-Tower/actions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462c913d7f42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ef47ff2f91844c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6d284d3a5da428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55297471b62412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f0cdf645fe940f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fd4d70ef6849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26B3F3-ADFF-4B47-8A7B-B59F53B728F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5EDEE5D-7E9C-4B36-A28C-C8861F3F20B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D69D710-0C2F-4456-864A-EDA1588D1F1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E47B7B-65CA-41FE-A13C-89E68788C0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B3B6325-7825-45E8-A5E8-8068195EB6C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E6F8D51-9A9D-401A-A83F-21F8C2F699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F53219-4877-4642-9817-9B5D675640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ADE9DA-C04F-46C8-BB0E-9BE7C674D9D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D01663-362A-4FC3-9411-8AC8F22284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8209F2-11D8-418E-A187-65265C002A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4705be28c24a84" /><Relationship Type="http://schemas.openxmlformats.org/officeDocument/2006/relationships/slideLayout" Target="/ppt/slideLayouts/slideLayout1.xml" Id="R1e542b72b0584347" /><Relationship Type="http://schemas.openxmlformats.org/officeDocument/2006/relationships/slideLayout" Target="/ppt/slideLayouts/slideLayout2.xml" Id="R4c814271394042ee" /><Relationship Type="http://schemas.openxmlformats.org/officeDocument/2006/relationships/slideLayout" Target="/ppt/slideLayouts/slideLayout3.xml" Id="Rc8b302b4045b4e8b" /><Relationship Type="http://schemas.openxmlformats.org/officeDocument/2006/relationships/slideLayout" Target="/ppt/slideLayouts/slideLayout4.xml" Id="R8bec7644eaef4796" /><Relationship Type="http://schemas.openxmlformats.org/officeDocument/2006/relationships/slideLayout" Target="/ppt/slideLayouts/slideLayout5.xml" Id="R9dc55bc8c52f4a0f" /><Relationship Type="http://schemas.openxmlformats.org/officeDocument/2006/relationships/slideLayout" Target="/ppt/slideLayouts/slideLayout6.xml" Id="R2c1cbfc525fb4e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542b72b0584347"/>
    <p:sldLayoutId xmlns:r="http://schemas.openxmlformats.org/officeDocument/2006/relationships" id="2147483650" r:id="R4c814271394042ee"/>
    <p:sldLayoutId xmlns:r="http://schemas.openxmlformats.org/officeDocument/2006/relationships" id="2147483651" r:id="Rc8b302b4045b4e8b"/>
    <p:sldLayoutId xmlns:r="http://schemas.openxmlformats.org/officeDocument/2006/relationships" id="2147483652" r:id="R8bec7644eaef4796"/>
    <p:sldLayoutId xmlns:r="http://schemas.openxmlformats.org/officeDocument/2006/relationships" id="2147483653" r:id="R9dc55bc8c52f4a0f"/>
    <p:sldLayoutId xmlns:r="http://schemas.openxmlformats.org/officeDocument/2006/relationships" id="2147483654" r:id="R2c1cbfc525fb4e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3a50705eba747c3" /><Relationship Type="http://schemas.openxmlformats.org/officeDocument/2006/relationships/image" Target="/ppt/media/image.png" Id="Rab0d2b16fb7b4724" /><Relationship Type="http://schemas.openxmlformats.org/officeDocument/2006/relationships/notesSlide" Target="/ppt/notesSlides/notesSlide1.xml" Id="R85b9de64ba6445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ee24599f3a14216" /><Relationship Type="http://schemas.openxmlformats.org/officeDocument/2006/relationships/notesSlide" Target="/ppt/notesSlides/notesSlide2.xml" Id="R7dda298445f344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e7d3b1aa758432b" /><Relationship Type="http://schemas.openxmlformats.org/officeDocument/2006/relationships/notesSlide" Target="/ppt/notesSlides/notesSlide3.xml" Id="R7cf6e7227d3d40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081c35355d44876" /><Relationship Type="http://schemas.openxmlformats.org/officeDocument/2006/relationships/notesSlide" Target="/ppt/notesSlides/notesSlide4.xml" Id="Rdd693d76750947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83d94f8094e4ad8" /><Relationship Type="http://schemas.openxmlformats.org/officeDocument/2006/relationships/image" Target="/ppt/media/image.jpeg" Id="Rf96d900930f642bd" /><Relationship Type="http://schemas.openxmlformats.org/officeDocument/2006/relationships/notesSlide" Target="/ppt/notesSlides/notesSlide5.xml" Id="R4f8e2d33ad6b4d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026306859664099" /><Relationship Type="http://schemas.openxmlformats.org/officeDocument/2006/relationships/image" Target="/ppt/media/image2.jpeg" Id="R29ce4f58326f4cc6" /><Relationship Type="http://schemas.openxmlformats.org/officeDocument/2006/relationships/notesSlide" Target="/ppt/notesSlides/notesSlide6.xml" Id="R72ece54a144d4c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e4c20ba1c9946ae" /><Relationship Type="http://schemas.openxmlformats.org/officeDocument/2006/relationships/image" Target="/ppt/media/image3.jpeg" Id="R6f11b432719745cd" /><Relationship Type="http://schemas.openxmlformats.org/officeDocument/2006/relationships/notesSlide" Target="/ppt/notesSlides/notesSlide7.xml" Id="R200be972de5946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8bb85cf6b65406c" /><Relationship Type="http://schemas.openxmlformats.org/officeDocument/2006/relationships/image" Target="/ppt/media/image4.jpeg" Id="R7442f90ec8784eb1" /><Relationship Type="http://schemas.openxmlformats.org/officeDocument/2006/relationships/image" Target="/ppt/media/image5.jpeg" Id="R51e19d87aee04092" /><Relationship Type="http://schemas.openxmlformats.org/officeDocument/2006/relationships/notesSlide" Target="/ppt/notesSlides/notesSlide8.xml" Id="Rc23ca582b57c42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9d70acde4534147" /><Relationship Type="http://schemas.openxmlformats.org/officeDocument/2006/relationships/notesSlide" Target="/ppt/notesSlides/notesSlide9.xml" Id="R1f94274055cc48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03a747354eb4a06" /><Relationship Type="http://schemas.openxmlformats.org/officeDocument/2006/relationships/image" Target="/ppt/media/image6.jpeg" Id="R6fdfb3986cce408e" /><Relationship Type="http://schemas.openxmlformats.org/officeDocument/2006/relationships/notesSlide" Target="/ppt/notesSlides/notesSlide10.xml" Id="Rf074a184273d4e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905c4f6657b4856" /><Relationship Type="http://schemas.openxmlformats.org/officeDocument/2006/relationships/image" Target="/ppt/media/image7.jpeg" Id="Rdf900850b2ae424e" /><Relationship Type="http://schemas.openxmlformats.org/officeDocument/2006/relationships/notesSlide" Target="/ppt/notesSlides/notesSlide11.xml" Id="R5dc79b5d895c41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8407b2d79014a31" /><Relationship Type="http://schemas.openxmlformats.org/officeDocument/2006/relationships/notesSlide" Target="/ppt/notesSlides/notesSlide12.xml" Id="R8219c5c13405456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55b0d916a5d4953" /><Relationship Type="http://schemas.openxmlformats.org/officeDocument/2006/relationships/notesSlide" Target="/ppt/notesSlides/notesSlide13.xml" Id="Rdb922c738923476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090b1ac759c4d6f" /><Relationship Type="http://schemas.openxmlformats.org/officeDocument/2006/relationships/hyperlink" Target="https://github.com/yusufondes/Operations-Control-Tower" TargetMode="External" Id="R36e8946e84964a5d" /><Relationship Type="http://schemas.openxmlformats.org/officeDocument/2006/relationships/notesSlide" Target="/ppt/notesSlides/notesSlide14.xml" Id="Raa07390b3bd146a9" /></Relationships>
</file>

<file path=ppt/slides/slide1.xml><?xml version="1.0" encoding="utf-8"?>
<p:sld xmlns:p="http://schemas.openxmlformats.org/presentationml/2006/main">
  <p:cSld>
    <p:bg>
      <p:bgPr>
        <a:solidFill xmlns:a="http://schemas.openxmlformats.org/drawingml/2006/main">
          <a:srgbClr val="102A3A"/>
        </a:solidFill>
      </p:bgPr>
    </p:bg>
    <p:spTree>
      <p:nvGrpSpPr>
        <p:cNvPr id="1" name=""/>
        <p:cNvGrpSpPr/>
        <p:nvPr/>
      </p:nvGrpSpPr>
      <p:grpSpPr>
        <a:xfrm xmlns:a="http://schemas.openxmlformats.org/drawingml/2006/main"/>
      </p:grpSpPr>
      <p:sp>
        <p:nvSpPr>
          <p:cNvPr id="8" name="text-ensct8-0">
            <a:extLst xmlns:a="http://schemas.openxmlformats.org/drawingml/2006/main">
              <a:ext uri="{FF2B5EF4-FFF2-40B4-BE49-F238E27FC236}">
                <a16:creationId xmlns:a16="http://schemas.microsoft.com/office/drawing/2014/main" id="{D1A6A940-7905-4FB6-98B7-1B321C41AF97}"/>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AD4D2"/>
                </a:solidFill>
                <a:latin typeface="Arial"/>
                <a:ea typeface="Arial"/>
                <a:cs typeface="Arial"/>
              </a:defRPr>
            </a:defPPr>
          </a:lstStyle>
          <a:p xmlns:a="http://schemas.openxmlformats.org/drawingml/2006/main">
            <a:pPr algn="l">
              <a:defRPr sz="1275" b="0">
                <a:solidFill>
                  <a:srgbClr val="BAD4D2"/>
                </a:solidFill>
                <a:latin typeface="Arial"/>
                <a:ea typeface="Arial"/>
                <a:cs typeface="Arial"/>
              </a:defRPr>
            </a:pPr>
            <a:r>
              <a:rPr sz="1275" b="0">
                <a:solidFill>
                  <a:srgbClr val="BAD4D2"/>
                </a:solidFill>
                <a:latin typeface="Arial"/>
                <a:ea typeface="Arial"/>
                <a:cs typeface="Arial"/>
              </a:rPr>
              <a:t>HALY synthetic portfolio case study</a:t>
            </a:r>
          </a:p>
        </p:txBody>
      </p:sp>
      <p:sp>
        <p:nvSpPr>
          <p:cNvPr id="2" name="text-ensct8-1">
            <a:extLst xmlns:a="http://schemas.openxmlformats.org/drawingml/2006/main">
              <a:ext uri="{FF2B5EF4-FFF2-40B4-BE49-F238E27FC236}">
                <a16:creationId xmlns:a16="http://schemas.microsoft.com/office/drawing/2014/main" id="{FF851886-2B22-458B-B62E-97CE03AEBD00}"/>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BAD4D2"/>
                </a:solidFill>
                <a:latin typeface="Arial"/>
                <a:ea typeface="Arial"/>
                <a:cs typeface="Arial"/>
              </a:defRPr>
            </a:defPPr>
          </a:lstStyle>
          <a:p xmlns:a="http://schemas.openxmlformats.org/drawingml/2006/main">
            <a:pPr algn="r">
              <a:defRPr sz="1275" b="0">
                <a:solidFill>
                  <a:srgbClr val="BAD4D2"/>
                </a:solidFill>
                <a:latin typeface="Arial"/>
                <a:ea typeface="Arial"/>
                <a:cs typeface="Arial"/>
              </a:defRPr>
            </a:pPr>
            <a:r>
              <a:rPr sz="1275" b="0">
                <a:solidFill>
                  <a:srgbClr val="BAD4D2"/>
                </a:solidFill>
                <a:latin typeface="Arial"/>
                <a:ea typeface="Arial"/>
                <a:cs typeface="Arial"/>
              </a:rPr>
              <a:t>01 / 14</a:t>
            </a:r>
          </a:p>
        </p:txBody>
      </p:sp>
      <p:pic>
        <p:nvPicPr>
          <p:cNvPr id="3" name="">
            <a:extLst xmlns:a="http://schemas.openxmlformats.org/drawingml/2006/main">
              <a:ext uri="{FF2B5EF4-FFF2-40B4-BE49-F238E27FC236}">
                <a16:creationId xmlns:a16="http://schemas.microsoft.com/office/drawing/2014/main" id="{FF4AE0F4-1903-4F72-928E-929FD5F54582}"/>
              </a:ext>
            </a:extLst>
          </p:cNvPr>
          <p:cNvPicPr>
            <a:picLocks xmlns:a="http://schemas.openxmlformats.org/drawingml/2006/main" noChangeAspect="1"/>
          </p:cNvPicPr>
          <p:nvPr/>
        </p:nvPicPr>
        <p:blipFill>
          <a:blip xmlns:r="http://schemas.openxmlformats.org/officeDocument/2006/relationships" xmlns:a="http://schemas.openxmlformats.org/drawingml/2006/main" r:embed="Rab0d2b16fb7b4724"/>
          <a:stretch xmlns:a="http://schemas.openxmlformats.org/drawingml/2006/main"/>
        </p:blipFill>
        <p:spPr>
          <a:xfrm xmlns:a="http://schemas.openxmlformats.org/drawingml/2006/main">
            <a:off x="6048375" y="1700187"/>
            <a:ext cx="6143625" cy="3457626"/>
          </a:xfrm>
          <a:prstGeom xmlns:a="http://schemas.openxmlformats.org/drawingml/2006/main" prst="rect">
            <a:avLst/>
          </a:prstGeom>
        </p:spPr>
      </p:pic>
      <p:sp>
        <p:nvSpPr>
          <p:cNvPr id="4" name="text-ensct8-2">
            <a:extLst xmlns:a="http://schemas.openxmlformats.org/drawingml/2006/main">
              <a:ext uri="{FF2B5EF4-FFF2-40B4-BE49-F238E27FC236}">
                <a16:creationId xmlns:a16="http://schemas.microsoft.com/office/drawing/2014/main" id="{E62D0F9B-12EF-4B57-8F93-421D4F30D5F3}"/>
              </a:ext>
            </a:extLst>
          </p:cNvPr>
          <p:cNvSpPr>
            <a:spLocks xmlns:a="http://schemas.openxmlformats.org/drawingml/2006/main" noGrp="1"/>
          </p:cNvSpPr>
          <p:nvPr/>
        </p:nvSpPr>
        <p:spPr>
          <a:xfrm xmlns:a="http://schemas.openxmlformats.org/drawingml/2006/main">
            <a:off x="609600" y="1600200"/>
            <a:ext cx="5238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FFFFFF"/>
                </a:solidFill>
                <a:latin typeface="Arial"/>
                <a:ea typeface="Arial"/>
                <a:cs typeface="Arial"/>
              </a:defRPr>
            </a:defPPr>
          </a:lstStyle>
          <a:p xmlns:a="http://schemas.openxmlformats.org/drawingml/2006/main">
            <a:pPr algn="l">
              <a:defRPr sz="5250" b="1">
                <a:solidFill>
                  <a:srgbClr val="FFFFFF"/>
                </a:solidFill>
                <a:latin typeface="Arial"/>
                <a:ea typeface="Arial"/>
                <a:cs typeface="Arial"/>
              </a:defRPr>
            </a:pPr>
            <a:r>
              <a:rPr sz="5250" b="1">
                <a:solidFill>
                  <a:srgbClr val="FFFFFF"/>
                </a:solidFill>
                <a:latin typeface="Arial"/>
                <a:ea typeface="Arial"/>
                <a:cs typeface="Arial"/>
              </a:rPr>
              <a:t>Operations</a:t>
            </a:r>
          </a:p>
          <a:p xmlns:a="http://schemas.openxmlformats.org/drawingml/2006/main">
            <a:pPr algn="l">
              <a:defRPr sz="5250" b="1">
                <a:solidFill>
                  <a:srgbClr val="FFFFFF"/>
                </a:solidFill>
                <a:latin typeface="Arial"/>
                <a:ea typeface="Arial"/>
                <a:cs typeface="Arial"/>
              </a:defRPr>
            </a:pPr>
            <a:r>
              <a:rPr sz="5250" b="1">
                <a:solidFill>
                  <a:srgbClr val="FFFFFF"/>
                </a:solidFill>
                <a:latin typeface="Arial"/>
                <a:ea typeface="Arial"/>
                <a:cs typeface="Arial"/>
              </a:rPr>
              <a:t>Control Tower</a:t>
            </a:r>
          </a:p>
        </p:txBody>
      </p:sp>
      <p:sp>
        <p:nvSpPr>
          <p:cNvPr id="5" name="text-ensct8-3">
            <a:extLst xmlns:a="http://schemas.openxmlformats.org/drawingml/2006/main">
              <a:ext uri="{FF2B5EF4-FFF2-40B4-BE49-F238E27FC236}">
                <a16:creationId xmlns:a16="http://schemas.microsoft.com/office/drawing/2014/main" id="{64BA7062-EE57-47DC-A616-1FF34C5941EE}"/>
              </a:ext>
            </a:extLst>
          </p:cNvPr>
          <p:cNvSpPr>
            <a:spLocks xmlns:a="http://schemas.openxmlformats.org/drawingml/2006/main" noGrp="1"/>
          </p:cNvSpPr>
          <p:nvPr/>
        </p:nvSpPr>
        <p:spPr>
          <a:xfrm xmlns:a="http://schemas.openxmlformats.org/drawingml/2006/main">
            <a:off x="638175" y="3752850"/>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4E6E2"/>
                </a:solidFill>
                <a:latin typeface="Arial"/>
                <a:ea typeface="Arial"/>
                <a:cs typeface="Arial"/>
              </a:defRPr>
            </a:defPPr>
          </a:lstStyle>
          <a:p xmlns:a="http://schemas.openxmlformats.org/drawingml/2006/main">
            <a:pPr algn="l">
              <a:defRPr sz="2100" b="0">
                <a:solidFill>
                  <a:srgbClr val="D4E6E2"/>
                </a:solidFill>
                <a:latin typeface="Arial"/>
                <a:ea typeface="Arial"/>
                <a:cs typeface="Arial"/>
              </a:defRPr>
            </a:pPr>
            <a:r>
              <a:rPr sz="2100" b="0">
                <a:solidFill>
                  <a:srgbClr val="D4E6E2"/>
                </a:solidFill>
                <a:latin typeface="Arial"/>
                <a:ea typeface="Arial"/>
                <a:cs typeface="Arial"/>
              </a:rPr>
              <a:t>HALY seasonal campaign fulfilment</a:t>
            </a:r>
          </a:p>
          <a:p xmlns:a="http://schemas.openxmlformats.org/drawingml/2006/main">
            <a:pPr algn="l">
              <a:defRPr sz="2100" b="0">
                <a:solidFill>
                  <a:srgbClr val="D4E6E2"/>
                </a:solidFill>
                <a:latin typeface="Arial"/>
                <a:ea typeface="Arial"/>
                <a:cs typeface="Arial"/>
              </a:defRPr>
            </a:pPr>
            <a:r>
              <a:rPr sz="2100" b="0">
                <a:solidFill>
                  <a:srgbClr val="D4E6E2"/>
                </a:solidFill>
                <a:latin typeface="Arial"/>
                <a:ea typeface="Arial"/>
                <a:cs typeface="Arial"/>
              </a:rPr>
              <a:t>Business case study</a:t>
            </a:r>
          </a:p>
        </p:txBody>
      </p:sp>
      <p:sp>
        <p:nvSpPr>
          <p:cNvPr id="6" name="text-ensct8-4">
            <a:extLst xmlns:a="http://schemas.openxmlformats.org/drawingml/2006/main">
              <a:ext uri="{FF2B5EF4-FFF2-40B4-BE49-F238E27FC236}">
                <a16:creationId xmlns:a16="http://schemas.microsoft.com/office/drawing/2014/main" id="{90C15268-D0EF-42FA-97C6-703C76D5245A}"/>
              </a:ext>
            </a:extLst>
          </p:cNvPr>
          <p:cNvSpPr>
            <a:spLocks xmlns:a="http://schemas.openxmlformats.org/drawingml/2006/main" noGrp="1"/>
          </p:cNvSpPr>
          <p:nvPr/>
        </p:nvSpPr>
        <p:spPr>
          <a:xfrm xmlns:a="http://schemas.openxmlformats.org/drawingml/2006/main">
            <a:off x="638175" y="52578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rial"/>
                <a:ea typeface="Arial"/>
                <a:cs typeface="Arial"/>
              </a:defRPr>
            </a:def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Yusuf Ondes</a:t>
            </a:r>
          </a:p>
        </p:txBody>
      </p:sp>
      <p:sp>
        <p:nvSpPr>
          <p:cNvPr id="7" name="text-ensct8-5">
            <a:extLst xmlns:a="http://schemas.openxmlformats.org/drawingml/2006/main">
              <a:ext uri="{FF2B5EF4-FFF2-40B4-BE49-F238E27FC236}">
                <a16:creationId xmlns:a16="http://schemas.microsoft.com/office/drawing/2014/main" id="{6514E58C-F28E-4F8D-B25F-0578FF5C1666}"/>
              </a:ext>
            </a:extLst>
          </p:cNvPr>
          <p:cNvSpPr>
            <a:spLocks xmlns:a="http://schemas.openxmlformats.org/drawingml/2006/main" noGrp="1"/>
          </p:cNvSpPr>
          <p:nvPr/>
        </p:nvSpPr>
        <p:spPr>
          <a:xfrm xmlns:a="http://schemas.openxmlformats.org/drawingml/2006/main">
            <a:off x="638175" y="5715000"/>
            <a:ext cx="5000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BAD4D2"/>
                </a:solidFill>
                <a:latin typeface="Arial"/>
                <a:ea typeface="Arial"/>
                <a:cs typeface="Arial"/>
              </a:defRPr>
            </a:defPPr>
          </a:lstStyle>
          <a:p xmlns:a="http://schemas.openxmlformats.org/drawingml/2006/main">
            <a:pPr algn="l">
              <a:defRPr sz="1575" b="0">
                <a:solidFill>
                  <a:srgbClr val="BAD4D2"/>
                </a:solidFill>
                <a:latin typeface="Arial"/>
                <a:ea typeface="Arial"/>
                <a:cs typeface="Arial"/>
              </a:defRPr>
            </a:pPr>
            <a:r>
              <a:rPr sz="1575" b="0">
                <a:solidFill>
                  <a:srgbClr val="BAD4D2"/>
                </a:solidFill>
                <a:latin typeface="Arial"/>
                <a:ea typeface="Arial"/>
                <a:cs typeface="Arial"/>
              </a:rPr>
              <a:t>Fictional company. Synthetic business data.</a:t>
            </a:r>
          </a:p>
        </p:txBody>
      </p:sp>
    </p:spTree>
    <p:extLst>
      <p:ext uri="{BB962C8B-B14F-4D97-AF65-F5344CB8AC3E}">
        <p14:creationId xmlns:p14="http://schemas.microsoft.com/office/powerpoint/2010/main" val="880873286"/>
      </p:ext>
    </p:extLst>
  </p:cSld>
</p:sld>
</file>

<file path=ppt/slides/slide2.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13" name="text-0jql32-0">
            <a:extLst xmlns:a="http://schemas.openxmlformats.org/drawingml/2006/main">
              <a:ext uri="{FF2B5EF4-FFF2-40B4-BE49-F238E27FC236}">
                <a16:creationId xmlns:a16="http://schemas.microsoft.com/office/drawing/2014/main" id="{591601AB-1ABB-4553-B807-95F1B4397B89}"/>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The campaign stock gap</a:t>
            </a:r>
          </a:p>
        </p:txBody>
      </p:sp>
      <p:sp>
        <p:nvSpPr>
          <p:cNvPr id="2" name="text-0jql32-1">
            <a:extLst xmlns:a="http://schemas.openxmlformats.org/drawingml/2006/main">
              <a:ext uri="{FF2B5EF4-FFF2-40B4-BE49-F238E27FC236}">
                <a16:creationId xmlns:a16="http://schemas.microsoft.com/office/drawing/2014/main" id="{5072EF16-9974-476B-809B-F97C8D24BAE9}"/>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HALY makes powdered drinks using inputs from two suppliers.</a:t>
            </a:r>
          </a:p>
        </p:txBody>
      </p:sp>
      <p:sp>
        <p:nvSpPr>
          <p:cNvPr id="3" name="text-0jql32-2">
            <a:extLst xmlns:a="http://schemas.openxmlformats.org/drawingml/2006/main">
              <a:ext uri="{FF2B5EF4-FFF2-40B4-BE49-F238E27FC236}">
                <a16:creationId xmlns:a16="http://schemas.microsoft.com/office/drawing/2014/main" id="{A506D92D-9600-4388-AE14-766B0D5A5487}"/>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0jql32-3">
            <a:extLst xmlns:a="http://schemas.openxmlformats.org/drawingml/2006/main">
              <a:ext uri="{FF2B5EF4-FFF2-40B4-BE49-F238E27FC236}">
                <a16:creationId xmlns:a16="http://schemas.microsoft.com/office/drawing/2014/main" id="{9F70C671-00F5-4C61-A1E7-F55F3E5DD734}"/>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02 / 14</a:t>
            </a:r>
          </a:p>
        </p:txBody>
      </p:sp>
      <p:sp>
        <p:nvSpPr>
          <p:cNvPr id="5" name="text-0jql32-4">
            <a:extLst xmlns:a="http://schemas.openxmlformats.org/drawingml/2006/main">
              <a:ext uri="{FF2B5EF4-FFF2-40B4-BE49-F238E27FC236}">
                <a16:creationId xmlns:a16="http://schemas.microsoft.com/office/drawing/2014/main" id="{03935928-4A73-45CC-907D-D9B9E8162020}"/>
              </a:ext>
            </a:extLst>
          </p:cNvPr>
          <p:cNvSpPr>
            <a:spLocks xmlns:a="http://schemas.openxmlformats.org/drawingml/2006/main" noGrp="1"/>
          </p:cNvSpPr>
          <p:nvPr/>
        </p:nvSpPr>
        <p:spPr>
          <a:xfrm xmlns:a="http://schemas.openxmlformats.org/drawingml/2006/main">
            <a:off x="609600" y="22669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102A3A"/>
                </a:solidFill>
                <a:latin typeface="Arial"/>
                <a:ea typeface="Arial"/>
                <a:cs typeface="Arial"/>
              </a:defRPr>
            </a:defPPr>
          </a:lstStyle>
          <a:p xmlns:a="http://schemas.openxmlformats.org/drawingml/2006/main">
            <a:pPr algn="l">
              <a:defRPr sz="7500" b="1">
                <a:solidFill>
                  <a:srgbClr val="102A3A"/>
                </a:solidFill>
                <a:latin typeface="Arial"/>
                <a:ea typeface="Arial"/>
                <a:cs typeface="Arial"/>
              </a:defRPr>
            </a:pPr>
            <a:r>
              <a:rPr sz="7500" b="1">
                <a:solidFill>
                  <a:srgbClr val="102A3A"/>
                </a:solidFill>
                <a:latin typeface="Arial"/>
                <a:ea typeface="Arial"/>
                <a:cs typeface="Arial"/>
              </a:rPr>
              <a:t>900</a:t>
            </a:r>
          </a:p>
        </p:txBody>
      </p:sp>
      <p:sp>
        <p:nvSpPr>
          <p:cNvPr id="6" name="text-0jql32-5">
            <a:extLst xmlns:a="http://schemas.openxmlformats.org/drawingml/2006/main">
              <a:ext uri="{FF2B5EF4-FFF2-40B4-BE49-F238E27FC236}">
                <a16:creationId xmlns:a16="http://schemas.microsoft.com/office/drawing/2014/main" id="{F3F8A454-AC7E-4405-80E2-C9E183582E54}"/>
              </a:ext>
            </a:extLst>
          </p:cNvPr>
          <p:cNvSpPr>
            <a:spLocks xmlns:a="http://schemas.openxmlformats.org/drawingml/2006/main" noGrp="1"/>
          </p:cNvSpPr>
          <p:nvPr/>
        </p:nvSpPr>
        <p:spPr>
          <a:xfrm xmlns:a="http://schemas.openxmlformats.org/drawingml/2006/main">
            <a:off x="647700" y="3429000"/>
            <a:ext cx="319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3444"/>
                </a:solidFill>
                <a:latin typeface="Arial"/>
                <a:ea typeface="Arial"/>
                <a:cs typeface="Arial"/>
              </a:defRPr>
            </a:defPPr>
          </a:lstStyle>
          <a:p xmlns:a="http://schemas.openxmlformats.org/drawingml/2006/main">
            <a:pPr algn="l">
              <a:defRPr sz="2175" b="0">
                <a:solidFill>
                  <a:srgbClr val="183444"/>
                </a:solidFill>
                <a:latin typeface="Arial"/>
                <a:ea typeface="Arial"/>
                <a:cs typeface="Arial"/>
              </a:defRPr>
            </a:pPr>
            <a:r>
              <a:rPr sz="2175" b="0">
                <a:solidFill>
                  <a:srgbClr val="183444"/>
                </a:solidFill>
                <a:latin typeface="Arial"/>
                <a:ea typeface="Arial"/>
                <a:cs typeface="Arial"/>
              </a:rPr>
              <a:t>units ordered</a:t>
            </a:r>
          </a:p>
        </p:txBody>
      </p:sp>
      <p:sp>
        <p:nvSpPr>
          <p:cNvPr id="7" name="text-0jql32-6">
            <a:extLst xmlns:a="http://schemas.openxmlformats.org/drawingml/2006/main">
              <a:ext uri="{FF2B5EF4-FFF2-40B4-BE49-F238E27FC236}">
                <a16:creationId xmlns:a16="http://schemas.microsoft.com/office/drawing/2014/main" id="{16F02E57-78AD-40AE-81DC-7618760595DF}"/>
              </a:ext>
            </a:extLst>
          </p:cNvPr>
          <p:cNvSpPr>
            <a:spLocks xmlns:a="http://schemas.openxmlformats.org/drawingml/2006/main" noGrp="1"/>
          </p:cNvSpPr>
          <p:nvPr/>
        </p:nvSpPr>
        <p:spPr>
          <a:xfrm xmlns:a="http://schemas.openxmlformats.org/drawingml/2006/main">
            <a:off x="4438650" y="22669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096A6E"/>
                </a:solidFill>
                <a:latin typeface="Arial"/>
                <a:ea typeface="Arial"/>
                <a:cs typeface="Arial"/>
              </a:defRPr>
            </a:defPPr>
          </a:lstStyle>
          <a:p xmlns:a="http://schemas.openxmlformats.org/drawingml/2006/main">
            <a:pPr algn="l">
              <a:defRPr sz="7500" b="1">
                <a:solidFill>
                  <a:srgbClr val="096A6E"/>
                </a:solidFill>
                <a:latin typeface="Arial"/>
                <a:ea typeface="Arial"/>
                <a:cs typeface="Arial"/>
              </a:defRPr>
            </a:pPr>
            <a:r>
              <a:rPr sz="7500" b="1">
                <a:solidFill>
                  <a:srgbClr val="096A6E"/>
                </a:solidFill>
                <a:latin typeface="Arial"/>
                <a:ea typeface="Arial"/>
                <a:cs typeface="Arial"/>
              </a:rPr>
              <a:t>500</a:t>
            </a:r>
          </a:p>
        </p:txBody>
      </p:sp>
      <p:sp>
        <p:nvSpPr>
          <p:cNvPr id="8" name="text-0jql32-7">
            <a:extLst xmlns:a="http://schemas.openxmlformats.org/drawingml/2006/main">
              <a:ext uri="{FF2B5EF4-FFF2-40B4-BE49-F238E27FC236}">
                <a16:creationId xmlns:a16="http://schemas.microsoft.com/office/drawing/2014/main" id="{6873225C-4F9E-456E-B360-024503DF2D9F}"/>
              </a:ext>
            </a:extLst>
          </p:cNvPr>
          <p:cNvSpPr>
            <a:spLocks xmlns:a="http://schemas.openxmlformats.org/drawingml/2006/main" noGrp="1"/>
          </p:cNvSpPr>
          <p:nvPr/>
        </p:nvSpPr>
        <p:spPr>
          <a:xfrm xmlns:a="http://schemas.openxmlformats.org/drawingml/2006/main">
            <a:off x="4476750" y="3429000"/>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3444"/>
                </a:solidFill>
                <a:latin typeface="Arial"/>
                <a:ea typeface="Arial"/>
                <a:cs typeface="Arial"/>
              </a:defRPr>
            </a:defPPr>
          </a:lstStyle>
          <a:p xmlns:a="http://schemas.openxmlformats.org/drawingml/2006/main">
            <a:pPr algn="l">
              <a:defRPr sz="2175" b="0">
                <a:solidFill>
                  <a:srgbClr val="183444"/>
                </a:solidFill>
                <a:latin typeface="Arial"/>
                <a:ea typeface="Arial"/>
                <a:cs typeface="Arial"/>
              </a:defRPr>
            </a:pPr>
            <a:r>
              <a:rPr sz="2175" b="0">
                <a:solidFill>
                  <a:srgbClr val="183444"/>
                </a:solidFill>
                <a:latin typeface="Arial"/>
                <a:ea typeface="Arial"/>
                <a:cs typeface="Arial"/>
              </a:rPr>
              <a:t>finished units in stock</a:t>
            </a:r>
          </a:p>
        </p:txBody>
      </p:sp>
      <p:sp>
        <p:nvSpPr>
          <p:cNvPr id="9" name="text-0jql32-8">
            <a:extLst xmlns:a="http://schemas.openxmlformats.org/drawingml/2006/main">
              <a:ext uri="{FF2B5EF4-FFF2-40B4-BE49-F238E27FC236}">
                <a16:creationId xmlns:a16="http://schemas.microsoft.com/office/drawing/2014/main" id="{C403C7E4-9579-44EA-AB77-153FBBB6EB70}"/>
              </a:ext>
            </a:extLst>
          </p:cNvPr>
          <p:cNvSpPr>
            <a:spLocks xmlns:a="http://schemas.openxmlformats.org/drawingml/2006/main" noGrp="1"/>
          </p:cNvSpPr>
          <p:nvPr/>
        </p:nvSpPr>
        <p:spPr>
          <a:xfrm xmlns:a="http://schemas.openxmlformats.org/drawingml/2006/main">
            <a:off x="8248650" y="22669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102A3A"/>
                </a:solidFill>
                <a:latin typeface="Arial"/>
                <a:ea typeface="Arial"/>
                <a:cs typeface="Arial"/>
              </a:defRPr>
            </a:defPPr>
          </a:lstStyle>
          <a:p xmlns:a="http://schemas.openxmlformats.org/drawingml/2006/main">
            <a:pPr algn="l">
              <a:defRPr sz="7500" b="1">
                <a:solidFill>
                  <a:srgbClr val="102A3A"/>
                </a:solidFill>
                <a:latin typeface="Arial"/>
                <a:ea typeface="Arial"/>
                <a:cs typeface="Arial"/>
              </a:defRPr>
            </a:pPr>
            <a:r>
              <a:rPr sz="7500" b="1">
                <a:solidFill>
                  <a:srgbClr val="102A3A"/>
                </a:solidFill>
                <a:latin typeface="Arial"/>
                <a:ea typeface="Arial"/>
                <a:cs typeface="Arial"/>
              </a:rPr>
              <a:t>400</a:t>
            </a:r>
          </a:p>
        </p:txBody>
      </p:sp>
      <p:sp>
        <p:nvSpPr>
          <p:cNvPr id="10" name="text-0jql32-9">
            <a:extLst xmlns:a="http://schemas.openxmlformats.org/drawingml/2006/main">
              <a:ext uri="{FF2B5EF4-FFF2-40B4-BE49-F238E27FC236}">
                <a16:creationId xmlns:a16="http://schemas.microsoft.com/office/drawing/2014/main" id="{991E17E9-ADEA-49C9-8628-3912651AC578}"/>
              </a:ext>
            </a:extLst>
          </p:cNvPr>
          <p:cNvSpPr>
            <a:spLocks xmlns:a="http://schemas.openxmlformats.org/drawingml/2006/main" noGrp="1"/>
          </p:cNvSpPr>
          <p:nvPr/>
        </p:nvSpPr>
        <p:spPr>
          <a:xfrm xmlns:a="http://schemas.openxmlformats.org/drawingml/2006/main">
            <a:off x="8286750" y="3429000"/>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3444"/>
                </a:solidFill>
                <a:latin typeface="Arial"/>
                <a:ea typeface="Arial"/>
                <a:cs typeface="Arial"/>
              </a:defRPr>
            </a:defPPr>
          </a:lstStyle>
          <a:p xmlns:a="http://schemas.openxmlformats.org/drawingml/2006/main">
            <a:pPr algn="l">
              <a:defRPr sz="2175" b="0">
                <a:solidFill>
                  <a:srgbClr val="183444"/>
                </a:solidFill>
                <a:latin typeface="Arial"/>
                <a:ea typeface="Arial"/>
                <a:cs typeface="Arial"/>
              </a:defRPr>
            </a:pPr>
            <a:r>
              <a:rPr sz="2175" b="0">
                <a:solidFill>
                  <a:srgbClr val="183444"/>
                </a:solidFill>
                <a:latin typeface="Arial"/>
                <a:ea typeface="Arial"/>
                <a:cs typeface="Arial"/>
              </a:rPr>
              <a:t>units to manufacture</a:t>
            </a:r>
          </a:p>
        </p:txBody>
      </p:sp>
      <p:sp>
        <p:nvSpPr>
          <p:cNvPr id="11" name="text-0jql32-10">
            <a:extLst xmlns:a="http://schemas.openxmlformats.org/drawingml/2006/main">
              <a:ext uri="{FF2B5EF4-FFF2-40B4-BE49-F238E27FC236}">
                <a16:creationId xmlns:a16="http://schemas.microsoft.com/office/drawing/2014/main" id="{22B11202-DF95-42D8-A262-59E414BF3194}"/>
              </a:ext>
            </a:extLst>
          </p:cNvPr>
          <p:cNvSpPr>
            <a:spLocks xmlns:a="http://schemas.openxmlformats.org/drawingml/2006/main" noGrp="1"/>
          </p:cNvSpPr>
          <p:nvPr/>
        </p:nvSpPr>
        <p:spPr>
          <a:xfrm xmlns:a="http://schemas.openxmlformats.org/drawingml/2006/main">
            <a:off x="609600" y="50482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2A3A"/>
                </a:solidFill>
                <a:latin typeface="Arial"/>
                <a:ea typeface="Arial"/>
                <a:cs typeface="Arial"/>
              </a:defRPr>
            </a:defPPr>
          </a:lstStyle>
          <a:p xmlns:a="http://schemas.openxmlformats.org/drawingml/2006/main">
            <a:pPr algn="l">
              <a:defRPr sz="2400" b="1">
                <a:solidFill>
                  <a:srgbClr val="102A3A"/>
                </a:solidFill>
                <a:latin typeface="Arial"/>
                <a:ea typeface="Arial"/>
                <a:cs typeface="Arial"/>
              </a:defRPr>
            </a:pPr>
            <a:r>
              <a:rPr sz="2400" b="1">
                <a:solidFill>
                  <a:srgbClr val="102A3A"/>
                </a:solidFill>
                <a:latin typeface="Arial"/>
                <a:ea typeface="Arial"/>
                <a:cs typeface="Arial"/>
              </a:rPr>
              <a:t>The challenge: limited stock, competing dispatch dates.</a:t>
            </a:r>
          </a:p>
        </p:txBody>
      </p:sp>
      <p:sp>
        <p:nvSpPr>
          <p:cNvPr id="12" name="text-0jql32-11">
            <a:extLst xmlns:a="http://schemas.openxmlformats.org/drawingml/2006/main">
              <a:ext uri="{FF2B5EF4-FFF2-40B4-BE49-F238E27FC236}">
                <a16:creationId xmlns:a16="http://schemas.microsoft.com/office/drawing/2014/main" id="{45187756-7486-46F3-8241-9B9124C93EFD}"/>
              </a:ext>
            </a:extLst>
          </p:cNvPr>
          <p:cNvSpPr>
            <a:spLocks xmlns:a="http://schemas.openxmlformats.org/drawingml/2006/main" noGrp="1"/>
          </p:cNvSpPr>
          <p:nvPr/>
        </p:nvSpPr>
        <p:spPr>
          <a:xfrm xmlns:a="http://schemas.openxmlformats.org/drawingml/2006/main">
            <a:off x="609600" y="57435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26872"/>
                </a:solidFill>
                <a:latin typeface="Arial"/>
                <a:ea typeface="Arial"/>
                <a:cs typeface="Arial"/>
              </a:defRPr>
            </a:defPPr>
          </a:lstStyle>
          <a:p xmlns:a="http://schemas.openxmlformats.org/drawingml/2006/main">
            <a:pPr algn="l">
              <a:defRPr sz="2025" b="0">
                <a:solidFill>
                  <a:srgbClr val="526872"/>
                </a:solidFill>
                <a:latin typeface="Arial"/>
                <a:ea typeface="Arial"/>
                <a:cs typeface="Arial"/>
              </a:defRPr>
            </a:pPr>
            <a:r>
              <a:rPr sz="2025" b="0">
                <a:solidFill>
                  <a:srgbClr val="526872"/>
                </a:solidFill>
                <a:latin typeface="Arial"/>
                <a:ea typeface="Arial"/>
                <a:cs typeface="Arial"/>
              </a:rPr>
              <a:t>HALY produces the shortage in-house.</a:t>
            </a:r>
          </a:p>
        </p:txBody>
      </p:sp>
    </p:spTree>
    <p:extLst>
      <p:ext uri="{BB962C8B-B14F-4D97-AF65-F5344CB8AC3E}">
        <p14:creationId xmlns:p14="http://schemas.microsoft.com/office/powerpoint/2010/main" val="901756031"/>
      </p:ext>
    </p:extLst>
  </p:cSld>
</p:sld>
</file>

<file path=ppt/slides/slide3.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20" name="text-dflj47-0">
            <a:extLst xmlns:a="http://schemas.openxmlformats.org/drawingml/2006/main">
              <a:ext uri="{FF2B5EF4-FFF2-40B4-BE49-F238E27FC236}">
                <a16:creationId xmlns:a16="http://schemas.microsoft.com/office/drawing/2014/main" id="{FC0B2C74-E050-4055-B518-7A18033E67B3}"/>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Order fulfilment, step by step</a:t>
            </a:r>
          </a:p>
        </p:txBody>
      </p:sp>
      <p:sp>
        <p:nvSpPr>
          <p:cNvPr id="2" name="text-dflj47-1">
            <a:extLst xmlns:a="http://schemas.openxmlformats.org/drawingml/2006/main">
              <a:ext uri="{FF2B5EF4-FFF2-40B4-BE49-F238E27FC236}">
                <a16:creationId xmlns:a16="http://schemas.microsoft.com/office/drawing/2014/main" id="{57A604BF-DAA7-402D-BCC3-E5CB1315A788}"/>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Teams record physical work. Campaign rules control stock and shipment decisions.</a:t>
            </a:r>
          </a:p>
        </p:txBody>
      </p:sp>
      <p:sp>
        <p:nvSpPr>
          <p:cNvPr id="3" name="text-dflj47-2">
            <a:extLst xmlns:a="http://schemas.openxmlformats.org/drawingml/2006/main">
              <a:ext uri="{FF2B5EF4-FFF2-40B4-BE49-F238E27FC236}">
                <a16:creationId xmlns:a16="http://schemas.microsoft.com/office/drawing/2014/main" id="{2EFA3DDD-CE45-4E81-8B7A-B15C7D4BCE49}"/>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dflj47-3">
            <a:extLst xmlns:a="http://schemas.openxmlformats.org/drawingml/2006/main">
              <a:ext uri="{FF2B5EF4-FFF2-40B4-BE49-F238E27FC236}">
                <a16:creationId xmlns:a16="http://schemas.microsoft.com/office/drawing/2014/main" id="{5F3E6FEE-8FD4-4B94-9E9A-04F51241CAF5}"/>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03 / 14</a:t>
            </a:r>
          </a:p>
        </p:txBody>
      </p:sp>
      <p:sp>
        <p:nvSpPr>
          <p:cNvPr id="5" name="text-dflj47-4">
            <a:extLst xmlns:a="http://schemas.openxmlformats.org/drawingml/2006/main">
              <a:ext uri="{FF2B5EF4-FFF2-40B4-BE49-F238E27FC236}">
                <a16:creationId xmlns:a16="http://schemas.microsoft.com/office/drawing/2014/main" id="{5F42B706-F28F-41B8-954A-D64E7C03B382}"/>
              </a:ext>
            </a:extLst>
          </p:cNvPr>
          <p:cNvSpPr>
            <a:spLocks xmlns:a="http://schemas.openxmlformats.org/drawingml/2006/main" noGrp="1"/>
          </p:cNvSpPr>
          <p:nvPr/>
        </p:nvSpPr>
        <p:spPr>
          <a:xfrm xmlns:a="http://schemas.openxmlformats.org/drawingml/2006/main">
            <a:off x="609600" y="186690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96A6E"/>
                </a:solidFill>
                <a:latin typeface="Arial"/>
                <a:ea typeface="Arial"/>
                <a:cs typeface="Arial"/>
              </a:defRPr>
            </a:defPPr>
          </a:lstStyle>
          <a:p xmlns:a="http://schemas.openxmlformats.org/drawingml/2006/main">
            <a:pPr algn="l">
              <a:defRPr sz="3150" b="1">
                <a:solidFill>
                  <a:srgbClr val="096A6E"/>
                </a:solidFill>
                <a:latin typeface="Arial"/>
                <a:ea typeface="Arial"/>
                <a:cs typeface="Arial"/>
              </a:defRPr>
            </a:pPr>
            <a:r>
              <a:rPr sz="3150" b="1">
                <a:solidFill>
                  <a:srgbClr val="096A6E"/>
                </a:solidFill>
                <a:latin typeface="Arial"/>
                <a:ea typeface="Arial"/>
                <a:cs typeface="Arial"/>
              </a:rPr>
              <a:t>01</a:t>
            </a:r>
          </a:p>
        </p:txBody>
      </p:sp>
      <p:sp>
        <p:nvSpPr>
          <p:cNvPr id="6" name="text-dflj47-5">
            <a:extLst xmlns:a="http://schemas.openxmlformats.org/drawingml/2006/main">
              <a:ext uri="{FF2B5EF4-FFF2-40B4-BE49-F238E27FC236}">
                <a16:creationId xmlns:a16="http://schemas.microsoft.com/office/drawing/2014/main" id="{7B83CD5D-C7CA-4E50-BD4F-975F863D72E8}"/>
              </a:ext>
            </a:extLst>
          </p:cNvPr>
          <p:cNvSpPr>
            <a:spLocks xmlns:a="http://schemas.openxmlformats.org/drawingml/2006/main" noGrp="1"/>
          </p:cNvSpPr>
          <p:nvPr/>
        </p:nvSpPr>
        <p:spPr>
          <a:xfrm xmlns:a="http://schemas.openxmlformats.org/drawingml/2006/main">
            <a:off x="1466850" y="1876425"/>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A3A"/>
                </a:solidFill>
                <a:latin typeface="Arial"/>
                <a:ea typeface="Arial"/>
                <a:cs typeface="Arial"/>
              </a:defRPr>
            </a:defPPr>
          </a:lstStyle>
          <a:p xmlns:a="http://schemas.openxmlformats.org/drawingml/2006/main">
            <a:pPr algn="l">
              <a:defRPr sz="2100" b="1">
                <a:solidFill>
                  <a:srgbClr val="102A3A"/>
                </a:solidFill>
                <a:latin typeface="Arial"/>
                <a:ea typeface="Arial"/>
                <a:cs typeface="Arial"/>
              </a:defRPr>
            </a:pPr>
            <a:r>
              <a:rPr sz="2100" b="1">
                <a:solidFill>
                  <a:srgbClr val="102A3A"/>
                </a:solidFill>
                <a:latin typeface="Arial"/>
                <a:ea typeface="Arial"/>
                <a:cs typeface="Arial"/>
              </a:rPr>
              <a:t>Order and dispatch promise</a:t>
            </a:r>
          </a:p>
        </p:txBody>
      </p:sp>
      <p:sp>
        <p:nvSpPr>
          <p:cNvPr id="7" name="text-dflj47-6">
            <a:extLst xmlns:a="http://schemas.openxmlformats.org/drawingml/2006/main">
              <a:ext uri="{FF2B5EF4-FFF2-40B4-BE49-F238E27FC236}">
                <a16:creationId xmlns:a16="http://schemas.microsoft.com/office/drawing/2014/main" id="{1C68296A-3F7F-4274-B915-2BFC46EB1FB7}"/>
              </a:ext>
            </a:extLst>
          </p:cNvPr>
          <p:cNvSpPr>
            <a:spLocks xmlns:a="http://schemas.openxmlformats.org/drawingml/2006/main" noGrp="1"/>
          </p:cNvSpPr>
          <p:nvPr/>
        </p:nvSpPr>
        <p:spPr>
          <a:xfrm xmlns:a="http://schemas.openxmlformats.org/drawingml/2006/main">
            <a:off x="1466850" y="2266950"/>
            <a:ext cx="990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Sales records the accepted warehouse dispatch date.</a:t>
            </a:r>
          </a:p>
        </p:txBody>
      </p:sp>
      <p:sp>
        <p:nvSpPr>
          <p:cNvPr id="8" name="text-dflj47-7">
            <a:extLst xmlns:a="http://schemas.openxmlformats.org/drawingml/2006/main">
              <a:ext uri="{FF2B5EF4-FFF2-40B4-BE49-F238E27FC236}">
                <a16:creationId xmlns:a16="http://schemas.microsoft.com/office/drawing/2014/main" id="{3638D2BA-510E-4EC0-BAC2-28E1FA4F1C58}"/>
              </a:ext>
            </a:extLst>
          </p:cNvPr>
          <p:cNvSpPr>
            <a:spLocks xmlns:a="http://schemas.openxmlformats.org/drawingml/2006/main" noGrp="1"/>
          </p:cNvSpPr>
          <p:nvPr/>
        </p:nvSpPr>
        <p:spPr>
          <a:xfrm xmlns:a="http://schemas.openxmlformats.org/drawingml/2006/main">
            <a:off x="609600" y="27241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96A6E"/>
                </a:solidFill>
                <a:latin typeface="Arial"/>
                <a:ea typeface="Arial"/>
                <a:cs typeface="Arial"/>
              </a:defRPr>
            </a:defPPr>
          </a:lstStyle>
          <a:p xmlns:a="http://schemas.openxmlformats.org/drawingml/2006/main">
            <a:pPr algn="l">
              <a:defRPr sz="3150" b="1">
                <a:solidFill>
                  <a:srgbClr val="096A6E"/>
                </a:solidFill>
                <a:latin typeface="Arial"/>
                <a:ea typeface="Arial"/>
                <a:cs typeface="Arial"/>
              </a:defRPr>
            </a:pPr>
            <a:r>
              <a:rPr sz="3150" b="1">
                <a:solidFill>
                  <a:srgbClr val="096A6E"/>
                </a:solidFill>
                <a:latin typeface="Arial"/>
                <a:ea typeface="Arial"/>
                <a:cs typeface="Arial"/>
              </a:rPr>
              <a:t>02</a:t>
            </a:r>
          </a:p>
        </p:txBody>
      </p:sp>
      <p:sp>
        <p:nvSpPr>
          <p:cNvPr id="9" name="text-dflj47-8">
            <a:extLst xmlns:a="http://schemas.openxmlformats.org/drawingml/2006/main">
              <a:ext uri="{FF2B5EF4-FFF2-40B4-BE49-F238E27FC236}">
                <a16:creationId xmlns:a16="http://schemas.microsoft.com/office/drawing/2014/main" id="{3212FE00-8533-47E0-A700-50965D06D8D8}"/>
              </a:ext>
            </a:extLst>
          </p:cNvPr>
          <p:cNvSpPr>
            <a:spLocks xmlns:a="http://schemas.openxmlformats.org/drawingml/2006/main" noGrp="1"/>
          </p:cNvSpPr>
          <p:nvPr/>
        </p:nvSpPr>
        <p:spPr>
          <a:xfrm xmlns:a="http://schemas.openxmlformats.org/drawingml/2006/main">
            <a:off x="1466850" y="2733675"/>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A3A"/>
                </a:solidFill>
                <a:latin typeface="Arial"/>
                <a:ea typeface="Arial"/>
                <a:cs typeface="Arial"/>
              </a:defRPr>
            </a:defPPr>
          </a:lstStyle>
          <a:p xmlns:a="http://schemas.openxmlformats.org/drawingml/2006/main">
            <a:pPr algn="l">
              <a:defRPr sz="2100" b="1">
                <a:solidFill>
                  <a:srgbClr val="102A3A"/>
                </a:solidFill>
                <a:latin typeface="Arial"/>
                <a:ea typeface="Arial"/>
                <a:cs typeface="Arial"/>
              </a:defRPr>
            </a:pPr>
            <a:r>
              <a:rPr sz="2100" b="1">
                <a:solidFill>
                  <a:srgbClr val="102A3A"/>
                </a:solidFill>
                <a:latin typeface="Arial"/>
                <a:ea typeface="Arial"/>
                <a:cs typeface="Arial"/>
              </a:rPr>
              <a:t>Stock allocation</a:t>
            </a:r>
          </a:p>
        </p:txBody>
      </p:sp>
      <p:sp>
        <p:nvSpPr>
          <p:cNvPr id="10" name="text-dflj47-9">
            <a:extLst xmlns:a="http://schemas.openxmlformats.org/drawingml/2006/main">
              <a:ext uri="{FF2B5EF4-FFF2-40B4-BE49-F238E27FC236}">
                <a16:creationId xmlns:a16="http://schemas.microsoft.com/office/drawing/2014/main" id="{C7C5B69A-90AE-462D-900C-32F053D10649}"/>
              </a:ext>
            </a:extLst>
          </p:cNvPr>
          <p:cNvSpPr>
            <a:spLocks xmlns:a="http://schemas.openxmlformats.org/drawingml/2006/main" noGrp="1"/>
          </p:cNvSpPr>
          <p:nvPr/>
        </p:nvSpPr>
        <p:spPr>
          <a:xfrm xmlns:a="http://schemas.openxmlformats.org/drawingml/2006/main">
            <a:off x="1466850" y="3124200"/>
            <a:ext cx="990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Orders with earlier accepted dates receive available stock first.</a:t>
            </a:r>
          </a:p>
        </p:txBody>
      </p:sp>
      <p:sp>
        <p:nvSpPr>
          <p:cNvPr id="11" name="text-dflj47-10">
            <a:extLst xmlns:a="http://schemas.openxmlformats.org/drawingml/2006/main">
              <a:ext uri="{FF2B5EF4-FFF2-40B4-BE49-F238E27FC236}">
                <a16:creationId xmlns:a16="http://schemas.microsoft.com/office/drawing/2014/main" id="{96BDF54C-FC73-4837-8FF6-EB43A1970CAB}"/>
              </a:ext>
            </a:extLst>
          </p:cNvPr>
          <p:cNvSpPr>
            <a:spLocks xmlns:a="http://schemas.openxmlformats.org/drawingml/2006/main" noGrp="1"/>
          </p:cNvSpPr>
          <p:nvPr/>
        </p:nvSpPr>
        <p:spPr>
          <a:xfrm xmlns:a="http://schemas.openxmlformats.org/drawingml/2006/main">
            <a:off x="609600" y="358140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96A6E"/>
                </a:solidFill>
                <a:latin typeface="Arial"/>
                <a:ea typeface="Arial"/>
                <a:cs typeface="Arial"/>
              </a:defRPr>
            </a:defPPr>
          </a:lstStyle>
          <a:p xmlns:a="http://schemas.openxmlformats.org/drawingml/2006/main">
            <a:pPr algn="l">
              <a:defRPr sz="3150" b="1">
                <a:solidFill>
                  <a:srgbClr val="096A6E"/>
                </a:solidFill>
                <a:latin typeface="Arial"/>
                <a:ea typeface="Arial"/>
                <a:cs typeface="Arial"/>
              </a:defRPr>
            </a:pPr>
            <a:r>
              <a:rPr sz="3150" b="1">
                <a:solidFill>
                  <a:srgbClr val="096A6E"/>
                </a:solidFill>
                <a:latin typeface="Arial"/>
                <a:ea typeface="Arial"/>
                <a:cs typeface="Arial"/>
              </a:rPr>
              <a:t>03</a:t>
            </a:r>
          </a:p>
        </p:txBody>
      </p:sp>
      <p:sp>
        <p:nvSpPr>
          <p:cNvPr id="12" name="text-dflj47-11">
            <a:extLst xmlns:a="http://schemas.openxmlformats.org/drawingml/2006/main">
              <a:ext uri="{FF2B5EF4-FFF2-40B4-BE49-F238E27FC236}">
                <a16:creationId xmlns:a16="http://schemas.microsoft.com/office/drawing/2014/main" id="{9D414BE0-0F48-4993-830A-C3E0DBB61AE3}"/>
              </a:ext>
            </a:extLst>
          </p:cNvPr>
          <p:cNvSpPr>
            <a:spLocks xmlns:a="http://schemas.openxmlformats.org/drawingml/2006/main" noGrp="1"/>
          </p:cNvSpPr>
          <p:nvPr/>
        </p:nvSpPr>
        <p:spPr>
          <a:xfrm xmlns:a="http://schemas.openxmlformats.org/drawingml/2006/main">
            <a:off x="1466850" y="3590925"/>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A3A"/>
                </a:solidFill>
                <a:latin typeface="Arial"/>
                <a:ea typeface="Arial"/>
                <a:cs typeface="Arial"/>
              </a:defRPr>
            </a:defPPr>
          </a:lstStyle>
          <a:p xmlns:a="http://schemas.openxmlformats.org/drawingml/2006/main">
            <a:pPr algn="l">
              <a:defRPr sz="2100" b="1">
                <a:solidFill>
                  <a:srgbClr val="102A3A"/>
                </a:solidFill>
                <a:latin typeface="Arial"/>
                <a:ea typeface="Arial"/>
                <a:cs typeface="Arial"/>
              </a:defRPr>
            </a:pPr>
            <a:r>
              <a:rPr sz="2100" b="1">
                <a:solidFill>
                  <a:srgbClr val="102A3A"/>
                </a:solidFill>
                <a:latin typeface="Arial"/>
                <a:ea typeface="Arial"/>
                <a:cs typeface="Arial"/>
              </a:rPr>
              <a:t>Purchasing and production</a:t>
            </a:r>
          </a:p>
        </p:txBody>
      </p:sp>
      <p:sp>
        <p:nvSpPr>
          <p:cNvPr id="13" name="text-dflj47-12">
            <a:extLst xmlns:a="http://schemas.openxmlformats.org/drawingml/2006/main">
              <a:ext uri="{FF2B5EF4-FFF2-40B4-BE49-F238E27FC236}">
                <a16:creationId xmlns:a16="http://schemas.microsoft.com/office/drawing/2014/main" id="{7B9440B3-F539-4FF5-934A-381490EBCAD6}"/>
              </a:ext>
            </a:extLst>
          </p:cNvPr>
          <p:cNvSpPr>
            <a:spLocks xmlns:a="http://schemas.openxmlformats.org/drawingml/2006/main" noGrp="1"/>
          </p:cNvSpPr>
          <p:nvPr/>
        </p:nvSpPr>
        <p:spPr>
          <a:xfrm xmlns:a="http://schemas.openxmlformats.org/drawingml/2006/main">
            <a:off x="1466850" y="3981450"/>
            <a:ext cx="990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HALY buys raw materials and manufactures the shortage.</a:t>
            </a:r>
          </a:p>
        </p:txBody>
      </p:sp>
      <p:sp>
        <p:nvSpPr>
          <p:cNvPr id="14" name="text-dflj47-13">
            <a:extLst xmlns:a="http://schemas.openxmlformats.org/drawingml/2006/main">
              <a:ext uri="{FF2B5EF4-FFF2-40B4-BE49-F238E27FC236}">
                <a16:creationId xmlns:a16="http://schemas.microsoft.com/office/drawing/2014/main" id="{E9AF34B8-59DD-4F9D-BBA8-FBA61042E90B}"/>
              </a:ext>
            </a:extLst>
          </p:cNvPr>
          <p:cNvSpPr>
            <a:spLocks xmlns:a="http://schemas.openxmlformats.org/drawingml/2006/main" noGrp="1"/>
          </p:cNvSpPr>
          <p:nvPr/>
        </p:nvSpPr>
        <p:spPr>
          <a:xfrm xmlns:a="http://schemas.openxmlformats.org/drawingml/2006/main">
            <a:off x="609600" y="44386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96A6E"/>
                </a:solidFill>
                <a:latin typeface="Arial"/>
                <a:ea typeface="Arial"/>
                <a:cs typeface="Arial"/>
              </a:defRPr>
            </a:defPPr>
          </a:lstStyle>
          <a:p xmlns:a="http://schemas.openxmlformats.org/drawingml/2006/main">
            <a:pPr algn="l">
              <a:defRPr sz="3150" b="1">
                <a:solidFill>
                  <a:srgbClr val="096A6E"/>
                </a:solidFill>
                <a:latin typeface="Arial"/>
                <a:ea typeface="Arial"/>
                <a:cs typeface="Arial"/>
              </a:defRPr>
            </a:pPr>
            <a:r>
              <a:rPr sz="3150" b="1">
                <a:solidFill>
                  <a:srgbClr val="096A6E"/>
                </a:solidFill>
                <a:latin typeface="Arial"/>
                <a:ea typeface="Arial"/>
                <a:cs typeface="Arial"/>
              </a:rPr>
              <a:t>04</a:t>
            </a:r>
          </a:p>
        </p:txBody>
      </p:sp>
      <p:sp>
        <p:nvSpPr>
          <p:cNvPr id="15" name="text-dflj47-14">
            <a:extLst xmlns:a="http://schemas.openxmlformats.org/drawingml/2006/main">
              <a:ext uri="{FF2B5EF4-FFF2-40B4-BE49-F238E27FC236}">
                <a16:creationId xmlns:a16="http://schemas.microsoft.com/office/drawing/2014/main" id="{3BD1D3D6-1D07-4CA8-A553-7A2F64A86EFC}"/>
              </a:ext>
            </a:extLst>
          </p:cNvPr>
          <p:cNvSpPr>
            <a:spLocks xmlns:a="http://schemas.openxmlformats.org/drawingml/2006/main" noGrp="1"/>
          </p:cNvSpPr>
          <p:nvPr/>
        </p:nvSpPr>
        <p:spPr>
          <a:xfrm xmlns:a="http://schemas.openxmlformats.org/drawingml/2006/main">
            <a:off x="1466850" y="4448175"/>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A3A"/>
                </a:solidFill>
                <a:latin typeface="Arial"/>
                <a:ea typeface="Arial"/>
                <a:cs typeface="Arial"/>
              </a:defRPr>
            </a:defPPr>
          </a:lstStyle>
          <a:p xmlns:a="http://schemas.openxmlformats.org/drawingml/2006/main">
            <a:pPr algn="l">
              <a:defRPr sz="2100" b="1">
                <a:solidFill>
                  <a:srgbClr val="102A3A"/>
                </a:solidFill>
                <a:latin typeface="Arial"/>
                <a:ea typeface="Arial"/>
                <a:cs typeface="Arial"/>
              </a:defRPr>
            </a:pPr>
            <a:r>
              <a:rPr sz="2100" b="1">
                <a:solidFill>
                  <a:srgbClr val="102A3A"/>
                </a:solidFill>
                <a:latin typeface="Arial"/>
                <a:ea typeface="Arial"/>
                <a:cs typeface="Arial"/>
              </a:rPr>
              <a:t>Shipment</a:t>
            </a:r>
          </a:p>
        </p:txBody>
      </p:sp>
      <p:sp>
        <p:nvSpPr>
          <p:cNvPr id="16" name="text-dflj47-15">
            <a:extLst xmlns:a="http://schemas.openxmlformats.org/drawingml/2006/main">
              <a:ext uri="{FF2B5EF4-FFF2-40B4-BE49-F238E27FC236}">
                <a16:creationId xmlns:a16="http://schemas.microsoft.com/office/drawing/2014/main" id="{4E0BA328-2946-41F7-97BF-C537DEA04616}"/>
              </a:ext>
            </a:extLst>
          </p:cNvPr>
          <p:cNvSpPr>
            <a:spLocks xmlns:a="http://schemas.openxmlformats.org/drawingml/2006/main" noGrp="1"/>
          </p:cNvSpPr>
          <p:nvPr/>
        </p:nvSpPr>
        <p:spPr>
          <a:xfrm xmlns:a="http://schemas.openxmlformats.org/drawingml/2006/main">
            <a:off x="1466850" y="4838700"/>
            <a:ext cx="990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Individual orders ship in full. Corporate orders can ship in batches.</a:t>
            </a:r>
          </a:p>
        </p:txBody>
      </p:sp>
      <p:sp>
        <p:nvSpPr>
          <p:cNvPr id="17" name="text-dflj47-16">
            <a:extLst xmlns:a="http://schemas.openxmlformats.org/drawingml/2006/main">
              <a:ext uri="{FF2B5EF4-FFF2-40B4-BE49-F238E27FC236}">
                <a16:creationId xmlns:a16="http://schemas.microsoft.com/office/drawing/2014/main" id="{A1359122-524A-4D0F-A7D8-DE5170936163}"/>
              </a:ext>
            </a:extLst>
          </p:cNvPr>
          <p:cNvSpPr>
            <a:spLocks xmlns:a="http://schemas.openxmlformats.org/drawingml/2006/main" noGrp="1"/>
          </p:cNvSpPr>
          <p:nvPr/>
        </p:nvSpPr>
        <p:spPr>
          <a:xfrm xmlns:a="http://schemas.openxmlformats.org/drawingml/2006/main">
            <a:off x="609600" y="529590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96A6E"/>
                </a:solidFill>
                <a:latin typeface="Arial"/>
                <a:ea typeface="Arial"/>
                <a:cs typeface="Arial"/>
              </a:defRPr>
            </a:defPPr>
          </a:lstStyle>
          <a:p xmlns:a="http://schemas.openxmlformats.org/drawingml/2006/main">
            <a:pPr algn="l">
              <a:defRPr sz="3150" b="1">
                <a:solidFill>
                  <a:srgbClr val="096A6E"/>
                </a:solidFill>
                <a:latin typeface="Arial"/>
                <a:ea typeface="Arial"/>
                <a:cs typeface="Arial"/>
              </a:defRPr>
            </a:pPr>
            <a:r>
              <a:rPr sz="3150" b="1">
                <a:solidFill>
                  <a:srgbClr val="096A6E"/>
                </a:solidFill>
                <a:latin typeface="Arial"/>
                <a:ea typeface="Arial"/>
                <a:cs typeface="Arial"/>
              </a:rPr>
              <a:t>05</a:t>
            </a:r>
          </a:p>
        </p:txBody>
      </p:sp>
      <p:sp>
        <p:nvSpPr>
          <p:cNvPr id="18" name="text-dflj47-17">
            <a:extLst xmlns:a="http://schemas.openxmlformats.org/drawingml/2006/main">
              <a:ext uri="{FF2B5EF4-FFF2-40B4-BE49-F238E27FC236}">
                <a16:creationId xmlns:a16="http://schemas.microsoft.com/office/drawing/2014/main" id="{FB59C669-B07C-4AF7-8173-D9DECC1FE86F}"/>
              </a:ext>
            </a:extLst>
          </p:cNvPr>
          <p:cNvSpPr>
            <a:spLocks xmlns:a="http://schemas.openxmlformats.org/drawingml/2006/main" noGrp="1"/>
          </p:cNvSpPr>
          <p:nvPr/>
        </p:nvSpPr>
        <p:spPr>
          <a:xfrm xmlns:a="http://schemas.openxmlformats.org/drawingml/2006/main">
            <a:off x="1466850" y="5305425"/>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A3A"/>
                </a:solidFill>
                <a:latin typeface="Arial"/>
                <a:ea typeface="Arial"/>
                <a:cs typeface="Arial"/>
              </a:defRPr>
            </a:defPPr>
          </a:lstStyle>
          <a:p xmlns:a="http://schemas.openxmlformats.org/drawingml/2006/main">
            <a:pPr algn="l">
              <a:defRPr sz="2100" b="1">
                <a:solidFill>
                  <a:srgbClr val="102A3A"/>
                </a:solidFill>
                <a:latin typeface="Arial"/>
                <a:ea typeface="Arial"/>
                <a:cs typeface="Arial"/>
              </a:defRPr>
            </a:pPr>
            <a:r>
              <a:rPr sz="2100" b="1">
                <a:solidFill>
                  <a:srgbClr val="102A3A"/>
                </a:solidFill>
                <a:latin typeface="Arial"/>
                <a:ea typeface="Arial"/>
                <a:cs typeface="Arial"/>
              </a:rPr>
              <a:t>Exception follow-up</a:t>
            </a:r>
          </a:p>
        </p:txBody>
      </p:sp>
      <p:sp>
        <p:nvSpPr>
          <p:cNvPr id="19" name="text-dflj47-18">
            <a:extLst xmlns:a="http://schemas.openxmlformats.org/drawingml/2006/main">
              <a:ext uri="{FF2B5EF4-FFF2-40B4-BE49-F238E27FC236}">
                <a16:creationId xmlns:a16="http://schemas.microsoft.com/office/drawing/2014/main" id="{106A5594-257D-44D2-A830-E9BB60289FF2}"/>
              </a:ext>
            </a:extLst>
          </p:cNvPr>
          <p:cNvSpPr>
            <a:spLocks xmlns:a="http://schemas.openxmlformats.org/drawingml/2006/main" noGrp="1"/>
          </p:cNvSpPr>
          <p:nvPr/>
        </p:nvSpPr>
        <p:spPr>
          <a:xfrm xmlns:a="http://schemas.openxmlformats.org/drawingml/2006/main">
            <a:off x="1466850" y="5695950"/>
            <a:ext cx="990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A linked risk item records the owner and next action.</a:t>
            </a:r>
          </a:p>
        </p:txBody>
      </p:sp>
    </p:spTree>
    <p:extLst>
      <p:ext uri="{BB962C8B-B14F-4D97-AF65-F5344CB8AC3E}">
        <p14:creationId xmlns:p14="http://schemas.microsoft.com/office/powerpoint/2010/main" val="1029704568"/>
      </p:ext>
    </p:extLst>
  </p:cSld>
</p:sld>
</file>

<file path=ppt/slides/slide4.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7" name="text-35mw1a-0">
            <a:extLst xmlns:a="http://schemas.openxmlformats.org/drawingml/2006/main">
              <a:ext uri="{FF2B5EF4-FFF2-40B4-BE49-F238E27FC236}">
                <a16:creationId xmlns:a16="http://schemas.microsoft.com/office/drawing/2014/main" id="{7D066E24-F035-4338-8394-3A6149573F21}"/>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Dispatch dates set stock priority</a:t>
            </a:r>
          </a:p>
        </p:txBody>
      </p:sp>
      <p:sp>
        <p:nvSpPr>
          <p:cNvPr id="2" name="text-35mw1a-1">
            <a:extLst xmlns:a="http://schemas.openxmlformats.org/drawingml/2006/main">
              <a:ext uri="{FF2B5EF4-FFF2-40B4-BE49-F238E27FC236}">
                <a16:creationId xmlns:a16="http://schemas.microsoft.com/office/drawing/2014/main" id="{6E055178-A224-466E-8AC8-F28418409C96}"/>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Initial allocation of 500 finished units across three orders.</a:t>
            </a:r>
          </a:p>
        </p:txBody>
      </p:sp>
      <p:sp>
        <p:nvSpPr>
          <p:cNvPr id="3" name="text-35mw1a-2">
            <a:extLst xmlns:a="http://schemas.openxmlformats.org/drawingml/2006/main">
              <a:ext uri="{FF2B5EF4-FFF2-40B4-BE49-F238E27FC236}">
                <a16:creationId xmlns:a16="http://schemas.microsoft.com/office/drawing/2014/main" id="{FC0F5C60-7670-4461-A6E3-28F1E6BCCCA7}"/>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35mw1a-3">
            <a:extLst xmlns:a="http://schemas.openxmlformats.org/drawingml/2006/main">
              <a:ext uri="{FF2B5EF4-FFF2-40B4-BE49-F238E27FC236}">
                <a16:creationId xmlns:a16="http://schemas.microsoft.com/office/drawing/2014/main" id="{BA8CB793-BA59-43AB-9F0C-D023005ECD4D}"/>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04 / 14</a:t>
            </a:r>
          </a:p>
        </p:txBody>
      </p:sp>
      <p:graphicFrame>
        <p:nvGraphicFramePr>
          <p:cNvPr id="5" name="">
            <a:extLst xmlns:a="http://schemas.openxmlformats.org/drawingml/2006/main">
              <a:ext uri="{FF2B5EF4-FFF2-40B4-BE49-F238E27FC236}">
                <a16:creationId xmlns:a16="http://schemas.microsoft.com/office/drawing/2014/main" id="{C1FD78A6-D9D7-4A60-A439-9C45386A894B}"/>
              </a:ext>
            </a:extLst>
          </p:cNvPr>
          <p:cNvGraphicFramePr/>
          <p:nvPr/>
        </p:nvGraphicFramePr>
        <p:xfrm>
          <a:off xmlns:a="http://schemas.openxmlformats.org/drawingml/2006/main" x="609600" y="2000250"/>
          <a:ext xmlns:a="http://schemas.openxmlformats.org/drawingml/2006/main" cx="10972800" cy="3190875"/>
        </p:xfrm>
        <a:graphic xmlns:a="http://schemas.openxmlformats.org/drawingml/2006/main">
          <a:graphicData uri="http://schemas.openxmlformats.org/drawingml/2006/table">
            <a:tbl>
              <a:tblPr firstRow="1" bandRow="0"/>
              <a:tblGrid>
                <a:gridCol w="1000125"/>
                <a:gridCol w="3333750"/>
                <a:gridCol w="1428750"/>
                <a:gridCol w="2857500"/>
                <a:gridCol w="2352675"/>
              </a:tblGrid>
              <a:tr h="638175">
                <a:tc>
                  <a:txBody>
                    <a:bodyPr lIns="95250" tIns="95250" rIns="95250" bIns="95250"/>
                    <a:lstStyle/>
                    <a:p>
                      <a:r>
                        <a:rPr sz="1800" b="1">
                          <a:solidFill>
                            <a:srgbClr val="FFFFFF"/>
                          </a:solidFill>
                          <a:latin typeface="Arial"/>
                          <a:ea typeface="Arial"/>
                          <a:cs typeface="Arial"/>
                        </a:rPr>
                        <a:t>Order</a:t>
                      </a:r>
                    </a:p>
                  </a:txBody>
                  <a:tcPr marL="91440" marR="91440" marT="45720" marB="45720" anchor="ctr">
                    <a:lnL w="9525">
                      <a:solidFill>
                        <a:srgbClr val="D6E1DE"/>
                      </a:solidFill>
                      <a:prstDash val="solid"/>
                    </a:lnL>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c>
                  <a:txBody>
                    <a:bodyPr lIns="95250" tIns="95250" rIns="95250" bIns="95250"/>
                    <a:lstStyle/>
                    <a:p>
                      <a:r>
                        <a:rPr sz="1800" b="1">
                          <a:solidFill>
                            <a:srgbClr val="FFFFFF"/>
                          </a:solidFill>
                          <a:latin typeface="Arial"/>
                          <a:ea typeface="Arial"/>
                          <a:cs typeface="Arial"/>
                        </a:rPr>
                        <a:t>Shipment policy</a:t>
                      </a:r>
                    </a:p>
                  </a:txBody>
                  <a:tcPr marL="91440" marR="91440" marT="45720" marB="45720" anchor="ctr">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c>
                  <a:txBody>
                    <a:bodyPr lIns="95250" tIns="95250" rIns="95250" bIns="95250"/>
                    <a:lstStyle/>
                    <a:p>
                      <a:r>
                        <a:rPr sz="1800" b="1">
                          <a:solidFill>
                            <a:srgbClr val="FFFFFF"/>
                          </a:solidFill>
                          <a:latin typeface="Arial"/>
                          <a:ea typeface="Arial"/>
                          <a:cs typeface="Arial"/>
                        </a:rPr>
                        <a:t>Ordered</a:t>
                      </a:r>
                    </a:p>
                  </a:txBody>
                  <a:tcPr marL="91440" marR="91440" marT="45720" marB="45720" anchor="ctr">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c>
                  <a:txBody>
                    <a:bodyPr lIns="95250" tIns="95250" rIns="95250" bIns="95250"/>
                    <a:lstStyle/>
                    <a:p>
                      <a:r>
                        <a:rPr sz="1800" b="1">
                          <a:solidFill>
                            <a:srgbClr val="FFFFFF"/>
                          </a:solidFill>
                          <a:latin typeface="Arial"/>
                          <a:ea typeface="Arial"/>
                          <a:cs typeface="Arial"/>
                        </a:rPr>
                        <a:t>Dispatch date</a:t>
                      </a:r>
                    </a:p>
                  </a:txBody>
                  <a:tcPr marL="91440" marR="91440" marT="45720" marB="45720" anchor="ctr">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c>
                  <a:txBody>
                    <a:bodyPr lIns="95250" tIns="95250" rIns="95250" bIns="95250"/>
                    <a:lstStyle/>
                    <a:p>
                      <a:r>
                        <a:rPr sz="1800" b="1">
                          <a:solidFill>
                            <a:srgbClr val="FFFFFF"/>
                          </a:solidFill>
                          <a:latin typeface="Arial"/>
                          <a:ea typeface="Arial"/>
                          <a:cs typeface="Arial"/>
                        </a:rPr>
                        <a:t>Allocated</a:t>
                      </a:r>
                    </a:p>
                  </a:txBody>
                  <a:tcPr marL="91440" marR="91440" marT="45720" marB="45720" anchor="ctr">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r>
              <a:tr h="638175">
                <a:tc>
                  <a:txBody>
                    <a:bodyPr lIns="95250" tIns="95250" rIns="95250" bIns="95250"/>
                    <a:lstStyle/>
                    <a:p>
                      <a:r>
                        <a:rPr sz="1800" b="0">
                          <a:solidFill>
                            <a:srgbClr val="183444"/>
                          </a:solidFill>
                          <a:latin typeface="Arial"/>
                          <a:ea typeface="Arial"/>
                          <a:cs typeface="Arial"/>
                        </a:rPr>
                        <a:t>A</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Individual: complete</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200</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15 Dec 2026</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200</a:t>
                      </a:r>
                    </a:p>
                  </a:txBody>
                  <a:tcPr marL="91440" marR="91440" marT="45720" marB="45720" anchor="ctr">
                    <a:lnR w="9525">
                      <a:solidFill>
                        <a:srgbClr val="D6E1DE"/>
                      </a:solidFill>
                      <a:prstDash val="solid"/>
                    </a:lnR>
                    <a:lnB w="9525">
                      <a:solidFill>
                        <a:srgbClr val="D6E1DE"/>
                      </a:solidFill>
                      <a:prstDash val="solid"/>
                    </a:lnB>
                    <a:solidFill>
                      <a:srgbClr val="FFFFFF"/>
                    </a:solidFill>
                  </a:tcPr>
                </a:tc>
              </a:tr>
              <a:tr h="638175">
                <a:tc>
                  <a:txBody>
                    <a:bodyPr lIns="95250" tIns="95250" rIns="95250" bIns="95250"/>
                    <a:lstStyle/>
                    <a:p>
                      <a:r>
                        <a:rPr sz="1800" b="0">
                          <a:solidFill>
                            <a:srgbClr val="183444"/>
                          </a:solidFill>
                          <a:latin typeface="Arial"/>
                          <a:ea typeface="Arial"/>
                          <a:cs typeface="Arial"/>
                        </a:rPr>
                        <a:t>B</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EEF3F1"/>
                    </a:solidFill>
                  </a:tcPr>
                </a:tc>
                <a:tc>
                  <a:txBody>
                    <a:bodyPr lIns="95250" tIns="95250" rIns="95250" bIns="95250"/>
                    <a:lstStyle/>
                    <a:p>
                      <a:r>
                        <a:rPr sz="1800" b="0">
                          <a:solidFill>
                            <a:srgbClr val="183444"/>
                          </a:solidFill>
                          <a:latin typeface="Arial"/>
                          <a:ea typeface="Arial"/>
                          <a:cs typeface="Arial"/>
                        </a:rPr>
                        <a:t>Corporate: batches</a:t>
                      </a:r>
                    </a:p>
                  </a:txBody>
                  <a:tcPr marL="91440" marR="91440" marT="45720" marB="45720" anchor="ctr">
                    <a:lnR w="9525">
                      <a:solidFill>
                        <a:srgbClr val="D6E1DE"/>
                      </a:solidFill>
                      <a:prstDash val="solid"/>
                    </a:lnR>
                    <a:lnB w="9525">
                      <a:solidFill>
                        <a:srgbClr val="D6E1DE"/>
                      </a:solidFill>
                      <a:prstDash val="solid"/>
                    </a:lnB>
                    <a:solidFill>
                      <a:srgbClr val="EEF3F1"/>
                    </a:solidFill>
                  </a:tcPr>
                </a:tc>
                <a:tc>
                  <a:txBody>
                    <a:bodyPr lIns="95250" tIns="95250" rIns="95250" bIns="95250"/>
                    <a:lstStyle/>
                    <a:p>
                      <a:r>
                        <a:rPr sz="1800" b="0">
                          <a:solidFill>
                            <a:srgbClr val="183444"/>
                          </a:solidFill>
                          <a:latin typeface="Arial"/>
                          <a:ea typeface="Arial"/>
                          <a:cs typeface="Arial"/>
                        </a:rPr>
                        <a:t>600</a:t>
                      </a:r>
                    </a:p>
                  </a:txBody>
                  <a:tcPr marL="91440" marR="91440" marT="45720" marB="45720" anchor="ctr">
                    <a:lnR w="9525">
                      <a:solidFill>
                        <a:srgbClr val="D6E1DE"/>
                      </a:solidFill>
                      <a:prstDash val="solid"/>
                    </a:lnR>
                    <a:lnB w="9525">
                      <a:solidFill>
                        <a:srgbClr val="D6E1DE"/>
                      </a:solidFill>
                      <a:prstDash val="solid"/>
                    </a:lnB>
                    <a:solidFill>
                      <a:srgbClr val="EEF3F1"/>
                    </a:solidFill>
                  </a:tcPr>
                </a:tc>
                <a:tc>
                  <a:txBody>
                    <a:bodyPr lIns="95250" tIns="95250" rIns="95250" bIns="95250"/>
                    <a:lstStyle/>
                    <a:p>
                      <a:r>
                        <a:rPr sz="1800" b="0">
                          <a:solidFill>
                            <a:srgbClr val="183444"/>
                          </a:solidFill>
                          <a:latin typeface="Arial"/>
                          <a:ea typeface="Arial"/>
                          <a:cs typeface="Arial"/>
                        </a:rPr>
                        <a:t>16 Dec 2026</a:t>
                      </a:r>
                    </a:p>
                  </a:txBody>
                  <a:tcPr marL="91440" marR="91440" marT="45720" marB="45720" anchor="ctr">
                    <a:lnR w="9525">
                      <a:solidFill>
                        <a:srgbClr val="D6E1DE"/>
                      </a:solidFill>
                      <a:prstDash val="solid"/>
                    </a:lnR>
                    <a:lnB w="9525">
                      <a:solidFill>
                        <a:srgbClr val="D6E1DE"/>
                      </a:solidFill>
                      <a:prstDash val="solid"/>
                    </a:lnB>
                    <a:solidFill>
                      <a:srgbClr val="EEF3F1"/>
                    </a:solidFill>
                  </a:tcPr>
                </a:tc>
                <a:tc>
                  <a:txBody>
                    <a:bodyPr lIns="95250" tIns="95250" rIns="95250" bIns="95250"/>
                    <a:lstStyle/>
                    <a:p>
                      <a:r>
                        <a:rPr sz="1800" b="0">
                          <a:solidFill>
                            <a:srgbClr val="183444"/>
                          </a:solidFill>
                          <a:latin typeface="Arial"/>
                          <a:ea typeface="Arial"/>
                          <a:cs typeface="Arial"/>
                        </a:rPr>
                        <a:t>300</a:t>
                      </a:r>
                    </a:p>
                  </a:txBody>
                  <a:tcPr marL="91440" marR="91440" marT="45720" marB="45720" anchor="ctr">
                    <a:lnR w="9525">
                      <a:solidFill>
                        <a:srgbClr val="D6E1DE"/>
                      </a:solidFill>
                      <a:prstDash val="solid"/>
                    </a:lnR>
                    <a:lnB w="9525">
                      <a:solidFill>
                        <a:srgbClr val="D6E1DE"/>
                      </a:solidFill>
                      <a:prstDash val="solid"/>
                    </a:lnB>
                    <a:solidFill>
                      <a:srgbClr val="EEF3F1"/>
                    </a:solidFill>
                  </a:tcPr>
                </a:tc>
              </a:tr>
              <a:tr h="638175">
                <a:tc>
                  <a:txBody>
                    <a:bodyPr lIns="95250" tIns="95250" rIns="95250" bIns="95250"/>
                    <a:lstStyle/>
                    <a:p>
                      <a:r>
                        <a:rPr sz="1800" b="0">
                          <a:solidFill>
                            <a:srgbClr val="183444"/>
                          </a:solidFill>
                          <a:latin typeface="Arial"/>
                          <a:ea typeface="Arial"/>
                          <a:cs typeface="Arial"/>
                        </a:rPr>
                        <a:t>C</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Individual: complete</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100</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17 Dec 2026</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0</a:t>
                      </a:r>
                    </a:p>
                  </a:txBody>
                  <a:tcPr marL="91440" marR="91440" marT="45720" marB="45720" anchor="ctr">
                    <a:lnR w="9525">
                      <a:solidFill>
                        <a:srgbClr val="D6E1DE"/>
                      </a:solidFill>
                      <a:prstDash val="solid"/>
                    </a:lnR>
                    <a:lnB w="9525">
                      <a:solidFill>
                        <a:srgbClr val="D6E1DE"/>
                      </a:solidFill>
                      <a:prstDash val="solid"/>
                    </a:lnB>
                    <a:solidFill>
                      <a:srgbClr val="FFFFFF"/>
                    </a:solidFill>
                  </a:tcPr>
                </a:tc>
              </a:tr>
              <a:tr h="638175">
                <a:tc>
                  <a:txBody>
                    <a:bodyPr lIns="95250" tIns="95250" rIns="95250" bIns="95250"/>
                    <a:lstStyle/>
                    <a:p>
                      <a:r>
                        <a:rPr sz="1800" b="0">
                          <a:solidFill>
                            <a:srgbClr val="183444"/>
                          </a:solidFill>
                          <a:latin typeface="Arial"/>
                          <a:ea typeface="Arial"/>
                          <a:cs typeface="Arial"/>
                        </a:rPr>
                        <a:t>Total</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EEF3F1"/>
                    </a:solidFill>
                  </a:tcPr>
                </a:tc>
                <a:tc>
                  <a:txBody>
                    <a:bodyPr lIns="95250" tIns="95250" rIns="95250" bIns="95250"/>
                    <a:lstStyle/>
                    <a:p>
                      <a:r>
                        <a:rPr sz="1800" b="0">
                          <a:solidFill>
                            <a:srgbClr val="183444"/>
                          </a:solidFill>
                          <a:latin typeface="Arial"/>
                          <a:ea typeface="Arial"/>
                          <a:cs typeface="Arial"/>
                        </a:rPr>
                        <a:t/>
                      </a:r>
                    </a:p>
                  </a:txBody>
                  <a:tcPr marL="91440" marR="91440" marT="45720" marB="45720" anchor="ctr">
                    <a:lnR w="9525">
                      <a:solidFill>
                        <a:srgbClr val="D6E1DE"/>
                      </a:solidFill>
                      <a:prstDash val="solid"/>
                    </a:lnR>
                    <a:lnB w="9525">
                      <a:solidFill>
                        <a:srgbClr val="D6E1DE"/>
                      </a:solidFill>
                      <a:prstDash val="solid"/>
                    </a:lnB>
                    <a:solidFill>
                      <a:srgbClr val="EEF3F1"/>
                    </a:solidFill>
                  </a:tcPr>
                </a:tc>
                <a:tc>
                  <a:txBody>
                    <a:bodyPr lIns="95250" tIns="95250" rIns="95250" bIns="95250"/>
                    <a:lstStyle/>
                    <a:p>
                      <a:r>
                        <a:rPr sz="1800" b="0">
                          <a:solidFill>
                            <a:srgbClr val="183444"/>
                          </a:solidFill>
                          <a:latin typeface="Arial"/>
                          <a:ea typeface="Arial"/>
                          <a:cs typeface="Arial"/>
                        </a:rPr>
                        <a:t>900</a:t>
                      </a:r>
                    </a:p>
                  </a:txBody>
                  <a:tcPr marL="91440" marR="91440" marT="45720" marB="45720" anchor="ctr">
                    <a:lnR w="9525">
                      <a:solidFill>
                        <a:srgbClr val="D6E1DE"/>
                      </a:solidFill>
                      <a:prstDash val="solid"/>
                    </a:lnR>
                    <a:lnB w="9525">
                      <a:solidFill>
                        <a:srgbClr val="D6E1DE"/>
                      </a:solidFill>
                      <a:prstDash val="solid"/>
                    </a:lnB>
                    <a:solidFill>
                      <a:srgbClr val="EEF3F1"/>
                    </a:solidFill>
                  </a:tcPr>
                </a:tc>
                <a:tc>
                  <a:txBody>
                    <a:bodyPr lIns="95250" tIns="95250" rIns="95250" bIns="95250"/>
                    <a:lstStyle/>
                    <a:p>
                      <a:r>
                        <a:rPr sz="1800" b="0">
                          <a:solidFill>
                            <a:srgbClr val="183444"/>
                          </a:solidFill>
                          <a:latin typeface="Arial"/>
                          <a:ea typeface="Arial"/>
                          <a:cs typeface="Arial"/>
                        </a:rPr>
                        <a:t/>
                      </a:r>
                    </a:p>
                  </a:txBody>
                  <a:tcPr marL="91440" marR="91440" marT="45720" marB="45720" anchor="ctr">
                    <a:lnR w="9525">
                      <a:solidFill>
                        <a:srgbClr val="D6E1DE"/>
                      </a:solidFill>
                      <a:prstDash val="solid"/>
                    </a:lnR>
                    <a:lnB w="9525">
                      <a:solidFill>
                        <a:srgbClr val="D6E1DE"/>
                      </a:solidFill>
                      <a:prstDash val="solid"/>
                    </a:lnB>
                    <a:solidFill>
                      <a:srgbClr val="EEF3F1"/>
                    </a:solidFill>
                  </a:tcPr>
                </a:tc>
                <a:tc>
                  <a:txBody>
                    <a:bodyPr lIns="95250" tIns="95250" rIns="95250" bIns="95250"/>
                    <a:lstStyle/>
                    <a:p>
                      <a:r>
                        <a:rPr sz="1800" b="0">
                          <a:solidFill>
                            <a:srgbClr val="183444"/>
                          </a:solidFill>
                          <a:latin typeface="Arial"/>
                          <a:ea typeface="Arial"/>
                          <a:cs typeface="Arial"/>
                        </a:rPr>
                        <a:t>500</a:t>
                      </a:r>
                    </a:p>
                  </a:txBody>
                  <a:tcPr marL="91440" marR="91440" marT="45720" marB="45720" anchor="ctr">
                    <a:lnR w="9525">
                      <a:solidFill>
                        <a:srgbClr val="D6E1DE"/>
                      </a:solidFill>
                      <a:prstDash val="solid"/>
                    </a:lnR>
                    <a:lnB w="9525">
                      <a:solidFill>
                        <a:srgbClr val="D6E1DE"/>
                      </a:solidFill>
                      <a:prstDash val="solid"/>
                    </a:lnB>
                    <a:solidFill>
                      <a:srgbClr val="EEF3F1"/>
                    </a:solidFill>
                  </a:tcPr>
                </a:tc>
              </a:tr>
            </a:tbl>
          </a:graphicData>
        </a:graphic>
      </p:graphicFrame>
      <p:sp>
        <p:nvSpPr>
          <p:cNvPr id="6" name="text-35mw1a-4">
            <a:extLst xmlns:a="http://schemas.openxmlformats.org/drawingml/2006/main">
              <a:ext uri="{FF2B5EF4-FFF2-40B4-BE49-F238E27FC236}">
                <a16:creationId xmlns:a16="http://schemas.microsoft.com/office/drawing/2014/main" id="{43AD59EE-5EEC-4F29-9714-6731335BF590}"/>
              </a:ext>
            </a:extLst>
          </p:cNvPr>
          <p:cNvSpPr>
            <a:spLocks xmlns:a="http://schemas.openxmlformats.org/drawingml/2006/main" noGrp="1"/>
          </p:cNvSpPr>
          <p:nvPr/>
        </p:nvSpPr>
        <p:spPr>
          <a:xfrm xmlns:a="http://schemas.openxmlformats.org/drawingml/2006/main">
            <a:off x="609600" y="55245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96A6E"/>
                </a:solidFill>
                <a:latin typeface="Arial"/>
                <a:ea typeface="Arial"/>
                <a:cs typeface="Arial"/>
              </a:defRPr>
            </a:defPPr>
          </a:lstStyle>
          <a:p xmlns:a="http://schemas.openxmlformats.org/drawingml/2006/main">
            <a:pPr algn="l">
              <a:defRPr sz="2250" b="1">
                <a:solidFill>
                  <a:srgbClr val="096A6E"/>
                </a:solidFill>
                <a:latin typeface="Arial"/>
                <a:ea typeface="Arial"/>
                <a:cs typeface="Arial"/>
              </a:defRPr>
            </a:pPr>
            <a:r>
              <a:rPr sz="2250" b="1">
                <a:solidFill>
                  <a:srgbClr val="096A6E"/>
                </a:solidFill>
                <a:latin typeface="Arial"/>
                <a:ea typeface="Arial"/>
                <a:cs typeface="Arial"/>
              </a:rPr>
              <a:t>The accepted dispatch date sets priority for both customer types.</a:t>
            </a:r>
          </a:p>
        </p:txBody>
      </p:sp>
    </p:spTree>
    <p:extLst>
      <p:ext uri="{BB962C8B-B14F-4D97-AF65-F5344CB8AC3E}">
        <p14:creationId xmlns:p14="http://schemas.microsoft.com/office/powerpoint/2010/main" val="58262551"/>
      </p:ext>
    </p:extLst>
  </p:cSld>
</p:sld>
</file>

<file path=ppt/slides/slide5.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7" name="text-jse2qn-0">
            <a:extLst xmlns:a="http://schemas.openxmlformats.org/drawingml/2006/main">
              <a:ext uri="{FF2B5EF4-FFF2-40B4-BE49-F238E27FC236}">
                <a16:creationId xmlns:a16="http://schemas.microsoft.com/office/drawing/2014/main" id="{DCFB55C2-63EB-41B2-8A95-77541390DDEC}"/>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A new date needs customer acceptance</a:t>
            </a:r>
          </a:p>
        </p:txBody>
      </p:sp>
      <p:sp>
        <p:nvSpPr>
          <p:cNvPr id="2" name="text-jse2qn-1">
            <a:extLst xmlns:a="http://schemas.openxmlformats.org/drawingml/2006/main">
              <a:ext uri="{FF2B5EF4-FFF2-40B4-BE49-F238E27FC236}">
                <a16:creationId xmlns:a16="http://schemas.microsoft.com/office/drawing/2014/main" id="{AFA3F256-928B-4F4A-92AF-C8A496A6BEFC}"/>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Order B: 16 December originally, 14 December after recorded acceptance.</a:t>
            </a:r>
          </a:p>
        </p:txBody>
      </p:sp>
      <p:sp>
        <p:nvSpPr>
          <p:cNvPr id="3" name="text-jse2qn-2">
            <a:extLst xmlns:a="http://schemas.openxmlformats.org/drawingml/2006/main">
              <a:ext uri="{FF2B5EF4-FFF2-40B4-BE49-F238E27FC236}">
                <a16:creationId xmlns:a16="http://schemas.microsoft.com/office/drawing/2014/main" id="{C9D0824C-B028-4195-8D5B-A7DB59AEC516}"/>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jse2qn-3">
            <a:extLst xmlns:a="http://schemas.openxmlformats.org/drawingml/2006/main">
              <a:ext uri="{FF2B5EF4-FFF2-40B4-BE49-F238E27FC236}">
                <a16:creationId xmlns:a16="http://schemas.microsoft.com/office/drawing/2014/main" id="{5F1512E0-9B70-4ABE-847A-7267B0E8DC61}"/>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05 / 14</a:t>
            </a:r>
          </a:p>
        </p:txBody>
      </p:sp>
      <p:pic>
        <p:nvPicPr>
          <p:cNvPr id="5" name="">
            <a:extLst xmlns:a="http://schemas.openxmlformats.org/drawingml/2006/main">
              <a:ext uri="{FF2B5EF4-FFF2-40B4-BE49-F238E27FC236}">
                <a16:creationId xmlns:a16="http://schemas.microsoft.com/office/drawing/2014/main" id="{3D20C360-CE10-4DE2-84A2-C04AFD26A427}"/>
              </a:ext>
            </a:extLst>
          </p:cNvPr>
          <p:cNvPicPr>
            <a:picLocks xmlns:a="http://schemas.openxmlformats.org/drawingml/2006/main" noChangeAspect="1"/>
          </p:cNvPicPr>
          <p:nvPr/>
        </p:nvPicPr>
        <p:blipFill>
          <a:blip xmlns:r="http://schemas.openxmlformats.org/officeDocument/2006/relationships" xmlns:a="http://schemas.openxmlformats.org/drawingml/2006/main" r:embed="Rf96d900930f642bd"/>
          <a:srcRect xmlns:a="http://schemas.openxmlformats.org/drawingml/2006/main" l="1563" t="34722" r="18750" b="13611"/>
          <a:stretch xmlns:a="http://schemas.openxmlformats.org/drawingml/2006/main"/>
        </p:blipFill>
        <p:spPr>
          <a:xfrm xmlns:a="http://schemas.openxmlformats.org/drawingml/2006/main">
            <a:off x="609600" y="1981200"/>
            <a:ext cx="10972800" cy="3333750"/>
          </a:xfrm>
          <a:prstGeom xmlns:a="http://schemas.openxmlformats.org/drawingml/2006/main" prst="rect">
            <a:avLst/>
          </a:prstGeom>
        </p:spPr>
      </p:pic>
      <p:sp>
        <p:nvSpPr>
          <p:cNvPr id="6" name="text-jse2qn-4">
            <a:extLst xmlns:a="http://schemas.openxmlformats.org/drawingml/2006/main">
              <a:ext uri="{FF2B5EF4-FFF2-40B4-BE49-F238E27FC236}">
                <a16:creationId xmlns:a16="http://schemas.microsoft.com/office/drawing/2014/main" id="{63702310-BF5B-4CE2-9CA2-265A024E13B9}"/>
              </a:ext>
            </a:extLst>
          </p:cNvPr>
          <p:cNvSpPr>
            <a:spLocks xmlns:a="http://schemas.openxmlformats.org/drawingml/2006/main" noGrp="1"/>
          </p:cNvSpPr>
          <p:nvPr/>
        </p:nvSpPr>
        <p:spPr>
          <a:xfrm xmlns:a="http://schemas.openxmlformats.org/drawingml/2006/main">
            <a:off x="609600" y="55435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96A6E"/>
                </a:solidFill>
                <a:latin typeface="Arial"/>
                <a:ea typeface="Arial"/>
                <a:cs typeface="Arial"/>
              </a:defRPr>
            </a:defPPr>
          </a:lstStyle>
          <a:p xmlns:a="http://schemas.openxmlformats.org/drawingml/2006/main">
            <a:pPr algn="l">
              <a:defRPr sz="2025" b="1">
                <a:solidFill>
                  <a:srgbClr val="096A6E"/>
                </a:solidFill>
                <a:latin typeface="Arial"/>
                <a:ea typeface="Arial"/>
                <a:cs typeface="Arial"/>
              </a:defRPr>
            </a:pPr>
            <a:r>
              <a:rPr sz="2025" b="1">
                <a:solidFill>
                  <a:srgbClr val="096A6E"/>
                </a:solidFill>
                <a:latin typeface="Arial"/>
                <a:ea typeface="Arial"/>
                <a:cs typeface="Arial"/>
              </a:rPr>
              <a:t>Acceptance of a valid proposal updates the date.</a:t>
            </a:r>
          </a:p>
          <a:p xmlns:a="http://schemas.openxmlformats.org/drawingml/2006/main">
            <a:pPr algn="l">
              <a:defRPr sz="2025" b="1">
                <a:solidFill>
                  <a:srgbClr val="096A6E"/>
                </a:solidFill>
                <a:latin typeface="Arial"/>
                <a:ea typeface="Arial"/>
                <a:cs typeface="Arial"/>
              </a:defRPr>
            </a:pPr>
            <a:r>
              <a:rPr sz="2025" b="1">
                <a:solidFill>
                  <a:srgbClr val="096A6E"/>
                </a:solidFill>
                <a:latin typeface="Arial"/>
                <a:ea typeface="Arial"/>
                <a:cs typeface="Arial"/>
              </a:rPr>
              <a:t>Pending or rejected proposals keep the current date.</a:t>
            </a:r>
          </a:p>
        </p:txBody>
      </p:sp>
    </p:spTree>
    <p:extLst>
      <p:ext uri="{BB962C8B-B14F-4D97-AF65-F5344CB8AC3E}">
        <p14:creationId xmlns:p14="http://schemas.microsoft.com/office/powerpoint/2010/main" val="1807312810"/>
      </p:ext>
    </p:extLst>
  </p:cSld>
</p:sld>
</file>

<file path=ppt/slides/slide6.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7" name="text-hobue5-0">
            <a:extLst xmlns:a="http://schemas.openxmlformats.org/drawingml/2006/main">
              <a:ext uri="{FF2B5EF4-FFF2-40B4-BE49-F238E27FC236}">
                <a16:creationId xmlns:a16="http://schemas.microsoft.com/office/drawing/2014/main" id="{018902C6-ED05-424C-8D24-4D8D6410404A}"/>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Stock follows the updated date</a:t>
            </a:r>
          </a:p>
        </p:txBody>
      </p:sp>
      <p:sp>
        <p:nvSpPr>
          <p:cNvPr id="2" name="text-hobue5-1">
            <a:extLst xmlns:a="http://schemas.openxmlformats.org/drawingml/2006/main">
              <a:ext uri="{FF2B5EF4-FFF2-40B4-BE49-F238E27FC236}">
                <a16:creationId xmlns:a16="http://schemas.microsoft.com/office/drawing/2014/main" id="{AB0AAD90-833C-402D-B341-1870E6B0C4A6}"/>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B's accepted 14 December date comes before A's 15 December date.</a:t>
            </a:r>
          </a:p>
        </p:txBody>
      </p:sp>
      <p:sp>
        <p:nvSpPr>
          <p:cNvPr id="3" name="text-hobue5-2">
            <a:extLst xmlns:a="http://schemas.openxmlformats.org/drawingml/2006/main">
              <a:ext uri="{FF2B5EF4-FFF2-40B4-BE49-F238E27FC236}">
                <a16:creationId xmlns:a16="http://schemas.microsoft.com/office/drawing/2014/main" id="{439EF22B-A65F-4AE2-95BE-CE661FF5C31F}"/>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hobue5-3">
            <a:extLst xmlns:a="http://schemas.openxmlformats.org/drawingml/2006/main">
              <a:ext uri="{FF2B5EF4-FFF2-40B4-BE49-F238E27FC236}">
                <a16:creationId xmlns:a16="http://schemas.microsoft.com/office/drawing/2014/main" id="{6116DC87-FBCE-4DC3-9FAC-F6407918C195}"/>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06 / 14</a:t>
            </a:r>
          </a:p>
        </p:txBody>
      </p:sp>
      <p:pic>
        <p:nvPicPr>
          <p:cNvPr id="5" name="">
            <a:extLst xmlns:a="http://schemas.openxmlformats.org/drawingml/2006/main">
              <a:ext uri="{FF2B5EF4-FFF2-40B4-BE49-F238E27FC236}">
                <a16:creationId xmlns:a16="http://schemas.microsoft.com/office/drawing/2014/main" id="{3170EAAD-7923-414E-8696-B9B53C642D28}"/>
              </a:ext>
            </a:extLst>
          </p:cNvPr>
          <p:cNvPicPr>
            <a:picLocks xmlns:a="http://schemas.openxmlformats.org/drawingml/2006/main" noChangeAspect="1"/>
          </p:cNvPicPr>
          <p:nvPr/>
        </p:nvPicPr>
        <p:blipFill>
          <a:blip xmlns:r="http://schemas.openxmlformats.org/officeDocument/2006/relationships" xmlns:a="http://schemas.openxmlformats.org/drawingml/2006/main" r:embed="R29ce4f58326f4cc6"/>
          <a:srcRect xmlns:a="http://schemas.openxmlformats.org/drawingml/2006/main" l="1953" t="22917" r="2734" b="20417"/>
          <a:stretch xmlns:a="http://schemas.openxmlformats.org/drawingml/2006/main"/>
        </p:blipFill>
        <p:spPr>
          <a:xfrm xmlns:a="http://schemas.openxmlformats.org/drawingml/2006/main">
            <a:off x="609600" y="1981200"/>
            <a:ext cx="10972800" cy="3667125"/>
          </a:xfrm>
          <a:prstGeom xmlns:a="http://schemas.openxmlformats.org/drawingml/2006/main" prst="rect">
            <a:avLst/>
          </a:prstGeom>
        </p:spPr>
      </p:pic>
      <p:sp>
        <p:nvSpPr>
          <p:cNvPr id="6" name="text-hobue5-4">
            <a:extLst xmlns:a="http://schemas.openxmlformats.org/drawingml/2006/main">
              <a:ext uri="{FF2B5EF4-FFF2-40B4-BE49-F238E27FC236}">
                <a16:creationId xmlns:a16="http://schemas.microsoft.com/office/drawing/2014/main" id="{E3343B95-5CAA-4E93-A523-EAE347FE940C}"/>
              </a:ext>
            </a:extLst>
          </p:cNvPr>
          <p:cNvSpPr>
            <a:spLocks xmlns:a="http://schemas.openxmlformats.org/drawingml/2006/main" noGrp="1"/>
          </p:cNvSpPr>
          <p:nvPr/>
        </p:nvSpPr>
        <p:spPr>
          <a:xfrm xmlns:a="http://schemas.openxmlformats.org/drawingml/2006/main">
            <a:off x="609600" y="58007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96A6E"/>
                </a:solidFill>
                <a:latin typeface="Arial"/>
                <a:ea typeface="Arial"/>
                <a:cs typeface="Arial"/>
              </a:defRPr>
            </a:defPPr>
          </a:lstStyle>
          <a:p xmlns:a="http://schemas.openxmlformats.org/drawingml/2006/main">
            <a:pPr algn="l">
              <a:defRPr sz="2025" b="1">
                <a:solidFill>
                  <a:srgbClr val="096A6E"/>
                </a:solidFill>
                <a:latin typeface="Arial"/>
                <a:ea typeface="Arial"/>
                <a:cs typeface="Arial"/>
              </a:defRPr>
            </a:pPr>
            <a:r>
              <a:rPr sz="2025" b="1">
                <a:solidFill>
                  <a:srgbClr val="096A6E"/>
                </a:solidFill>
                <a:latin typeface="Arial"/>
                <a:ea typeface="Arial"/>
                <a:cs typeface="Arial"/>
              </a:rPr>
              <a:t>B now has 500 units reserved. Prepared and outside reservations stay protected.</a:t>
            </a:r>
          </a:p>
        </p:txBody>
      </p:sp>
    </p:spTree>
    <p:extLst>
      <p:ext uri="{BB962C8B-B14F-4D97-AF65-F5344CB8AC3E}">
        <p14:creationId xmlns:p14="http://schemas.microsoft.com/office/powerpoint/2010/main" val="201253574"/>
      </p:ext>
    </p:extLst>
  </p:cSld>
</p:sld>
</file>

<file path=ppt/slides/slide7.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7" name="text-x5wgmk-0">
            <a:extLst xmlns:a="http://schemas.openxmlformats.org/drawingml/2006/main">
              <a:ext uri="{FF2B5EF4-FFF2-40B4-BE49-F238E27FC236}">
                <a16:creationId xmlns:a16="http://schemas.microsoft.com/office/drawing/2014/main" id="{D23478E8-CDE9-436B-A809-2FA68C247CA5}"/>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Individual orders ship in full</a:t>
            </a:r>
          </a:p>
        </p:txBody>
      </p:sp>
      <p:sp>
        <p:nvSpPr>
          <p:cNvPr id="2" name="text-x5wgmk-1">
            <a:extLst xmlns:a="http://schemas.openxmlformats.org/drawingml/2006/main">
              <a:ext uri="{FF2B5EF4-FFF2-40B4-BE49-F238E27FC236}">
                <a16:creationId xmlns:a16="http://schemas.microsoft.com/office/drawing/2014/main" id="{FE06D6E5-7F19-4E6B-BF17-2F7BBB264E74}"/>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Example: a user tries to ship 100 of the 200 units ordered.</a:t>
            </a:r>
          </a:p>
        </p:txBody>
      </p:sp>
      <p:sp>
        <p:nvSpPr>
          <p:cNvPr id="3" name="text-x5wgmk-2">
            <a:extLst xmlns:a="http://schemas.openxmlformats.org/drawingml/2006/main">
              <a:ext uri="{FF2B5EF4-FFF2-40B4-BE49-F238E27FC236}">
                <a16:creationId xmlns:a16="http://schemas.microsoft.com/office/drawing/2014/main" id="{3F758316-1C73-46B4-8413-E963377FA278}"/>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x5wgmk-3">
            <a:extLst xmlns:a="http://schemas.openxmlformats.org/drawingml/2006/main">
              <a:ext uri="{FF2B5EF4-FFF2-40B4-BE49-F238E27FC236}">
                <a16:creationId xmlns:a16="http://schemas.microsoft.com/office/drawing/2014/main" id="{51FBF393-4C0B-4CB0-997C-67B656962206}"/>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07 / 14</a:t>
            </a:r>
          </a:p>
        </p:txBody>
      </p:sp>
      <p:pic>
        <p:nvPicPr>
          <p:cNvPr id="5" name="">
            <a:extLst xmlns:a="http://schemas.openxmlformats.org/drawingml/2006/main">
              <a:ext uri="{FF2B5EF4-FFF2-40B4-BE49-F238E27FC236}">
                <a16:creationId xmlns:a16="http://schemas.microsoft.com/office/drawing/2014/main" id="{B6DA37F3-4FCE-478D-85B4-3B64C4396884}"/>
              </a:ext>
            </a:extLst>
          </p:cNvPr>
          <p:cNvPicPr>
            <a:picLocks xmlns:a="http://schemas.openxmlformats.org/drawingml/2006/main" noChangeAspect="1"/>
          </p:cNvPicPr>
          <p:nvPr/>
        </p:nvPicPr>
        <p:blipFill>
          <a:blip xmlns:r="http://schemas.openxmlformats.org/officeDocument/2006/relationships" xmlns:a="http://schemas.openxmlformats.org/drawingml/2006/main" r:embed="R6f11b432719745cd"/>
          <a:srcRect xmlns:a="http://schemas.openxmlformats.org/drawingml/2006/main" l="4688" t="35417" r="4688" b="22639"/>
          <a:stretch xmlns:a="http://schemas.openxmlformats.org/drawingml/2006/main"/>
        </p:blipFill>
        <p:spPr>
          <a:xfrm xmlns:a="http://schemas.openxmlformats.org/drawingml/2006/main">
            <a:off x="609600" y="2047875"/>
            <a:ext cx="10972800" cy="2857500"/>
          </a:xfrm>
          <a:prstGeom xmlns:a="http://schemas.openxmlformats.org/drawingml/2006/main" prst="rect">
            <a:avLst/>
          </a:prstGeom>
        </p:spPr>
      </p:pic>
      <p:sp>
        <p:nvSpPr>
          <p:cNvPr id="6" name="text-x5wgmk-4">
            <a:extLst xmlns:a="http://schemas.openxmlformats.org/drawingml/2006/main">
              <a:ext uri="{FF2B5EF4-FFF2-40B4-BE49-F238E27FC236}">
                <a16:creationId xmlns:a16="http://schemas.microsoft.com/office/drawing/2014/main" id="{ADCB4245-3D29-4580-ADF0-3F77ABF15A5B}"/>
              </a:ext>
            </a:extLst>
          </p:cNvPr>
          <p:cNvSpPr>
            <a:spLocks xmlns:a="http://schemas.openxmlformats.org/drawingml/2006/main" noGrp="1"/>
          </p:cNvSpPr>
          <p:nvPr/>
        </p:nvSpPr>
        <p:spPr>
          <a:xfrm xmlns:a="http://schemas.openxmlformats.org/drawingml/2006/main">
            <a:off x="609600" y="53340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96A6E"/>
                </a:solidFill>
                <a:latin typeface="Arial"/>
                <a:ea typeface="Arial"/>
                <a:cs typeface="Arial"/>
              </a:defRPr>
            </a:defPPr>
          </a:lstStyle>
          <a:p xmlns:a="http://schemas.openxmlformats.org/drawingml/2006/main">
            <a:pPr algn="l">
              <a:defRPr sz="2400" b="1">
                <a:solidFill>
                  <a:srgbClr val="096A6E"/>
                </a:solidFill>
                <a:latin typeface="Arial"/>
                <a:ea typeface="Arial"/>
                <a:cs typeface="Arial"/>
              </a:defRPr>
            </a:pPr>
            <a:r>
              <a:rPr sz="2400" b="1">
                <a:solidFill>
                  <a:srgbClr val="096A6E"/>
                </a:solidFill>
                <a:latin typeface="Arial"/>
                <a:ea typeface="Arial"/>
                <a:cs typeface="Arial"/>
              </a:rPr>
              <a:t>The partial shipment cannot be validated.</a:t>
            </a:r>
          </a:p>
        </p:txBody>
      </p:sp>
    </p:spTree>
    <p:extLst>
      <p:ext uri="{BB962C8B-B14F-4D97-AF65-F5344CB8AC3E}">
        <p14:creationId xmlns:p14="http://schemas.microsoft.com/office/powerpoint/2010/main" val="219592922"/>
      </p:ext>
    </p:extLst>
  </p:cSld>
</p:sld>
</file>

<file path=ppt/slides/slide8.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11" name="text-3332e2-0">
            <a:extLst xmlns:a="http://schemas.openxmlformats.org/drawingml/2006/main">
              <a:ext uri="{FF2B5EF4-FFF2-40B4-BE49-F238E27FC236}">
                <a16:creationId xmlns:a16="http://schemas.microsoft.com/office/drawing/2014/main" id="{A58792DE-E1BC-41B6-A361-62D6E77AFD7C}"/>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Corporate orders can ship in batches</a:t>
            </a:r>
          </a:p>
        </p:txBody>
      </p:sp>
      <p:sp>
        <p:nvSpPr>
          <p:cNvPr id="2" name="text-3332e2-1">
            <a:extLst xmlns:a="http://schemas.openxmlformats.org/drawingml/2006/main">
              <a:ext uri="{FF2B5EF4-FFF2-40B4-BE49-F238E27FC236}">
                <a16:creationId xmlns:a16="http://schemas.microsoft.com/office/drawing/2014/main" id="{64FECAA7-83EF-46E3-BB8E-5B7C9688974C}"/>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Browser example: 600 ordered, 300 shipped, 300 remaining.</a:t>
            </a:r>
          </a:p>
        </p:txBody>
      </p:sp>
      <p:sp>
        <p:nvSpPr>
          <p:cNvPr id="3" name="text-3332e2-2">
            <a:extLst xmlns:a="http://schemas.openxmlformats.org/drawingml/2006/main">
              <a:ext uri="{FF2B5EF4-FFF2-40B4-BE49-F238E27FC236}">
                <a16:creationId xmlns:a16="http://schemas.microsoft.com/office/drawing/2014/main" id="{69C69CBC-E9FC-4328-AB55-46C368C5E920}"/>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3332e2-3">
            <a:extLst xmlns:a="http://schemas.openxmlformats.org/drawingml/2006/main">
              <a:ext uri="{FF2B5EF4-FFF2-40B4-BE49-F238E27FC236}">
                <a16:creationId xmlns:a16="http://schemas.microsoft.com/office/drawing/2014/main" id="{8FEB1DF7-0A57-44B2-82E4-1D08059DCC3F}"/>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08 / 14</a:t>
            </a:r>
          </a:p>
        </p:txBody>
      </p:sp>
      <p:sp>
        <p:nvSpPr>
          <p:cNvPr id="5" name="text-3332e2-4">
            <a:extLst xmlns:a="http://schemas.openxmlformats.org/drawingml/2006/main">
              <a:ext uri="{FF2B5EF4-FFF2-40B4-BE49-F238E27FC236}">
                <a16:creationId xmlns:a16="http://schemas.microsoft.com/office/drawing/2014/main" id="{282DCA74-5FF2-4AAE-8B86-61710F64DA64}"/>
              </a:ext>
            </a:extLst>
          </p:cNvPr>
          <p:cNvSpPr>
            <a:spLocks xmlns:a="http://schemas.openxmlformats.org/drawingml/2006/main" noGrp="1"/>
          </p:cNvSpPr>
          <p:nvPr/>
        </p:nvSpPr>
        <p:spPr>
          <a:xfrm xmlns:a="http://schemas.openxmlformats.org/drawingml/2006/main">
            <a:off x="609600" y="19240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96A6E"/>
                </a:solidFill>
                <a:latin typeface="Arial"/>
                <a:ea typeface="Arial"/>
                <a:cs typeface="Arial"/>
              </a:defRPr>
            </a:defPPr>
          </a:lstStyle>
          <a:p xmlns:a="http://schemas.openxmlformats.org/drawingml/2006/main">
            <a:pPr algn="l">
              <a:defRPr sz="2400" b="1">
                <a:solidFill>
                  <a:srgbClr val="096A6E"/>
                </a:solidFill>
                <a:latin typeface="Arial"/>
                <a:ea typeface="Arial"/>
                <a:cs typeface="Arial"/>
              </a:defRPr>
            </a:pPr>
            <a:r>
              <a:rPr sz="2400" b="1">
                <a:solidFill>
                  <a:srgbClr val="096A6E"/>
                </a:solidFill>
                <a:latin typeface="Arial"/>
                <a:ea typeface="Arial"/>
                <a:cs typeface="Arial"/>
              </a:rPr>
              <a:t>300 shipped</a:t>
            </a:r>
          </a:p>
        </p:txBody>
      </p:sp>
      <p:sp>
        <p:nvSpPr>
          <p:cNvPr id="6" name="text-3332e2-5">
            <a:extLst xmlns:a="http://schemas.openxmlformats.org/drawingml/2006/main">
              <a:ext uri="{FF2B5EF4-FFF2-40B4-BE49-F238E27FC236}">
                <a16:creationId xmlns:a16="http://schemas.microsoft.com/office/drawing/2014/main" id="{22DA1F5A-49B2-4784-9A86-90DEBBD61282}"/>
              </a:ext>
            </a:extLst>
          </p:cNvPr>
          <p:cNvSpPr>
            <a:spLocks xmlns:a="http://schemas.openxmlformats.org/drawingml/2006/main" noGrp="1"/>
          </p:cNvSpPr>
          <p:nvPr/>
        </p:nvSpPr>
        <p:spPr>
          <a:xfrm xmlns:a="http://schemas.openxmlformats.org/drawingml/2006/main">
            <a:off x="6334125" y="1924050"/>
            <a:ext cx="5191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96A6E"/>
                </a:solidFill>
                <a:latin typeface="Arial"/>
                <a:ea typeface="Arial"/>
                <a:cs typeface="Arial"/>
              </a:defRPr>
            </a:defPPr>
          </a:lstStyle>
          <a:p xmlns:a="http://schemas.openxmlformats.org/drawingml/2006/main">
            <a:pPr algn="l">
              <a:defRPr sz="2400" b="1">
                <a:solidFill>
                  <a:srgbClr val="096A6E"/>
                </a:solidFill>
                <a:latin typeface="Arial"/>
                <a:ea typeface="Arial"/>
                <a:cs typeface="Arial"/>
              </a:defRPr>
            </a:pPr>
            <a:r>
              <a:rPr sz="2400" b="1">
                <a:solidFill>
                  <a:srgbClr val="096A6E"/>
                </a:solidFill>
                <a:latin typeface="Arial"/>
                <a:ea typeface="Arial"/>
                <a:cs typeface="Arial"/>
              </a:rPr>
              <a:t>300 remaining</a:t>
            </a:r>
          </a:p>
        </p:txBody>
      </p:sp>
      <p:pic>
        <p:nvPicPr>
          <p:cNvPr id="7" name="">
            <a:extLst xmlns:a="http://schemas.openxmlformats.org/drawingml/2006/main">
              <a:ext uri="{FF2B5EF4-FFF2-40B4-BE49-F238E27FC236}">
                <a16:creationId xmlns:a16="http://schemas.microsoft.com/office/drawing/2014/main" id="{8B22DBC2-123B-4658-95BF-052A87D526A2}"/>
              </a:ext>
            </a:extLst>
          </p:cNvPr>
          <p:cNvPicPr>
            <a:picLocks xmlns:a="http://schemas.openxmlformats.org/drawingml/2006/main" noChangeAspect="1"/>
          </p:cNvPicPr>
          <p:nvPr/>
        </p:nvPicPr>
        <p:blipFill>
          <a:blip xmlns:r="http://schemas.openxmlformats.org/officeDocument/2006/relationships" xmlns:a="http://schemas.openxmlformats.org/drawingml/2006/main" r:embed="R7442f90ec8784eb1"/>
          <a:srcRect xmlns:a="http://schemas.openxmlformats.org/drawingml/2006/main" l="50781" t="15278" r="1563" b="33333"/>
          <a:stretch xmlns:a="http://schemas.openxmlformats.org/drawingml/2006/main"/>
        </p:blipFill>
        <p:spPr>
          <a:xfrm xmlns:a="http://schemas.openxmlformats.org/drawingml/2006/main">
            <a:off x="609600" y="2476500"/>
            <a:ext cx="5238750" cy="27146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5AB3B8C-C10D-47EA-91C4-8CC0B4AFA658}"/>
              </a:ext>
            </a:extLst>
          </p:cNvPr>
          <p:cNvPicPr>
            <a:picLocks xmlns:a="http://schemas.openxmlformats.org/drawingml/2006/main" noChangeAspect="1"/>
          </p:cNvPicPr>
          <p:nvPr/>
        </p:nvPicPr>
        <p:blipFill>
          <a:blip xmlns:r="http://schemas.openxmlformats.org/officeDocument/2006/relationships" xmlns:a="http://schemas.openxmlformats.org/drawingml/2006/main" r:embed="R51e19d87aee04092"/>
          <a:srcRect xmlns:a="http://schemas.openxmlformats.org/drawingml/2006/main" l="50781" t="15278" r="1563" b="26389"/>
          <a:stretch xmlns:a="http://schemas.openxmlformats.org/drawingml/2006/main"/>
        </p:blipFill>
        <p:spPr>
          <a:xfrm xmlns:a="http://schemas.openxmlformats.org/drawingml/2006/main">
            <a:off x="6334125" y="2476500"/>
            <a:ext cx="5238750" cy="2714625"/>
          </a:xfrm>
          <a:prstGeom xmlns:a="http://schemas.openxmlformats.org/drawingml/2006/main" prst="rect">
            <a:avLst/>
          </a:prstGeom>
        </p:spPr>
      </p:pic>
      <p:sp>
        <p:nvSpPr>
          <p:cNvPr id="9" name="text-3332e2-6">
            <a:extLst xmlns:a="http://schemas.openxmlformats.org/drawingml/2006/main">
              <a:ext uri="{FF2B5EF4-FFF2-40B4-BE49-F238E27FC236}">
                <a16:creationId xmlns:a16="http://schemas.microsoft.com/office/drawing/2014/main" id="{0FA4F8AF-9F03-4D14-AE04-88F286D4AAEA}"/>
              </a:ext>
            </a:extLst>
          </p:cNvPr>
          <p:cNvSpPr>
            <a:spLocks xmlns:a="http://schemas.openxmlformats.org/drawingml/2006/main" noGrp="1"/>
          </p:cNvSpPr>
          <p:nvPr/>
        </p:nvSpPr>
        <p:spPr>
          <a:xfrm xmlns:a="http://schemas.openxmlformats.org/drawingml/2006/main">
            <a:off x="6334125" y="52387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200 reserved for the next batch</a:t>
            </a:r>
          </a:p>
        </p:txBody>
      </p:sp>
      <p:sp>
        <p:nvSpPr>
          <p:cNvPr id="10" name="text-3332e2-7">
            <a:extLst xmlns:a="http://schemas.openxmlformats.org/drawingml/2006/main">
              <a:ext uri="{FF2B5EF4-FFF2-40B4-BE49-F238E27FC236}">
                <a16:creationId xmlns:a16="http://schemas.microsoft.com/office/drawing/2014/main" id="{7889D98D-B04C-4459-9471-55114973C029}"/>
              </a:ext>
            </a:extLst>
          </p:cNvPr>
          <p:cNvSpPr>
            <a:spLocks xmlns:a="http://schemas.openxmlformats.org/drawingml/2006/main" noGrp="1"/>
          </p:cNvSpPr>
          <p:nvPr/>
        </p:nvSpPr>
        <p:spPr>
          <a:xfrm xmlns:a="http://schemas.openxmlformats.org/drawingml/2006/main">
            <a:off x="609600" y="57245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2A3A"/>
                </a:solidFill>
                <a:latin typeface="Arial"/>
                <a:ea typeface="Arial"/>
                <a:cs typeface="Arial"/>
              </a:defRPr>
            </a:defPPr>
          </a:lstStyle>
          <a:p xmlns:a="http://schemas.openxmlformats.org/drawingml/2006/main">
            <a:pPr algn="l">
              <a:defRPr sz="2250" b="1">
                <a:solidFill>
                  <a:srgbClr val="102A3A"/>
                </a:solidFill>
                <a:latin typeface="Arial"/>
                <a:ea typeface="Arial"/>
                <a:cs typeface="Arial"/>
              </a:defRPr>
            </a:pPr>
            <a:r>
              <a:rPr sz="2250" b="1">
                <a:solidFill>
                  <a:srgbClr val="102A3A"/>
                </a:solidFill>
                <a:latin typeface="Arial"/>
                <a:ea typeface="Arial"/>
                <a:cs typeface="Arial"/>
              </a:rPr>
              <a:t>The remaining 300 units stay on a backorder.</a:t>
            </a:r>
          </a:p>
        </p:txBody>
      </p:sp>
    </p:spTree>
    <p:extLst>
      <p:ext uri="{BB962C8B-B14F-4D97-AF65-F5344CB8AC3E}">
        <p14:creationId xmlns:p14="http://schemas.microsoft.com/office/powerpoint/2010/main" val="55831563"/>
      </p:ext>
    </p:extLst>
  </p:cSld>
</p:sld>
</file>

<file path=ppt/slides/slide9.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15" name="text-cpcnzk-0">
            <a:extLst xmlns:a="http://schemas.openxmlformats.org/drawingml/2006/main">
              <a:ext uri="{FF2B5EF4-FFF2-40B4-BE49-F238E27FC236}">
                <a16:creationId xmlns:a16="http://schemas.microsoft.com/office/drawing/2014/main" id="{259EB49C-42EC-417F-BBEC-D3F8FDCE5FFC}"/>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HALY produces the missing 400 units</a:t>
            </a:r>
          </a:p>
        </p:txBody>
      </p:sp>
      <p:sp>
        <p:nvSpPr>
          <p:cNvPr id="2" name="text-cpcnzk-1">
            <a:extLst xmlns:a="http://schemas.openxmlformats.org/drawingml/2006/main">
              <a:ext uri="{FF2B5EF4-FFF2-40B4-BE49-F238E27FC236}">
                <a16:creationId xmlns:a16="http://schemas.microsoft.com/office/drawing/2014/main" id="{0EFCFD51-C5EE-4794-B66C-603470210FB3}"/>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Two suppliers provide raw materials. HALY makes the finished product.</a:t>
            </a:r>
          </a:p>
        </p:txBody>
      </p:sp>
      <p:sp>
        <p:nvSpPr>
          <p:cNvPr id="3" name="text-cpcnzk-2">
            <a:extLst xmlns:a="http://schemas.openxmlformats.org/drawingml/2006/main">
              <a:ext uri="{FF2B5EF4-FFF2-40B4-BE49-F238E27FC236}">
                <a16:creationId xmlns:a16="http://schemas.microsoft.com/office/drawing/2014/main" id="{C3096D46-24F1-41D7-939A-B82935CF4E3B}"/>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cpcnzk-3">
            <a:extLst xmlns:a="http://schemas.openxmlformats.org/drawingml/2006/main">
              <a:ext uri="{FF2B5EF4-FFF2-40B4-BE49-F238E27FC236}">
                <a16:creationId xmlns:a16="http://schemas.microsoft.com/office/drawing/2014/main" id="{0A1FEEC4-02DC-476D-AE92-63B165DE0116}"/>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09 / 14</a:t>
            </a:r>
          </a:p>
        </p:txBody>
      </p:sp>
      <p:sp>
        <p:nvSpPr>
          <p:cNvPr id="5" name="text-cpcnzk-4">
            <a:extLst xmlns:a="http://schemas.openxmlformats.org/drawingml/2006/main">
              <a:ext uri="{FF2B5EF4-FFF2-40B4-BE49-F238E27FC236}">
                <a16:creationId xmlns:a16="http://schemas.microsoft.com/office/drawing/2014/main" id="{E8F717EB-C3E4-461E-86D9-10CC9CDF87D9}"/>
              </a:ext>
            </a:extLst>
          </p:cNvPr>
          <p:cNvSpPr>
            <a:spLocks xmlns:a="http://schemas.openxmlformats.org/drawingml/2006/main" noGrp="1"/>
          </p:cNvSpPr>
          <p:nvPr/>
        </p:nvSpPr>
        <p:spPr>
          <a:xfrm xmlns:a="http://schemas.openxmlformats.org/drawingml/2006/main">
            <a:off x="609600" y="1971675"/>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96A6E"/>
                </a:solidFill>
                <a:latin typeface="Arial"/>
                <a:ea typeface="Arial"/>
                <a:cs typeface="Arial"/>
              </a:defRPr>
            </a:defPPr>
          </a:lstStyle>
          <a:p xmlns:a="http://schemas.openxmlformats.org/drawingml/2006/main">
            <a:pPr algn="l">
              <a:defRPr sz="3150" b="1">
                <a:solidFill>
                  <a:srgbClr val="096A6E"/>
                </a:solidFill>
                <a:latin typeface="Arial"/>
                <a:ea typeface="Arial"/>
                <a:cs typeface="Arial"/>
              </a:defRPr>
            </a:pPr>
            <a:r>
              <a:rPr sz="3150" b="1">
                <a:solidFill>
                  <a:srgbClr val="096A6E"/>
                </a:solidFill>
                <a:latin typeface="Arial"/>
                <a:ea typeface="Arial"/>
                <a:cs typeface="Arial"/>
              </a:rPr>
              <a:t>01</a:t>
            </a:r>
          </a:p>
        </p:txBody>
      </p:sp>
      <p:sp>
        <p:nvSpPr>
          <p:cNvPr id="6" name="text-cpcnzk-5">
            <a:extLst xmlns:a="http://schemas.openxmlformats.org/drawingml/2006/main">
              <a:ext uri="{FF2B5EF4-FFF2-40B4-BE49-F238E27FC236}">
                <a16:creationId xmlns:a16="http://schemas.microsoft.com/office/drawing/2014/main" id="{59200116-B664-4190-8EE1-53BD86223B3E}"/>
              </a:ext>
            </a:extLst>
          </p:cNvPr>
          <p:cNvSpPr>
            <a:spLocks xmlns:a="http://schemas.openxmlformats.org/drawingml/2006/main" noGrp="1"/>
          </p:cNvSpPr>
          <p:nvPr/>
        </p:nvSpPr>
        <p:spPr>
          <a:xfrm xmlns:a="http://schemas.openxmlformats.org/drawingml/2006/main">
            <a:off x="1466850" y="1981200"/>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A3A"/>
                </a:solidFill>
                <a:latin typeface="Arial"/>
                <a:ea typeface="Arial"/>
                <a:cs typeface="Arial"/>
              </a:defRPr>
            </a:defPPr>
          </a:lstStyle>
          <a:p xmlns:a="http://schemas.openxmlformats.org/drawingml/2006/main">
            <a:pPr algn="l">
              <a:defRPr sz="2100" b="1">
                <a:solidFill>
                  <a:srgbClr val="102A3A"/>
                </a:solidFill>
                <a:latin typeface="Arial"/>
                <a:ea typeface="Arial"/>
                <a:cs typeface="Arial"/>
              </a:defRPr>
            </a:pPr>
            <a:r>
              <a:rPr sz="2100" b="1">
                <a:solidFill>
                  <a:srgbClr val="102A3A"/>
                </a:solidFill>
                <a:latin typeface="Arial"/>
                <a:ea typeface="Arial"/>
                <a:cs typeface="Arial"/>
              </a:rPr>
              <a:t>Purchase raw materials</a:t>
            </a:r>
          </a:p>
        </p:txBody>
      </p:sp>
      <p:sp>
        <p:nvSpPr>
          <p:cNvPr id="7" name="text-cpcnzk-6">
            <a:extLst xmlns:a="http://schemas.openxmlformats.org/drawingml/2006/main">
              <a:ext uri="{FF2B5EF4-FFF2-40B4-BE49-F238E27FC236}">
                <a16:creationId xmlns:a16="http://schemas.microsoft.com/office/drawing/2014/main" id="{0DCBB5CF-F163-4CDE-91D1-3C8DCEE89A82}"/>
              </a:ext>
            </a:extLst>
          </p:cNvPr>
          <p:cNvSpPr>
            <a:spLocks xmlns:a="http://schemas.openxmlformats.org/drawingml/2006/main" noGrp="1"/>
          </p:cNvSpPr>
          <p:nvPr/>
        </p:nvSpPr>
        <p:spPr>
          <a:xfrm xmlns:a="http://schemas.openxmlformats.org/drawingml/2006/main">
            <a:off x="1466850" y="2371725"/>
            <a:ext cx="990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Buy 400 units of each required input from two suppliers.</a:t>
            </a:r>
          </a:p>
        </p:txBody>
      </p:sp>
      <p:sp>
        <p:nvSpPr>
          <p:cNvPr id="8" name="text-cpcnzk-7">
            <a:extLst xmlns:a="http://schemas.openxmlformats.org/drawingml/2006/main">
              <a:ext uri="{FF2B5EF4-FFF2-40B4-BE49-F238E27FC236}">
                <a16:creationId xmlns:a16="http://schemas.microsoft.com/office/drawing/2014/main" id="{B64F95FC-71C8-44B5-8154-C18ECB7D30CE}"/>
              </a:ext>
            </a:extLst>
          </p:cNvPr>
          <p:cNvSpPr>
            <a:spLocks xmlns:a="http://schemas.openxmlformats.org/drawingml/2006/main" noGrp="1"/>
          </p:cNvSpPr>
          <p:nvPr/>
        </p:nvSpPr>
        <p:spPr>
          <a:xfrm xmlns:a="http://schemas.openxmlformats.org/drawingml/2006/main">
            <a:off x="609600" y="2962275"/>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96A6E"/>
                </a:solidFill>
                <a:latin typeface="Arial"/>
                <a:ea typeface="Arial"/>
                <a:cs typeface="Arial"/>
              </a:defRPr>
            </a:defPPr>
          </a:lstStyle>
          <a:p xmlns:a="http://schemas.openxmlformats.org/drawingml/2006/main">
            <a:pPr algn="l">
              <a:defRPr sz="3150" b="1">
                <a:solidFill>
                  <a:srgbClr val="096A6E"/>
                </a:solidFill>
                <a:latin typeface="Arial"/>
                <a:ea typeface="Arial"/>
                <a:cs typeface="Arial"/>
              </a:defRPr>
            </a:pPr>
            <a:r>
              <a:rPr sz="3150" b="1">
                <a:solidFill>
                  <a:srgbClr val="096A6E"/>
                </a:solidFill>
                <a:latin typeface="Arial"/>
                <a:ea typeface="Arial"/>
                <a:cs typeface="Arial"/>
              </a:rPr>
              <a:t>02</a:t>
            </a:r>
          </a:p>
        </p:txBody>
      </p:sp>
      <p:sp>
        <p:nvSpPr>
          <p:cNvPr id="9" name="text-cpcnzk-8">
            <a:extLst xmlns:a="http://schemas.openxmlformats.org/drawingml/2006/main">
              <a:ext uri="{FF2B5EF4-FFF2-40B4-BE49-F238E27FC236}">
                <a16:creationId xmlns:a16="http://schemas.microsoft.com/office/drawing/2014/main" id="{8F5406A2-A83F-49EF-B019-4F4D8EF426ED}"/>
              </a:ext>
            </a:extLst>
          </p:cNvPr>
          <p:cNvSpPr>
            <a:spLocks xmlns:a="http://schemas.openxmlformats.org/drawingml/2006/main" noGrp="1"/>
          </p:cNvSpPr>
          <p:nvPr/>
        </p:nvSpPr>
        <p:spPr>
          <a:xfrm xmlns:a="http://schemas.openxmlformats.org/drawingml/2006/main">
            <a:off x="1466850" y="2971800"/>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A3A"/>
                </a:solidFill>
                <a:latin typeface="Arial"/>
                <a:ea typeface="Arial"/>
                <a:cs typeface="Arial"/>
              </a:defRPr>
            </a:defPPr>
          </a:lstStyle>
          <a:p xmlns:a="http://schemas.openxmlformats.org/drawingml/2006/main">
            <a:pPr algn="l">
              <a:defRPr sz="2100" b="1">
                <a:solidFill>
                  <a:srgbClr val="102A3A"/>
                </a:solidFill>
                <a:latin typeface="Arial"/>
                <a:ea typeface="Arial"/>
                <a:cs typeface="Arial"/>
              </a:defRPr>
            </a:pPr>
            <a:r>
              <a:rPr sz="2100" b="1">
                <a:solidFill>
                  <a:srgbClr val="102A3A"/>
                </a:solidFill>
                <a:latin typeface="Arial"/>
                <a:ea typeface="Arial"/>
                <a:cs typeface="Arial"/>
              </a:rPr>
              <a:t>Receive the inputs</a:t>
            </a:r>
          </a:p>
        </p:txBody>
      </p:sp>
      <p:sp>
        <p:nvSpPr>
          <p:cNvPr id="10" name="text-cpcnzk-9">
            <a:extLst xmlns:a="http://schemas.openxmlformats.org/drawingml/2006/main">
              <a:ext uri="{FF2B5EF4-FFF2-40B4-BE49-F238E27FC236}">
                <a16:creationId xmlns:a16="http://schemas.microsoft.com/office/drawing/2014/main" id="{5452C024-4D14-4CB6-BA1B-6B8363FF8495}"/>
              </a:ext>
            </a:extLst>
          </p:cNvPr>
          <p:cNvSpPr>
            <a:spLocks xmlns:a="http://schemas.openxmlformats.org/drawingml/2006/main" noGrp="1"/>
          </p:cNvSpPr>
          <p:nvPr/>
        </p:nvSpPr>
        <p:spPr>
          <a:xfrm xmlns:a="http://schemas.openxmlformats.org/drawingml/2006/main">
            <a:off x="1466850" y="3362325"/>
            <a:ext cx="990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Record the materials arriving into stock.</a:t>
            </a:r>
          </a:p>
        </p:txBody>
      </p:sp>
      <p:sp>
        <p:nvSpPr>
          <p:cNvPr id="11" name="text-cpcnzk-10">
            <a:extLst xmlns:a="http://schemas.openxmlformats.org/drawingml/2006/main">
              <a:ext uri="{FF2B5EF4-FFF2-40B4-BE49-F238E27FC236}">
                <a16:creationId xmlns:a16="http://schemas.microsoft.com/office/drawing/2014/main" id="{7DF633C3-EA15-475B-B22A-77921A79CC9A}"/>
              </a:ext>
            </a:extLst>
          </p:cNvPr>
          <p:cNvSpPr>
            <a:spLocks xmlns:a="http://schemas.openxmlformats.org/drawingml/2006/main" noGrp="1"/>
          </p:cNvSpPr>
          <p:nvPr/>
        </p:nvSpPr>
        <p:spPr>
          <a:xfrm xmlns:a="http://schemas.openxmlformats.org/drawingml/2006/main">
            <a:off x="609600" y="3952875"/>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96A6E"/>
                </a:solidFill>
                <a:latin typeface="Arial"/>
                <a:ea typeface="Arial"/>
                <a:cs typeface="Arial"/>
              </a:defRPr>
            </a:defPPr>
          </a:lstStyle>
          <a:p xmlns:a="http://schemas.openxmlformats.org/drawingml/2006/main">
            <a:pPr algn="l">
              <a:defRPr sz="3150" b="1">
                <a:solidFill>
                  <a:srgbClr val="096A6E"/>
                </a:solidFill>
                <a:latin typeface="Arial"/>
                <a:ea typeface="Arial"/>
                <a:cs typeface="Arial"/>
              </a:defRPr>
            </a:pPr>
            <a:r>
              <a:rPr sz="3150" b="1">
                <a:solidFill>
                  <a:srgbClr val="096A6E"/>
                </a:solidFill>
                <a:latin typeface="Arial"/>
                <a:ea typeface="Arial"/>
                <a:cs typeface="Arial"/>
              </a:rPr>
              <a:t>03</a:t>
            </a:r>
          </a:p>
        </p:txBody>
      </p:sp>
      <p:sp>
        <p:nvSpPr>
          <p:cNvPr id="12" name="text-cpcnzk-11">
            <a:extLst xmlns:a="http://schemas.openxmlformats.org/drawingml/2006/main">
              <a:ext uri="{FF2B5EF4-FFF2-40B4-BE49-F238E27FC236}">
                <a16:creationId xmlns:a16="http://schemas.microsoft.com/office/drawing/2014/main" id="{39D61798-BFAE-4CD9-ACBD-9F6AF6E97C9B}"/>
              </a:ext>
            </a:extLst>
          </p:cNvPr>
          <p:cNvSpPr>
            <a:spLocks xmlns:a="http://schemas.openxmlformats.org/drawingml/2006/main" noGrp="1"/>
          </p:cNvSpPr>
          <p:nvPr/>
        </p:nvSpPr>
        <p:spPr>
          <a:xfrm xmlns:a="http://schemas.openxmlformats.org/drawingml/2006/main">
            <a:off x="1466850" y="3962400"/>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A3A"/>
                </a:solidFill>
                <a:latin typeface="Arial"/>
                <a:ea typeface="Arial"/>
                <a:cs typeface="Arial"/>
              </a:defRPr>
            </a:defPPr>
          </a:lstStyle>
          <a:p xmlns:a="http://schemas.openxmlformats.org/drawingml/2006/main">
            <a:pPr algn="l">
              <a:defRPr sz="2100" b="1">
                <a:solidFill>
                  <a:srgbClr val="102A3A"/>
                </a:solidFill>
                <a:latin typeface="Arial"/>
                <a:ea typeface="Arial"/>
                <a:cs typeface="Arial"/>
              </a:defRPr>
            </a:pPr>
            <a:r>
              <a:rPr sz="2100" b="1">
                <a:solidFill>
                  <a:srgbClr val="102A3A"/>
                </a:solidFill>
                <a:latin typeface="Arial"/>
                <a:ea typeface="Arial"/>
                <a:cs typeface="Arial"/>
              </a:rPr>
              <a:t>Manufacture 400 finished units</a:t>
            </a:r>
          </a:p>
        </p:txBody>
      </p:sp>
      <p:sp>
        <p:nvSpPr>
          <p:cNvPr id="13" name="text-cpcnzk-12">
            <a:extLst xmlns:a="http://schemas.openxmlformats.org/drawingml/2006/main">
              <a:ext uri="{FF2B5EF4-FFF2-40B4-BE49-F238E27FC236}">
                <a16:creationId xmlns:a16="http://schemas.microsoft.com/office/drawing/2014/main" id="{9CE2D4F4-CBD2-4465-BF07-4CD3AE672C7D}"/>
              </a:ext>
            </a:extLst>
          </p:cNvPr>
          <p:cNvSpPr>
            <a:spLocks xmlns:a="http://schemas.openxmlformats.org/drawingml/2006/main" noGrp="1"/>
          </p:cNvSpPr>
          <p:nvPr/>
        </p:nvSpPr>
        <p:spPr>
          <a:xfrm xmlns:a="http://schemas.openxmlformats.org/drawingml/2006/main">
            <a:off x="1466850" y="4352925"/>
            <a:ext cx="990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Complete HALY's own production order.</a:t>
            </a:r>
          </a:p>
        </p:txBody>
      </p:sp>
      <p:sp>
        <p:nvSpPr>
          <p:cNvPr id="14" name="text-cpcnzk-13">
            <a:extLst xmlns:a="http://schemas.openxmlformats.org/drawingml/2006/main">
              <a:ext uri="{FF2B5EF4-FFF2-40B4-BE49-F238E27FC236}">
                <a16:creationId xmlns:a16="http://schemas.microsoft.com/office/drawing/2014/main" id="{C69C609C-76CE-41EA-8565-AEE474CF2951}"/>
              </a:ext>
            </a:extLst>
          </p:cNvPr>
          <p:cNvSpPr>
            <a:spLocks xmlns:a="http://schemas.openxmlformats.org/drawingml/2006/main" noGrp="1"/>
          </p:cNvSpPr>
          <p:nvPr/>
        </p:nvSpPr>
        <p:spPr>
          <a:xfrm xmlns:a="http://schemas.openxmlformats.org/drawingml/2006/main">
            <a:off x="609600" y="53340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96A6E"/>
                </a:solidFill>
                <a:latin typeface="Arial"/>
                <a:ea typeface="Arial"/>
                <a:cs typeface="Arial"/>
              </a:defRPr>
            </a:defPPr>
          </a:lstStyle>
          <a:p xmlns:a="http://schemas.openxmlformats.org/drawingml/2006/main">
            <a:pPr algn="l">
              <a:defRPr sz="2550" b="1">
                <a:solidFill>
                  <a:srgbClr val="096A6E"/>
                </a:solidFill>
                <a:latin typeface="Arial"/>
                <a:ea typeface="Arial"/>
                <a:cs typeface="Arial"/>
              </a:defRPr>
            </a:pPr>
            <a:r>
              <a:rPr sz="2550" b="1">
                <a:solidFill>
                  <a:srgbClr val="096A6E"/>
                </a:solidFill>
                <a:latin typeface="Arial"/>
                <a:ea typeface="Arial"/>
                <a:cs typeface="Arial"/>
              </a:rPr>
              <a:t>500 opening + 400 manufactured = 900 units in total</a:t>
            </a:r>
          </a:p>
        </p:txBody>
      </p:sp>
    </p:spTree>
    <p:extLst>
      <p:ext uri="{BB962C8B-B14F-4D97-AF65-F5344CB8AC3E}">
        <p14:creationId xmlns:p14="http://schemas.microsoft.com/office/powerpoint/2010/main" val="957721198"/>
      </p:ext>
    </p:extLst>
  </p:cSld>
</p:sld>
</file>

<file path=ppt/slides/slide10.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7" name="text-o2zthe-0">
            <a:extLst xmlns:a="http://schemas.openxmlformats.org/drawingml/2006/main">
              <a:ext uri="{FF2B5EF4-FFF2-40B4-BE49-F238E27FC236}">
                <a16:creationId xmlns:a16="http://schemas.microsoft.com/office/drawing/2014/main" id="{339AEFCC-206E-458F-899D-0F1F09B9FD78}"/>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Shortages have an owner</a:t>
            </a:r>
          </a:p>
        </p:txBody>
      </p:sp>
      <p:sp>
        <p:nvSpPr>
          <p:cNvPr id="2" name="text-o2zthe-1">
            <a:extLst xmlns:a="http://schemas.openxmlformats.org/drawingml/2006/main">
              <a:ext uri="{FF2B5EF4-FFF2-40B4-BE49-F238E27FC236}">
                <a16:creationId xmlns:a16="http://schemas.microsoft.com/office/drawing/2014/main" id="{0B32F557-5655-4770-8D34-24056D26381D}"/>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Each risk item links to its sales order and records the next action.</a:t>
            </a:r>
          </a:p>
        </p:txBody>
      </p:sp>
      <p:sp>
        <p:nvSpPr>
          <p:cNvPr id="3" name="text-o2zthe-2">
            <a:extLst xmlns:a="http://schemas.openxmlformats.org/drawingml/2006/main">
              <a:ext uri="{FF2B5EF4-FFF2-40B4-BE49-F238E27FC236}">
                <a16:creationId xmlns:a16="http://schemas.microsoft.com/office/drawing/2014/main" id="{FA8D5CF6-585C-4546-B907-F1D52C1286AF}"/>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o2zthe-3">
            <a:extLst xmlns:a="http://schemas.openxmlformats.org/drawingml/2006/main">
              <a:ext uri="{FF2B5EF4-FFF2-40B4-BE49-F238E27FC236}">
                <a16:creationId xmlns:a16="http://schemas.microsoft.com/office/drawing/2014/main" id="{5316DC25-4A7D-4CAE-BC6A-7B9AE4FD1561}"/>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10 / 14</a:t>
            </a:r>
          </a:p>
        </p:txBody>
      </p:sp>
      <p:pic>
        <p:nvPicPr>
          <p:cNvPr id="5" name="">
            <a:extLst xmlns:a="http://schemas.openxmlformats.org/drawingml/2006/main">
              <a:ext uri="{FF2B5EF4-FFF2-40B4-BE49-F238E27FC236}">
                <a16:creationId xmlns:a16="http://schemas.microsoft.com/office/drawing/2014/main" id="{AD8B86AC-F1BE-49E1-ABBD-9A818312589A}"/>
              </a:ext>
            </a:extLst>
          </p:cNvPr>
          <p:cNvPicPr>
            <a:picLocks xmlns:a="http://schemas.openxmlformats.org/drawingml/2006/main" noChangeAspect="1"/>
          </p:cNvPicPr>
          <p:nvPr/>
        </p:nvPicPr>
        <p:blipFill>
          <a:blip xmlns:r="http://schemas.openxmlformats.org/officeDocument/2006/relationships" xmlns:a="http://schemas.openxmlformats.org/drawingml/2006/main" r:embed="R6fdfb3986cce408e"/>
          <a:srcRect xmlns:a="http://schemas.openxmlformats.org/drawingml/2006/main" l="1953" t="17361" r="4297" b="26389"/>
          <a:stretch xmlns:a="http://schemas.openxmlformats.org/drawingml/2006/main"/>
        </p:blipFill>
        <p:spPr>
          <a:xfrm xmlns:a="http://schemas.openxmlformats.org/drawingml/2006/main">
            <a:off x="609600" y="2000250"/>
            <a:ext cx="10972800" cy="3714750"/>
          </a:xfrm>
          <a:prstGeom xmlns:a="http://schemas.openxmlformats.org/drawingml/2006/main" prst="rect">
            <a:avLst/>
          </a:prstGeom>
        </p:spPr>
      </p:pic>
      <p:sp>
        <p:nvSpPr>
          <p:cNvPr id="6" name="text-o2zthe-4">
            <a:extLst xmlns:a="http://schemas.openxmlformats.org/drawingml/2006/main">
              <a:ext uri="{FF2B5EF4-FFF2-40B4-BE49-F238E27FC236}">
                <a16:creationId xmlns:a16="http://schemas.microsoft.com/office/drawing/2014/main" id="{035A0308-782E-40D8-AA0A-A74C9095AEC7}"/>
              </a:ext>
            </a:extLst>
          </p:cNvPr>
          <p:cNvSpPr>
            <a:spLocks xmlns:a="http://schemas.openxmlformats.org/drawingml/2006/main" noGrp="1"/>
          </p:cNvSpPr>
          <p:nvPr/>
        </p:nvSpPr>
        <p:spPr>
          <a:xfrm xmlns:a="http://schemas.openxmlformats.org/drawingml/2006/main">
            <a:off x="609600" y="5905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96A6E"/>
                </a:solidFill>
                <a:latin typeface="Arial"/>
                <a:ea typeface="Arial"/>
                <a:cs typeface="Arial"/>
              </a:defRPr>
            </a:defPPr>
          </a:lstStyle>
          <a:p xmlns:a="http://schemas.openxmlformats.org/drawingml/2006/main">
            <a:pPr algn="l">
              <a:defRPr sz="2025" b="1">
                <a:solidFill>
                  <a:srgbClr val="096A6E"/>
                </a:solidFill>
                <a:latin typeface="Arial"/>
                <a:ea typeface="Arial"/>
                <a:cs typeface="Arial"/>
              </a:defRPr>
            </a:pPr>
            <a:r>
              <a:rPr sz="2025" b="1">
                <a:solidFill>
                  <a:srgbClr val="096A6E"/>
                </a:solidFill>
                <a:latin typeface="Arial"/>
                <a:ea typeface="Arial"/>
                <a:cs typeface="Arial"/>
              </a:rPr>
              <a:t>The coordinator can track the order's next action.</a:t>
            </a:r>
          </a:p>
        </p:txBody>
      </p:sp>
    </p:spTree>
    <p:extLst>
      <p:ext uri="{BB962C8B-B14F-4D97-AF65-F5344CB8AC3E}">
        <p14:creationId xmlns:p14="http://schemas.microsoft.com/office/powerpoint/2010/main" val="1373491414"/>
      </p:ext>
    </p:extLst>
  </p:cSld>
</p:sld>
</file>

<file path=ppt/slides/slide11.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7" name="text-hhuyp0-0">
            <a:extLst xmlns:a="http://schemas.openxmlformats.org/drawingml/2006/main">
              <a:ext uri="{FF2B5EF4-FFF2-40B4-BE49-F238E27FC236}">
                <a16:creationId xmlns:a16="http://schemas.microsoft.com/office/drawing/2014/main" id="{5C10BE30-F14D-435B-8F83-13446D81361B}"/>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Preparation stays within allocated stock</a:t>
            </a:r>
          </a:p>
        </p:txBody>
      </p:sp>
      <p:sp>
        <p:nvSpPr>
          <p:cNvPr id="2" name="text-hhuyp0-1">
            <a:extLst xmlns:a="http://schemas.openxmlformats.org/drawingml/2006/main">
              <a:ext uri="{FF2B5EF4-FFF2-40B4-BE49-F238E27FC236}">
                <a16:creationId xmlns:a16="http://schemas.microsoft.com/office/drawing/2014/main" id="{CD38DAA6-7BB6-432F-B40A-0DB50B9DCF30}"/>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Warehouse users cannot prepare more than the order's allocation.</a:t>
            </a:r>
          </a:p>
        </p:txBody>
      </p:sp>
      <p:sp>
        <p:nvSpPr>
          <p:cNvPr id="3" name="text-hhuyp0-2">
            <a:extLst xmlns:a="http://schemas.openxmlformats.org/drawingml/2006/main">
              <a:ext uri="{FF2B5EF4-FFF2-40B4-BE49-F238E27FC236}">
                <a16:creationId xmlns:a16="http://schemas.microsoft.com/office/drawing/2014/main" id="{597E67EA-284F-4A39-A632-F6694AB1E455}"/>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hhuyp0-3">
            <a:extLst xmlns:a="http://schemas.openxmlformats.org/drawingml/2006/main">
              <a:ext uri="{FF2B5EF4-FFF2-40B4-BE49-F238E27FC236}">
                <a16:creationId xmlns:a16="http://schemas.microsoft.com/office/drawing/2014/main" id="{5849ED25-F55B-4890-AE83-FA24BB7C94B8}"/>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11 / 14</a:t>
            </a:r>
          </a:p>
        </p:txBody>
      </p:sp>
      <p:pic>
        <p:nvPicPr>
          <p:cNvPr id="5" name="">
            <a:extLst xmlns:a="http://schemas.openxmlformats.org/drawingml/2006/main">
              <a:ext uri="{FF2B5EF4-FFF2-40B4-BE49-F238E27FC236}">
                <a16:creationId xmlns:a16="http://schemas.microsoft.com/office/drawing/2014/main" id="{639590AD-5395-41EE-A913-80B9B59D2540}"/>
              </a:ext>
            </a:extLst>
          </p:cNvPr>
          <p:cNvPicPr>
            <a:picLocks xmlns:a="http://schemas.openxmlformats.org/drawingml/2006/main" noChangeAspect="1"/>
          </p:cNvPicPr>
          <p:nvPr/>
        </p:nvPicPr>
        <p:blipFill>
          <a:blip xmlns:r="http://schemas.openxmlformats.org/officeDocument/2006/relationships" xmlns:a="http://schemas.openxmlformats.org/drawingml/2006/main" r:embed="Rdf900850b2ae424e"/>
          <a:srcRect xmlns:a="http://schemas.openxmlformats.org/drawingml/2006/main" l="4688" t="35417" r="4688" b="26806"/>
          <a:stretch xmlns:a="http://schemas.openxmlformats.org/drawingml/2006/main"/>
        </p:blipFill>
        <p:spPr>
          <a:xfrm xmlns:a="http://schemas.openxmlformats.org/drawingml/2006/main">
            <a:off x="609600" y="2124075"/>
            <a:ext cx="10972800" cy="2571750"/>
          </a:xfrm>
          <a:prstGeom xmlns:a="http://schemas.openxmlformats.org/drawingml/2006/main" prst="rect">
            <a:avLst/>
          </a:prstGeom>
        </p:spPr>
      </p:pic>
      <p:sp>
        <p:nvSpPr>
          <p:cNvPr id="6" name="text-hhuyp0-4">
            <a:extLst xmlns:a="http://schemas.openxmlformats.org/drawingml/2006/main">
              <a:ext uri="{FF2B5EF4-FFF2-40B4-BE49-F238E27FC236}">
                <a16:creationId xmlns:a16="http://schemas.microsoft.com/office/drawing/2014/main" id="{7C2D05BF-BAC0-4819-933E-B4DA72D580EF}"/>
              </a:ext>
            </a:extLst>
          </p:cNvPr>
          <p:cNvSpPr>
            <a:spLocks xmlns:a="http://schemas.openxmlformats.org/drawingml/2006/main" noGrp="1"/>
          </p:cNvSpPr>
          <p:nvPr/>
        </p:nvSpPr>
        <p:spPr>
          <a:xfrm xmlns:a="http://schemas.openxmlformats.org/drawingml/2006/main">
            <a:off x="609600" y="52578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96A6E"/>
                </a:solidFill>
                <a:latin typeface="Arial"/>
                <a:ea typeface="Arial"/>
                <a:cs typeface="Arial"/>
              </a:defRPr>
            </a:defPPr>
          </a:lstStyle>
          <a:p xmlns:a="http://schemas.openxmlformats.org/drawingml/2006/main">
            <a:pPr algn="l">
              <a:defRPr sz="2325" b="1">
                <a:solidFill>
                  <a:srgbClr val="096A6E"/>
                </a:solidFill>
                <a:latin typeface="Arial"/>
                <a:ea typeface="Arial"/>
                <a:cs typeface="Arial"/>
              </a:defRPr>
            </a:pPr>
            <a:r>
              <a:rPr sz="2325" b="1">
                <a:solidFill>
                  <a:srgbClr val="096A6E"/>
                </a:solidFill>
                <a:latin typeface="Arial"/>
                <a:ea typeface="Arial"/>
                <a:cs typeface="Arial"/>
              </a:rPr>
              <a:t>The system blocks the invalid quantity when the user saves.</a:t>
            </a:r>
          </a:p>
        </p:txBody>
      </p:sp>
    </p:spTree>
    <p:extLst>
      <p:ext uri="{BB962C8B-B14F-4D97-AF65-F5344CB8AC3E}">
        <p14:creationId xmlns:p14="http://schemas.microsoft.com/office/powerpoint/2010/main" val="952546463"/>
      </p:ext>
    </p:extLst>
  </p:cSld>
</p:sld>
</file>

<file path=ppt/slides/slide12.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7" name="text-48eo0i-0">
            <a:extLst xmlns:a="http://schemas.openxmlformats.org/drawingml/2006/main">
              <a:ext uri="{FF2B5EF4-FFF2-40B4-BE49-F238E27FC236}">
                <a16:creationId xmlns:a16="http://schemas.microsoft.com/office/drawing/2014/main" id="{D4A5D8CF-A542-420E-AD01-5C5C6DDC8E16}"/>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All 900 units ship in the full test scenario</a:t>
            </a:r>
          </a:p>
        </p:txBody>
      </p:sp>
      <p:sp>
        <p:nvSpPr>
          <p:cNvPr id="2" name="text-48eo0i-1">
            <a:extLst xmlns:a="http://schemas.openxmlformats.org/drawingml/2006/main">
              <a:ext uri="{FF2B5EF4-FFF2-40B4-BE49-F238E27FC236}">
                <a16:creationId xmlns:a16="http://schemas.microsoft.com/office/drawing/2014/main" id="{44DAE22C-B960-4D39-B5D1-FB7FC9172353}"/>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Automated local scenario, separate from the browser examples.</a:t>
            </a:r>
          </a:p>
        </p:txBody>
      </p:sp>
      <p:sp>
        <p:nvSpPr>
          <p:cNvPr id="3" name="text-48eo0i-2">
            <a:extLst xmlns:a="http://schemas.openxmlformats.org/drawingml/2006/main">
              <a:ext uri="{FF2B5EF4-FFF2-40B4-BE49-F238E27FC236}">
                <a16:creationId xmlns:a16="http://schemas.microsoft.com/office/drawing/2014/main" id="{8DA40078-5774-4C03-93E8-35D00DADD6CB}"/>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48eo0i-3">
            <a:extLst xmlns:a="http://schemas.openxmlformats.org/drawingml/2006/main">
              <a:ext uri="{FF2B5EF4-FFF2-40B4-BE49-F238E27FC236}">
                <a16:creationId xmlns:a16="http://schemas.microsoft.com/office/drawing/2014/main" id="{9EE333CB-3927-4B48-BBF3-D775BA42FF52}"/>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12 / 14</a:t>
            </a:r>
          </a:p>
        </p:txBody>
      </p:sp>
      <p:graphicFrame>
        <p:nvGraphicFramePr>
          <p:cNvPr id="5" name="">
            <a:extLst xmlns:a="http://schemas.openxmlformats.org/drawingml/2006/main">
              <a:ext uri="{FF2B5EF4-FFF2-40B4-BE49-F238E27FC236}">
                <a16:creationId xmlns:a16="http://schemas.microsoft.com/office/drawing/2014/main" id="{1B3AE72C-3CDF-495A-9868-51178E45A7FB}"/>
              </a:ext>
            </a:extLst>
          </p:cNvPr>
          <p:cNvGraphicFramePr/>
          <p:nvPr/>
        </p:nvGraphicFramePr>
        <p:xfrm>
          <a:off xmlns:a="http://schemas.openxmlformats.org/drawingml/2006/main" x="609600" y="2019300"/>
          <a:ext xmlns:a="http://schemas.openxmlformats.org/drawingml/2006/main" cx="10972800" cy="3143250"/>
        </p:xfrm>
        <a:graphic xmlns:a="http://schemas.openxmlformats.org/drawingml/2006/main">
          <a:graphicData uri="http://schemas.openxmlformats.org/drawingml/2006/table">
            <a:tbl>
              <a:tblPr firstRow="1" bandRow="0"/>
              <a:tblGrid>
                <a:gridCol w="2952750"/>
                <a:gridCol w="1714500"/>
                <a:gridCol w="4095750"/>
                <a:gridCol w="2209800"/>
              </a:tblGrid>
              <a:tr h="628650">
                <a:tc>
                  <a:txBody>
                    <a:bodyPr lIns="95250" tIns="95250" rIns="95250" bIns="95250"/>
                    <a:lstStyle/>
                    <a:p>
                      <a:r>
                        <a:rPr sz="1800" b="1">
                          <a:solidFill>
                            <a:srgbClr val="FFFFFF"/>
                          </a:solidFill>
                          <a:latin typeface="Arial"/>
                          <a:ea typeface="Arial"/>
                          <a:cs typeface="Arial"/>
                        </a:rPr>
                        <a:t>Order</a:t>
                      </a:r>
                    </a:p>
                  </a:txBody>
                  <a:tcPr marL="91440" marR="91440" marT="45720" marB="45720" anchor="ctr">
                    <a:lnL w="9525">
                      <a:solidFill>
                        <a:srgbClr val="D6E1DE"/>
                      </a:solidFill>
                      <a:prstDash val="solid"/>
                    </a:lnL>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c>
                  <a:txBody>
                    <a:bodyPr lIns="95250" tIns="95250" rIns="95250" bIns="95250"/>
                    <a:lstStyle/>
                    <a:p>
                      <a:r>
                        <a:rPr sz="1800" b="1">
                          <a:solidFill>
                            <a:srgbClr val="FFFFFF"/>
                          </a:solidFill>
                          <a:latin typeface="Arial"/>
                          <a:ea typeface="Arial"/>
                          <a:cs typeface="Arial"/>
                        </a:rPr>
                        <a:t>Ordered</a:t>
                      </a:r>
                    </a:p>
                  </a:txBody>
                  <a:tcPr marL="91440" marR="91440" marT="45720" marB="45720" anchor="ctr">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c>
                  <a:txBody>
                    <a:bodyPr lIns="95250" tIns="95250" rIns="95250" bIns="95250"/>
                    <a:lstStyle/>
                    <a:p>
                      <a:r>
                        <a:rPr sz="1800" b="1">
                          <a:solidFill>
                            <a:srgbClr val="FFFFFF"/>
                          </a:solidFill>
                          <a:latin typeface="Arial"/>
                          <a:ea typeface="Arial"/>
                          <a:cs typeface="Arial"/>
                        </a:rPr>
                        <a:t>Shipment pattern</a:t>
                      </a:r>
                    </a:p>
                  </a:txBody>
                  <a:tcPr marL="91440" marR="91440" marT="45720" marB="45720" anchor="ctr">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c>
                  <a:txBody>
                    <a:bodyPr lIns="95250" tIns="95250" rIns="95250" bIns="95250"/>
                    <a:lstStyle/>
                    <a:p>
                      <a:r>
                        <a:rPr sz="1800" b="1">
                          <a:solidFill>
                            <a:srgbClr val="FFFFFF"/>
                          </a:solidFill>
                          <a:latin typeface="Arial"/>
                          <a:ea typeface="Arial"/>
                          <a:cs typeface="Arial"/>
                        </a:rPr>
                        <a:t>Total shipped</a:t>
                      </a:r>
                    </a:p>
                  </a:txBody>
                  <a:tcPr marL="91440" marR="91440" marT="45720" marB="45720" anchor="ctr">
                    <a:lnR w="9525">
                      <a:solidFill>
                        <a:srgbClr val="D6E1DE"/>
                      </a:solidFill>
                      <a:prstDash val="solid"/>
                    </a:lnR>
                    <a:lnT w="9525">
                      <a:solidFill>
                        <a:srgbClr val="D6E1DE"/>
                      </a:solidFill>
                      <a:prstDash val="solid"/>
                    </a:lnT>
                    <a:lnB w="9525">
                      <a:solidFill>
                        <a:srgbClr val="D6E1DE"/>
                      </a:solidFill>
                      <a:prstDash val="solid"/>
                    </a:lnB>
                    <a:solidFill>
                      <a:srgbClr val="102A3A"/>
                    </a:solidFill>
                  </a:tcPr>
                </a:tc>
              </a:tr>
              <a:tr h="628650">
                <a:tc>
                  <a:txBody>
                    <a:bodyPr lIns="95250" tIns="95250" rIns="95250" bIns="95250"/>
                    <a:lstStyle/>
                    <a:p>
                      <a:r>
                        <a:rPr sz="1800" b="0">
                          <a:solidFill>
                            <a:srgbClr val="183444"/>
                          </a:solidFill>
                          <a:latin typeface="Arial"/>
                          <a:ea typeface="Arial"/>
                          <a:cs typeface="Arial"/>
                        </a:rPr>
                        <a:t>A: individual</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200</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In full</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200</a:t>
                      </a:r>
                    </a:p>
                  </a:txBody>
                  <a:tcPr marL="91440" marR="91440" marT="45720" marB="45720" anchor="ctr">
                    <a:lnR w="9525">
                      <a:solidFill>
                        <a:srgbClr val="D6E1DE"/>
                      </a:solidFill>
                      <a:prstDash val="solid"/>
                    </a:lnR>
                    <a:lnB w="9525">
                      <a:solidFill>
                        <a:srgbClr val="D6E1DE"/>
                      </a:solidFill>
                      <a:prstDash val="solid"/>
                    </a:lnB>
                    <a:solidFill>
                      <a:srgbClr val="FFFFFF"/>
                    </a:solidFill>
                  </a:tcPr>
                </a:tc>
              </a:tr>
              <a:tr h="628650">
                <a:tc>
                  <a:txBody>
                    <a:bodyPr lIns="95250" tIns="95250" rIns="95250" bIns="95250"/>
                    <a:lstStyle/>
                    <a:p>
                      <a:r>
                        <a:rPr sz="1800" b="0">
                          <a:solidFill>
                            <a:srgbClr val="183444"/>
                          </a:solidFill>
                          <a:latin typeface="Arial"/>
                          <a:ea typeface="Arial"/>
                          <a:cs typeface="Arial"/>
                        </a:rPr>
                        <a:t>B: corporate</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EEF3F1"/>
                    </a:solidFill>
                  </a:tcPr>
                </a:tc>
                <a:tc>
                  <a:txBody>
                    <a:bodyPr lIns="95250" tIns="95250" rIns="95250" bIns="95250"/>
                    <a:lstStyle/>
                    <a:p>
                      <a:r>
                        <a:rPr sz="1800" b="0">
                          <a:solidFill>
                            <a:srgbClr val="183444"/>
                          </a:solidFill>
                          <a:latin typeface="Arial"/>
                          <a:ea typeface="Arial"/>
                          <a:cs typeface="Arial"/>
                        </a:rPr>
                        <a:t>600</a:t>
                      </a:r>
                    </a:p>
                  </a:txBody>
                  <a:tcPr marL="91440" marR="91440" marT="45720" marB="45720" anchor="ctr">
                    <a:lnR w="9525">
                      <a:solidFill>
                        <a:srgbClr val="D6E1DE"/>
                      </a:solidFill>
                      <a:prstDash val="solid"/>
                    </a:lnR>
                    <a:lnB w="9525">
                      <a:solidFill>
                        <a:srgbClr val="D6E1DE"/>
                      </a:solidFill>
                      <a:prstDash val="solid"/>
                    </a:lnB>
                    <a:solidFill>
                      <a:srgbClr val="EEF3F1"/>
                    </a:solidFill>
                  </a:tcPr>
                </a:tc>
                <a:tc>
                  <a:txBody>
                    <a:bodyPr lIns="95250" tIns="95250" rIns="95250" bIns="95250"/>
                    <a:lstStyle/>
                    <a:p>
                      <a:r>
                        <a:rPr sz="1800" b="0">
                          <a:solidFill>
                            <a:srgbClr val="183444"/>
                          </a:solidFill>
                          <a:latin typeface="Arial"/>
                          <a:ea typeface="Arial"/>
                          <a:cs typeface="Arial"/>
                        </a:rPr>
                        <a:t>300 + 200 + 100</a:t>
                      </a:r>
                    </a:p>
                  </a:txBody>
                  <a:tcPr marL="91440" marR="91440" marT="45720" marB="45720" anchor="ctr">
                    <a:lnR w="9525">
                      <a:solidFill>
                        <a:srgbClr val="D6E1DE"/>
                      </a:solidFill>
                      <a:prstDash val="solid"/>
                    </a:lnR>
                    <a:lnB w="9525">
                      <a:solidFill>
                        <a:srgbClr val="D6E1DE"/>
                      </a:solidFill>
                      <a:prstDash val="solid"/>
                    </a:lnB>
                    <a:solidFill>
                      <a:srgbClr val="EEF3F1"/>
                    </a:solidFill>
                  </a:tcPr>
                </a:tc>
                <a:tc>
                  <a:txBody>
                    <a:bodyPr lIns="95250" tIns="95250" rIns="95250" bIns="95250"/>
                    <a:lstStyle/>
                    <a:p>
                      <a:r>
                        <a:rPr sz="1800" b="0">
                          <a:solidFill>
                            <a:srgbClr val="183444"/>
                          </a:solidFill>
                          <a:latin typeface="Arial"/>
                          <a:ea typeface="Arial"/>
                          <a:cs typeface="Arial"/>
                        </a:rPr>
                        <a:t>600</a:t>
                      </a:r>
                    </a:p>
                  </a:txBody>
                  <a:tcPr marL="91440" marR="91440" marT="45720" marB="45720" anchor="ctr">
                    <a:lnR w="9525">
                      <a:solidFill>
                        <a:srgbClr val="D6E1DE"/>
                      </a:solidFill>
                      <a:prstDash val="solid"/>
                    </a:lnR>
                    <a:lnB w="9525">
                      <a:solidFill>
                        <a:srgbClr val="D6E1DE"/>
                      </a:solidFill>
                      <a:prstDash val="solid"/>
                    </a:lnB>
                    <a:solidFill>
                      <a:srgbClr val="EEF3F1"/>
                    </a:solidFill>
                  </a:tcPr>
                </a:tc>
              </a:tr>
              <a:tr h="628650">
                <a:tc>
                  <a:txBody>
                    <a:bodyPr lIns="95250" tIns="95250" rIns="95250" bIns="95250"/>
                    <a:lstStyle/>
                    <a:p>
                      <a:r>
                        <a:rPr sz="1800" b="0">
                          <a:solidFill>
                            <a:srgbClr val="183444"/>
                          </a:solidFill>
                          <a:latin typeface="Arial"/>
                          <a:ea typeface="Arial"/>
                          <a:cs typeface="Arial"/>
                        </a:rPr>
                        <a:t>C: individual</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100</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In full</a:t>
                      </a:r>
                    </a:p>
                  </a:txBody>
                  <a:tcPr marL="91440" marR="91440" marT="45720" marB="45720" anchor="ctr">
                    <a:lnR w="9525">
                      <a:solidFill>
                        <a:srgbClr val="D6E1DE"/>
                      </a:solidFill>
                      <a:prstDash val="solid"/>
                    </a:lnR>
                    <a:lnB w="9525">
                      <a:solidFill>
                        <a:srgbClr val="D6E1DE"/>
                      </a:solidFill>
                      <a:prstDash val="solid"/>
                    </a:lnB>
                    <a:solidFill>
                      <a:srgbClr val="FFFFFF"/>
                    </a:solidFill>
                  </a:tcPr>
                </a:tc>
                <a:tc>
                  <a:txBody>
                    <a:bodyPr lIns="95250" tIns="95250" rIns="95250" bIns="95250"/>
                    <a:lstStyle/>
                    <a:p>
                      <a:r>
                        <a:rPr sz="1800" b="0">
                          <a:solidFill>
                            <a:srgbClr val="183444"/>
                          </a:solidFill>
                          <a:latin typeface="Arial"/>
                          <a:ea typeface="Arial"/>
                          <a:cs typeface="Arial"/>
                        </a:rPr>
                        <a:t>100</a:t>
                      </a:r>
                    </a:p>
                  </a:txBody>
                  <a:tcPr marL="91440" marR="91440" marT="45720" marB="45720" anchor="ctr">
                    <a:lnR w="9525">
                      <a:solidFill>
                        <a:srgbClr val="D6E1DE"/>
                      </a:solidFill>
                      <a:prstDash val="solid"/>
                    </a:lnR>
                    <a:lnB w="9525">
                      <a:solidFill>
                        <a:srgbClr val="D6E1DE"/>
                      </a:solidFill>
                      <a:prstDash val="solid"/>
                    </a:lnB>
                    <a:solidFill>
                      <a:srgbClr val="FFFFFF"/>
                    </a:solidFill>
                  </a:tcPr>
                </a:tc>
              </a:tr>
              <a:tr h="628650">
                <a:tc>
                  <a:txBody>
                    <a:bodyPr lIns="95250" tIns="95250" rIns="95250" bIns="95250"/>
                    <a:lstStyle/>
                    <a:p>
                      <a:r>
                        <a:rPr sz="1800" b="0">
                          <a:solidFill>
                            <a:srgbClr val="183444"/>
                          </a:solidFill>
                          <a:latin typeface="Arial"/>
                          <a:ea typeface="Arial"/>
                          <a:cs typeface="Arial"/>
                        </a:rPr>
                        <a:t>Total</a:t>
                      </a:r>
                    </a:p>
                  </a:txBody>
                  <a:tcPr marL="91440" marR="91440" marT="45720" marB="45720" anchor="ctr">
                    <a:lnL w="9525">
                      <a:solidFill>
                        <a:srgbClr val="D6E1DE"/>
                      </a:solidFill>
                      <a:prstDash val="solid"/>
                    </a:lnL>
                    <a:lnR w="9525">
                      <a:solidFill>
                        <a:srgbClr val="D6E1DE"/>
                      </a:solidFill>
                      <a:prstDash val="solid"/>
                    </a:lnR>
                    <a:lnB w="9525">
                      <a:solidFill>
                        <a:srgbClr val="D6E1DE"/>
                      </a:solidFill>
                      <a:prstDash val="solid"/>
                    </a:lnB>
                    <a:solidFill>
                      <a:srgbClr val="EEF3F1"/>
                    </a:solidFill>
                  </a:tcPr>
                </a:tc>
                <a:tc>
                  <a:txBody>
                    <a:bodyPr lIns="95250" tIns="95250" rIns="95250" bIns="95250"/>
                    <a:lstStyle/>
                    <a:p>
                      <a:r>
                        <a:rPr sz="1800" b="0">
                          <a:solidFill>
                            <a:srgbClr val="183444"/>
                          </a:solidFill>
                          <a:latin typeface="Arial"/>
                          <a:ea typeface="Arial"/>
                          <a:cs typeface="Arial"/>
                        </a:rPr>
                        <a:t>900</a:t>
                      </a:r>
                    </a:p>
                  </a:txBody>
                  <a:tcPr marL="91440" marR="91440" marT="45720" marB="45720" anchor="ctr">
                    <a:lnR w="9525">
                      <a:solidFill>
                        <a:srgbClr val="D6E1DE"/>
                      </a:solidFill>
                      <a:prstDash val="solid"/>
                    </a:lnR>
                    <a:lnB w="9525">
                      <a:solidFill>
                        <a:srgbClr val="D6E1DE"/>
                      </a:solidFill>
                      <a:prstDash val="solid"/>
                    </a:lnB>
                    <a:solidFill>
                      <a:srgbClr val="EEF3F1"/>
                    </a:solidFill>
                  </a:tcPr>
                </a:tc>
                <a:tc>
                  <a:txBody>
                    <a:bodyPr lIns="95250" tIns="95250" rIns="95250" bIns="95250"/>
                    <a:lstStyle/>
                    <a:p>
                      <a:r>
                        <a:rPr sz="1800" b="0">
                          <a:solidFill>
                            <a:srgbClr val="183444"/>
                          </a:solidFill>
                          <a:latin typeface="Arial"/>
                          <a:ea typeface="Arial"/>
                          <a:cs typeface="Arial"/>
                        </a:rPr>
                        <a:t/>
                      </a:r>
                    </a:p>
                  </a:txBody>
                  <a:tcPr marL="91440" marR="91440" marT="45720" marB="45720" anchor="ctr">
                    <a:lnR w="9525">
                      <a:solidFill>
                        <a:srgbClr val="D6E1DE"/>
                      </a:solidFill>
                      <a:prstDash val="solid"/>
                    </a:lnR>
                    <a:lnB w="9525">
                      <a:solidFill>
                        <a:srgbClr val="D6E1DE"/>
                      </a:solidFill>
                      <a:prstDash val="solid"/>
                    </a:lnB>
                    <a:solidFill>
                      <a:srgbClr val="EEF3F1"/>
                    </a:solidFill>
                  </a:tcPr>
                </a:tc>
                <a:tc>
                  <a:txBody>
                    <a:bodyPr lIns="95250" tIns="95250" rIns="95250" bIns="95250"/>
                    <a:lstStyle/>
                    <a:p>
                      <a:r>
                        <a:rPr sz="1800" b="0">
                          <a:solidFill>
                            <a:srgbClr val="183444"/>
                          </a:solidFill>
                          <a:latin typeface="Arial"/>
                          <a:ea typeface="Arial"/>
                          <a:cs typeface="Arial"/>
                        </a:rPr>
                        <a:t>900</a:t>
                      </a:r>
                    </a:p>
                  </a:txBody>
                  <a:tcPr marL="91440" marR="91440" marT="45720" marB="45720" anchor="ctr">
                    <a:lnR w="9525">
                      <a:solidFill>
                        <a:srgbClr val="D6E1DE"/>
                      </a:solidFill>
                      <a:prstDash val="solid"/>
                    </a:lnR>
                    <a:lnB w="9525">
                      <a:solidFill>
                        <a:srgbClr val="D6E1DE"/>
                      </a:solidFill>
                      <a:prstDash val="solid"/>
                    </a:lnB>
                    <a:solidFill>
                      <a:srgbClr val="EEF3F1"/>
                    </a:solidFill>
                  </a:tcPr>
                </a:tc>
              </a:tr>
            </a:tbl>
          </a:graphicData>
        </a:graphic>
      </p:graphicFrame>
      <p:sp>
        <p:nvSpPr>
          <p:cNvPr id="6" name="text-48eo0i-4">
            <a:extLst xmlns:a="http://schemas.openxmlformats.org/drawingml/2006/main">
              <a:ext uri="{FF2B5EF4-FFF2-40B4-BE49-F238E27FC236}">
                <a16:creationId xmlns:a16="http://schemas.microsoft.com/office/drawing/2014/main" id="{887A49B4-8623-4FF8-B552-B8DBBA0893A4}"/>
              </a:ext>
            </a:extLst>
          </p:cNvPr>
          <p:cNvSpPr>
            <a:spLocks xmlns:a="http://schemas.openxmlformats.org/drawingml/2006/main" noGrp="1"/>
          </p:cNvSpPr>
          <p:nvPr/>
        </p:nvSpPr>
        <p:spPr>
          <a:xfrm xmlns:a="http://schemas.openxmlformats.org/drawingml/2006/main">
            <a:off x="609600" y="55054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96A6E"/>
                </a:solidFill>
                <a:latin typeface="Arial"/>
                <a:ea typeface="Arial"/>
                <a:cs typeface="Arial"/>
              </a:defRPr>
            </a:defPPr>
          </a:lstStyle>
          <a:p xmlns:a="http://schemas.openxmlformats.org/drawingml/2006/main">
            <a:pPr algn="l">
              <a:defRPr sz="2475" b="1">
                <a:solidFill>
                  <a:srgbClr val="096A6E"/>
                </a:solidFill>
                <a:latin typeface="Arial"/>
                <a:ea typeface="Arial"/>
                <a:cs typeface="Arial"/>
              </a:defRPr>
            </a:pPr>
            <a:r>
              <a:rPr sz="2475" b="1">
                <a:solidFill>
                  <a:srgbClr val="096A6E"/>
                </a:solidFill>
                <a:latin typeface="Arial"/>
                <a:ea typeface="Arial"/>
                <a:cs typeface="Arial"/>
              </a:rPr>
              <a:t>500 opening + 400 manufactured = 900 dispatched</a:t>
            </a:r>
          </a:p>
        </p:txBody>
      </p:sp>
    </p:spTree>
    <p:extLst>
      <p:ext uri="{BB962C8B-B14F-4D97-AF65-F5344CB8AC3E}">
        <p14:creationId xmlns:p14="http://schemas.microsoft.com/office/powerpoint/2010/main" val="873245369"/>
      </p:ext>
    </p:extLst>
  </p:cSld>
</p:sld>
</file>

<file path=ppt/slides/slide13.xml><?xml version="1.0" encoding="utf-8"?>
<p:sld xmlns:p="http://schemas.openxmlformats.org/presentationml/2006/main">
  <p:cSld>
    <p:bg>
      <p:bgPr>
        <a:solidFill xmlns:a="http://schemas.openxmlformats.org/drawingml/2006/main">
          <a:srgbClr val="F6F8F5"/>
        </a:solidFill>
      </p:bgPr>
    </p:bg>
    <p:spTree>
      <p:nvGrpSpPr>
        <p:cNvPr id="1" name=""/>
        <p:cNvGrpSpPr/>
        <p:nvPr/>
      </p:nvGrpSpPr>
      <p:grpSpPr>
        <a:xfrm xmlns:a="http://schemas.openxmlformats.org/drawingml/2006/main"/>
      </p:grpSpPr>
      <p:sp>
        <p:nvSpPr>
          <p:cNvPr id="16" name="text-j966ol-0">
            <a:extLst xmlns:a="http://schemas.openxmlformats.org/drawingml/2006/main">
              <a:ext uri="{FF2B5EF4-FFF2-40B4-BE49-F238E27FC236}">
                <a16:creationId xmlns:a16="http://schemas.microsoft.com/office/drawing/2014/main" id="{51925F60-1CB0-4D25-9964-05F10A409D67}"/>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02A3A"/>
                </a:solidFill>
                <a:latin typeface="Arial"/>
                <a:ea typeface="Arial"/>
                <a:cs typeface="Arial"/>
              </a:defRPr>
            </a:defPPr>
          </a:lstStyle>
          <a:p xmlns:a="http://schemas.openxmlformats.org/drawingml/2006/main">
            <a:pPr algn="l">
              <a:defRPr sz="3450" b="1">
                <a:solidFill>
                  <a:srgbClr val="102A3A"/>
                </a:solidFill>
                <a:latin typeface="Arial"/>
                <a:ea typeface="Arial"/>
                <a:cs typeface="Arial"/>
              </a:defRPr>
            </a:pPr>
            <a:r>
              <a:rPr sz="3450" b="1">
                <a:solidFill>
                  <a:srgbClr val="102A3A"/>
                </a:solidFill>
                <a:latin typeface="Arial"/>
                <a:ea typeface="Arial"/>
                <a:cs typeface="Arial"/>
              </a:rPr>
              <a:t>What we built and checked</a:t>
            </a:r>
          </a:p>
        </p:txBody>
      </p:sp>
      <p:sp>
        <p:nvSpPr>
          <p:cNvPr id="2" name="text-j966ol-1">
            <a:extLst xmlns:a="http://schemas.openxmlformats.org/drawingml/2006/main">
              <a:ext uri="{FF2B5EF4-FFF2-40B4-BE49-F238E27FC236}">
                <a16:creationId xmlns:a16="http://schemas.microsoft.com/office/drawing/2014/main" id="{7811F21A-7C8B-4AE4-8A8C-C352F39424F6}"/>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872"/>
                </a:solidFill>
                <a:latin typeface="Arial"/>
                <a:ea typeface="Arial"/>
                <a:cs typeface="Arial"/>
              </a:defRPr>
            </a:defPPr>
          </a:lstStyle>
          <a:p xmlns:a="http://schemas.openxmlformats.org/drawingml/2006/main">
            <a:pPr algn="l">
              <a:defRPr sz="1950" b="0">
                <a:solidFill>
                  <a:srgbClr val="526872"/>
                </a:solidFill>
                <a:latin typeface="Arial"/>
                <a:ea typeface="Arial"/>
                <a:cs typeface="Arial"/>
              </a:defRPr>
            </a:pPr>
            <a:r>
              <a:rPr sz="1950" b="0">
                <a:solidFill>
                  <a:srgbClr val="526872"/>
                </a:solidFill>
                <a:latin typeface="Arial"/>
                <a:ea typeface="Arial"/>
                <a:cs typeface="Arial"/>
              </a:rPr>
              <a:t>Standard Odoo operations with campaign-specific business rules.</a:t>
            </a:r>
          </a:p>
        </p:txBody>
      </p:sp>
      <p:sp>
        <p:nvSpPr>
          <p:cNvPr id="3" name="text-j966ol-2">
            <a:extLst xmlns:a="http://schemas.openxmlformats.org/drawingml/2006/main">
              <a:ext uri="{FF2B5EF4-FFF2-40B4-BE49-F238E27FC236}">
                <a16:creationId xmlns:a16="http://schemas.microsoft.com/office/drawing/2014/main" id="{F6DB231D-E8AD-404E-865D-46DD1316AC20}"/>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872"/>
                </a:solidFill>
                <a:latin typeface="Arial"/>
                <a:ea typeface="Arial"/>
                <a:cs typeface="Arial"/>
              </a:defRPr>
            </a:defPPr>
          </a:lstStyle>
          <a:p xmlns:a="http://schemas.openxmlformats.org/drawingml/2006/main">
            <a:pPr algn="l">
              <a:defRPr sz="1275" b="0">
                <a:solidFill>
                  <a:srgbClr val="526872"/>
                </a:solidFill>
                <a:latin typeface="Arial"/>
                <a:ea typeface="Arial"/>
                <a:cs typeface="Arial"/>
              </a:defRPr>
            </a:pPr>
            <a:r>
              <a:rPr sz="1275" b="0">
                <a:solidFill>
                  <a:srgbClr val="526872"/>
                </a:solidFill>
                <a:latin typeface="Arial"/>
                <a:ea typeface="Arial"/>
                <a:cs typeface="Arial"/>
              </a:rPr>
              <a:t>HALY synthetic portfolio case study</a:t>
            </a:r>
          </a:p>
        </p:txBody>
      </p:sp>
      <p:sp>
        <p:nvSpPr>
          <p:cNvPr id="4" name="text-j966ol-3">
            <a:extLst xmlns:a="http://schemas.openxmlformats.org/drawingml/2006/main">
              <a:ext uri="{FF2B5EF4-FFF2-40B4-BE49-F238E27FC236}">
                <a16:creationId xmlns:a16="http://schemas.microsoft.com/office/drawing/2014/main" id="{FC7A2AF5-F697-44E5-BA2A-E4925E57D58F}"/>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872"/>
                </a:solidFill>
                <a:latin typeface="Arial"/>
                <a:ea typeface="Arial"/>
                <a:cs typeface="Arial"/>
              </a:defRPr>
            </a:defPPr>
          </a:lstStyle>
          <a:p xmlns:a="http://schemas.openxmlformats.org/drawingml/2006/main">
            <a:pPr algn="r">
              <a:defRPr sz="1275" b="0">
                <a:solidFill>
                  <a:srgbClr val="526872"/>
                </a:solidFill>
                <a:latin typeface="Arial"/>
                <a:ea typeface="Arial"/>
                <a:cs typeface="Arial"/>
              </a:defRPr>
            </a:pPr>
            <a:r>
              <a:rPr sz="1275" b="0">
                <a:solidFill>
                  <a:srgbClr val="526872"/>
                </a:solidFill>
                <a:latin typeface="Arial"/>
                <a:ea typeface="Arial"/>
                <a:cs typeface="Arial"/>
              </a:rPr>
              <a:t>13 / 14</a:t>
            </a:r>
          </a:p>
        </p:txBody>
      </p:sp>
      <p:sp>
        <p:nvSpPr>
          <p:cNvPr id="5" name="text-j966ol-4">
            <a:extLst xmlns:a="http://schemas.openxmlformats.org/drawingml/2006/main">
              <a:ext uri="{FF2B5EF4-FFF2-40B4-BE49-F238E27FC236}">
                <a16:creationId xmlns:a16="http://schemas.microsoft.com/office/drawing/2014/main" id="{810E17B2-C606-41C5-BCFC-2C5EBB4AF232}"/>
              </a:ext>
            </a:extLst>
          </p:cNvPr>
          <p:cNvSpPr>
            <a:spLocks xmlns:a="http://schemas.openxmlformats.org/drawingml/2006/main" noGrp="1"/>
          </p:cNvSpPr>
          <p:nvPr/>
        </p:nvSpPr>
        <p:spPr>
          <a:xfrm xmlns:a="http://schemas.openxmlformats.org/drawingml/2006/main">
            <a:off x="609600" y="20478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A3A"/>
                </a:solidFill>
                <a:latin typeface="Arial"/>
                <a:ea typeface="Arial"/>
                <a:cs typeface="Arial"/>
              </a:defRPr>
            </a:defPPr>
          </a:lstStyle>
          <a:p xmlns:a="http://schemas.openxmlformats.org/drawingml/2006/main">
            <a:pPr algn="l">
              <a:defRPr sz="2325" b="1">
                <a:solidFill>
                  <a:srgbClr val="102A3A"/>
                </a:solidFill>
                <a:latin typeface="Arial"/>
                <a:ea typeface="Arial"/>
                <a:cs typeface="Arial"/>
              </a:defRPr>
            </a:pPr>
            <a:r>
              <a:rPr sz="2325" b="1">
                <a:solidFill>
                  <a:srgbClr val="102A3A"/>
                </a:solidFill>
                <a:latin typeface="Arial"/>
                <a:ea typeface="Arial"/>
                <a:cs typeface="Arial"/>
              </a:rPr>
              <a:t>Standard operations</a:t>
            </a:r>
          </a:p>
        </p:txBody>
      </p:sp>
      <p:sp>
        <p:nvSpPr>
          <p:cNvPr id="6" name="text-j966ol-5">
            <a:extLst xmlns:a="http://schemas.openxmlformats.org/drawingml/2006/main">
              <a:ext uri="{FF2B5EF4-FFF2-40B4-BE49-F238E27FC236}">
                <a16:creationId xmlns:a16="http://schemas.microsoft.com/office/drawing/2014/main" id="{BF7D6032-1BEC-4D07-A285-A64FB235CF38}"/>
              </a:ext>
            </a:extLst>
          </p:cNvPr>
          <p:cNvSpPr>
            <a:spLocks xmlns:a="http://schemas.openxmlformats.org/drawingml/2006/main" noGrp="1"/>
          </p:cNvSpPr>
          <p:nvPr/>
        </p:nvSpPr>
        <p:spPr>
          <a:xfrm xmlns:a="http://schemas.openxmlformats.org/drawingml/2006/main">
            <a:off x="609600" y="245745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444"/>
                </a:solidFill>
                <a:latin typeface="Arial"/>
                <a:ea typeface="Arial"/>
                <a:cs typeface="Arial"/>
              </a:defRPr>
            </a:defPPr>
          </a:lstStyle>
          <a:p xmlns:a="http://schemas.openxmlformats.org/drawingml/2006/main">
            <a:pPr algn="l">
              <a:defRPr sz="1950" b="0">
                <a:solidFill>
                  <a:srgbClr val="183444"/>
                </a:solidFill>
                <a:latin typeface="Arial"/>
                <a:ea typeface="Arial"/>
                <a:cs typeface="Arial"/>
              </a:defRPr>
            </a:pPr>
            <a:r>
              <a:rPr sz="1950" b="0">
                <a:solidFill>
                  <a:srgbClr val="183444"/>
                </a:solidFill>
                <a:latin typeface="Arial"/>
                <a:ea typeface="Arial"/>
                <a:cs typeface="Arial"/>
              </a:rPr>
              <a:t>Sales, purchasing, inventory and own production.</a:t>
            </a:r>
          </a:p>
        </p:txBody>
      </p:sp>
      <p:sp>
        <p:nvSpPr>
          <p:cNvPr id="7" name="text-j966ol-6">
            <a:extLst xmlns:a="http://schemas.openxmlformats.org/drawingml/2006/main">
              <a:ext uri="{FF2B5EF4-FFF2-40B4-BE49-F238E27FC236}">
                <a16:creationId xmlns:a16="http://schemas.microsoft.com/office/drawing/2014/main" id="{5FED0E5D-A3F3-4772-B188-0C487E5B2066}"/>
              </a:ext>
            </a:extLst>
          </p:cNvPr>
          <p:cNvSpPr>
            <a:spLocks xmlns:a="http://schemas.openxmlformats.org/drawingml/2006/main" noGrp="1"/>
          </p:cNvSpPr>
          <p:nvPr/>
        </p:nvSpPr>
        <p:spPr>
          <a:xfrm xmlns:a="http://schemas.openxmlformats.org/drawingml/2006/main">
            <a:off x="609600" y="32099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A3A"/>
                </a:solidFill>
                <a:latin typeface="Arial"/>
                <a:ea typeface="Arial"/>
                <a:cs typeface="Arial"/>
              </a:defRPr>
            </a:defPPr>
          </a:lstStyle>
          <a:p xmlns:a="http://schemas.openxmlformats.org/drawingml/2006/main">
            <a:pPr algn="l">
              <a:defRPr sz="2325" b="1">
                <a:solidFill>
                  <a:srgbClr val="102A3A"/>
                </a:solidFill>
                <a:latin typeface="Arial"/>
                <a:ea typeface="Arial"/>
                <a:cs typeface="Arial"/>
              </a:defRPr>
            </a:pPr>
            <a:r>
              <a:rPr sz="2325" b="1">
                <a:solidFill>
                  <a:srgbClr val="102A3A"/>
                </a:solidFill>
                <a:latin typeface="Arial"/>
                <a:ea typeface="Arial"/>
                <a:cs typeface="Arial"/>
              </a:rPr>
              <a:t>Added controls</a:t>
            </a:r>
          </a:p>
        </p:txBody>
      </p:sp>
      <p:sp>
        <p:nvSpPr>
          <p:cNvPr id="8" name="text-j966ol-7">
            <a:extLst xmlns:a="http://schemas.openxmlformats.org/drawingml/2006/main">
              <a:ext uri="{FF2B5EF4-FFF2-40B4-BE49-F238E27FC236}">
                <a16:creationId xmlns:a16="http://schemas.microsoft.com/office/drawing/2014/main" id="{E694807E-F5E6-4EE2-8827-7F7A991E2884}"/>
              </a:ext>
            </a:extLst>
          </p:cNvPr>
          <p:cNvSpPr>
            <a:spLocks xmlns:a="http://schemas.openxmlformats.org/drawingml/2006/main" noGrp="1"/>
          </p:cNvSpPr>
          <p:nvPr/>
        </p:nvSpPr>
        <p:spPr>
          <a:xfrm xmlns:a="http://schemas.openxmlformats.org/drawingml/2006/main">
            <a:off x="609600" y="3619500"/>
            <a:ext cx="676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444"/>
                </a:solidFill>
                <a:latin typeface="Arial"/>
                <a:ea typeface="Arial"/>
                <a:cs typeface="Arial"/>
              </a:defRPr>
            </a:defPPr>
          </a:lstStyle>
          <a:p xmlns:a="http://schemas.openxmlformats.org/drawingml/2006/main">
            <a:pPr algn="l">
              <a:defRPr sz="1950" b="0">
                <a:solidFill>
                  <a:srgbClr val="183444"/>
                </a:solidFill>
                <a:latin typeface="Arial"/>
                <a:ea typeface="Arial"/>
                <a:cs typeface="Arial"/>
              </a:defRPr>
            </a:pPr>
            <a:r>
              <a:rPr sz="1950" b="0">
                <a:solidFill>
                  <a:srgbClr val="183444"/>
                </a:solidFill>
                <a:latin typeface="Arial"/>
                <a:ea typeface="Arial"/>
                <a:cs typeface="Arial"/>
              </a:rPr>
              <a:t>Date history, stock priority and shipment safeguards.</a:t>
            </a:r>
          </a:p>
        </p:txBody>
      </p:sp>
      <p:sp>
        <p:nvSpPr>
          <p:cNvPr id="9" name="text-j966ol-8">
            <a:extLst xmlns:a="http://schemas.openxmlformats.org/drawingml/2006/main">
              <a:ext uri="{FF2B5EF4-FFF2-40B4-BE49-F238E27FC236}">
                <a16:creationId xmlns:a16="http://schemas.microsoft.com/office/drawing/2014/main" id="{A79184D1-E5DC-4E9E-A63B-5D31C74CF33B}"/>
              </a:ext>
            </a:extLst>
          </p:cNvPr>
          <p:cNvSpPr>
            <a:spLocks xmlns:a="http://schemas.openxmlformats.org/drawingml/2006/main" noGrp="1"/>
          </p:cNvSpPr>
          <p:nvPr/>
        </p:nvSpPr>
        <p:spPr>
          <a:xfrm xmlns:a="http://schemas.openxmlformats.org/drawingml/2006/main">
            <a:off x="609600" y="43719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2A3A"/>
                </a:solidFill>
                <a:latin typeface="Arial"/>
                <a:ea typeface="Arial"/>
                <a:cs typeface="Arial"/>
              </a:defRPr>
            </a:defPPr>
          </a:lstStyle>
          <a:p xmlns:a="http://schemas.openxmlformats.org/drawingml/2006/main">
            <a:pPr algn="l">
              <a:defRPr sz="2325" b="1">
                <a:solidFill>
                  <a:srgbClr val="102A3A"/>
                </a:solidFill>
                <a:latin typeface="Arial"/>
                <a:ea typeface="Arial"/>
                <a:cs typeface="Arial"/>
              </a:defRPr>
            </a:pPr>
            <a:r>
              <a:rPr sz="2325" b="1">
                <a:solidFill>
                  <a:srgbClr val="102A3A"/>
                </a:solidFill>
                <a:latin typeface="Arial"/>
                <a:ea typeface="Arial"/>
                <a:cs typeface="Arial"/>
              </a:rPr>
              <a:t>Review and testing</a:t>
            </a:r>
          </a:p>
        </p:txBody>
      </p:sp>
      <p:sp>
        <p:nvSpPr>
          <p:cNvPr id="10" name="text-j966ol-9">
            <a:extLst xmlns:a="http://schemas.openxmlformats.org/drawingml/2006/main">
              <a:ext uri="{FF2B5EF4-FFF2-40B4-BE49-F238E27FC236}">
                <a16:creationId xmlns:a16="http://schemas.microsoft.com/office/drawing/2014/main" id="{E914DA1C-ECEE-4425-9E32-A43EF580E863}"/>
              </a:ext>
            </a:extLst>
          </p:cNvPr>
          <p:cNvSpPr>
            <a:spLocks xmlns:a="http://schemas.openxmlformats.org/drawingml/2006/main" noGrp="1"/>
          </p:cNvSpPr>
          <p:nvPr/>
        </p:nvSpPr>
        <p:spPr>
          <a:xfrm xmlns:a="http://schemas.openxmlformats.org/drawingml/2006/main">
            <a:off x="609600" y="4781550"/>
            <a:ext cx="676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444"/>
                </a:solidFill>
                <a:latin typeface="Arial"/>
                <a:ea typeface="Arial"/>
                <a:cs typeface="Arial"/>
              </a:defRPr>
            </a:defPPr>
          </a:lstStyle>
          <a:p xmlns:a="http://schemas.openxmlformats.org/drawingml/2006/main">
            <a:pPr algn="l">
              <a:defRPr sz="1950" b="0">
                <a:solidFill>
                  <a:srgbClr val="183444"/>
                </a:solidFill>
                <a:latin typeface="Arial"/>
                <a:ea typeface="Arial"/>
                <a:cs typeface="Arial"/>
              </a:defRPr>
            </a:pPr>
            <a:r>
              <a:rPr sz="1950" b="0">
                <a:solidFill>
                  <a:srgbClr val="183444"/>
                </a:solidFill>
                <a:latin typeface="Arial"/>
                <a:ea typeface="Arial"/>
                <a:cs typeface="Arial"/>
              </a:rPr>
              <a:t>Code review and regression checks.</a:t>
            </a:r>
          </a:p>
        </p:txBody>
      </p:sp>
      <p:sp>
        <p:nvSpPr>
          <p:cNvPr id="11" name="text-j966ol-10">
            <a:extLst xmlns:a="http://schemas.openxmlformats.org/drawingml/2006/main">
              <a:ext uri="{FF2B5EF4-FFF2-40B4-BE49-F238E27FC236}">
                <a16:creationId xmlns:a16="http://schemas.microsoft.com/office/drawing/2014/main" id="{9B261119-F607-4E73-B630-9BC7AFD0092E}"/>
              </a:ext>
            </a:extLst>
          </p:cNvPr>
          <p:cNvSpPr>
            <a:spLocks xmlns:a="http://schemas.openxmlformats.org/drawingml/2006/main" noGrp="1"/>
          </p:cNvSpPr>
          <p:nvPr/>
        </p:nvSpPr>
        <p:spPr>
          <a:xfrm xmlns:a="http://schemas.openxmlformats.org/drawingml/2006/main">
            <a:off x="8610600" y="2047875"/>
            <a:ext cx="2724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096A6E"/>
                </a:solidFill>
                <a:latin typeface="Arial"/>
                <a:ea typeface="Arial"/>
                <a:cs typeface="Arial"/>
              </a:defRPr>
            </a:defPPr>
          </a:lstStyle>
          <a:p xmlns:a="http://schemas.openxmlformats.org/drawingml/2006/main">
            <a:pPr algn="l">
              <a:defRPr sz="5700" b="1">
                <a:solidFill>
                  <a:srgbClr val="096A6E"/>
                </a:solidFill>
                <a:latin typeface="Arial"/>
                <a:ea typeface="Arial"/>
                <a:cs typeface="Arial"/>
              </a:defRPr>
            </a:pPr>
            <a:r>
              <a:rPr sz="5700" b="1">
                <a:solidFill>
                  <a:srgbClr val="096A6E"/>
                </a:solidFill>
                <a:latin typeface="Arial"/>
                <a:ea typeface="Arial"/>
                <a:cs typeface="Arial"/>
              </a:rPr>
              <a:t>81</a:t>
            </a:r>
          </a:p>
        </p:txBody>
      </p:sp>
      <p:sp>
        <p:nvSpPr>
          <p:cNvPr id="12" name="text-j966ol-11">
            <a:extLst xmlns:a="http://schemas.openxmlformats.org/drawingml/2006/main">
              <a:ext uri="{FF2B5EF4-FFF2-40B4-BE49-F238E27FC236}">
                <a16:creationId xmlns:a16="http://schemas.microsoft.com/office/drawing/2014/main" id="{35F4039B-802C-4692-8E62-3F982C7CA397}"/>
              </a:ext>
            </a:extLst>
          </p:cNvPr>
          <p:cNvSpPr>
            <a:spLocks xmlns:a="http://schemas.openxmlformats.org/drawingml/2006/main" noGrp="1"/>
          </p:cNvSpPr>
          <p:nvPr/>
        </p:nvSpPr>
        <p:spPr>
          <a:xfrm xmlns:a="http://schemas.openxmlformats.org/drawingml/2006/main">
            <a:off x="8610600" y="2914650"/>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83444"/>
                </a:solidFill>
                <a:latin typeface="Arial"/>
                <a:ea typeface="Arial"/>
                <a:cs typeface="Arial"/>
              </a:defRPr>
            </a:defPPr>
          </a:lstStyle>
          <a:p xmlns:a="http://schemas.openxmlformats.org/drawingml/2006/main">
            <a:pPr algn="l">
              <a:defRPr sz="1800" b="0">
                <a:solidFill>
                  <a:srgbClr val="183444"/>
                </a:solidFill>
                <a:latin typeface="Arial"/>
                <a:ea typeface="Arial"/>
                <a:cs typeface="Arial"/>
              </a:defRPr>
            </a:pPr>
            <a:r>
              <a:rPr sz="1800" b="0">
                <a:solidFill>
                  <a:srgbClr val="183444"/>
                </a:solidFill>
                <a:latin typeface="Arial"/>
                <a:ea typeface="Arial"/>
                <a:cs typeface="Arial"/>
              </a:rPr>
              <a:t>local test methods</a:t>
            </a:r>
          </a:p>
          <a:p xmlns:a="http://schemas.openxmlformats.org/drawingml/2006/main">
            <a:pPr algn="l">
              <a:defRPr sz="1800" b="0">
                <a:solidFill>
                  <a:srgbClr val="183444"/>
                </a:solidFill>
                <a:latin typeface="Arial"/>
                <a:ea typeface="Arial"/>
                <a:cs typeface="Arial"/>
              </a:defRPr>
            </a:pPr>
            <a:r>
              <a:rPr sz="1800" b="0">
                <a:solidFill>
                  <a:srgbClr val="183444"/>
                </a:solidFill>
                <a:latin typeface="Arial"/>
                <a:ea typeface="Arial"/>
                <a:cs typeface="Arial"/>
              </a:rPr>
              <a:t>passed</a:t>
            </a:r>
          </a:p>
        </p:txBody>
      </p:sp>
      <p:sp>
        <p:nvSpPr>
          <p:cNvPr id="13" name="text-j966ol-12">
            <a:extLst xmlns:a="http://schemas.openxmlformats.org/drawingml/2006/main">
              <a:ext uri="{FF2B5EF4-FFF2-40B4-BE49-F238E27FC236}">
                <a16:creationId xmlns:a16="http://schemas.microsoft.com/office/drawing/2014/main" id="{A2A7AB71-28B1-4239-BA2D-D7966CB4D008}"/>
              </a:ext>
            </a:extLst>
          </p:cNvPr>
          <p:cNvSpPr>
            <a:spLocks xmlns:a="http://schemas.openxmlformats.org/drawingml/2006/main" noGrp="1"/>
          </p:cNvSpPr>
          <p:nvPr/>
        </p:nvSpPr>
        <p:spPr>
          <a:xfrm xmlns:a="http://schemas.openxmlformats.org/drawingml/2006/main">
            <a:off x="8610600" y="3905250"/>
            <a:ext cx="2724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096A6E"/>
                </a:solidFill>
                <a:latin typeface="Arial"/>
                <a:ea typeface="Arial"/>
                <a:cs typeface="Arial"/>
              </a:defRPr>
            </a:defPPr>
          </a:lstStyle>
          <a:p xmlns:a="http://schemas.openxmlformats.org/drawingml/2006/main">
            <a:pPr algn="l">
              <a:defRPr sz="5700" b="1">
                <a:solidFill>
                  <a:srgbClr val="096A6E"/>
                </a:solidFill>
                <a:latin typeface="Arial"/>
                <a:ea typeface="Arial"/>
                <a:cs typeface="Arial"/>
              </a:defRPr>
            </a:pPr>
            <a:r>
              <a:rPr sz="5700" b="1">
                <a:solidFill>
                  <a:srgbClr val="096A6E"/>
                </a:solidFill>
                <a:latin typeface="Arial"/>
                <a:ea typeface="Arial"/>
                <a:cs typeface="Arial"/>
              </a:rPr>
              <a:t>11</a:t>
            </a:r>
          </a:p>
        </p:txBody>
      </p:sp>
      <p:sp>
        <p:nvSpPr>
          <p:cNvPr id="14" name="text-j966ol-13">
            <a:extLst xmlns:a="http://schemas.openxmlformats.org/drawingml/2006/main">
              <a:ext uri="{FF2B5EF4-FFF2-40B4-BE49-F238E27FC236}">
                <a16:creationId xmlns:a16="http://schemas.microsoft.com/office/drawing/2014/main" id="{2ED6AA3B-683A-4096-91F6-DAFE447C9423}"/>
              </a:ext>
            </a:extLst>
          </p:cNvPr>
          <p:cNvSpPr>
            <a:spLocks xmlns:a="http://schemas.openxmlformats.org/drawingml/2006/main" noGrp="1"/>
          </p:cNvSpPr>
          <p:nvPr/>
        </p:nvSpPr>
        <p:spPr>
          <a:xfrm xmlns:a="http://schemas.openxmlformats.org/drawingml/2006/main">
            <a:off x="8610600" y="4772025"/>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83444"/>
                </a:solidFill>
                <a:latin typeface="Arial"/>
                <a:ea typeface="Arial"/>
                <a:cs typeface="Arial"/>
              </a:defRPr>
            </a:defPPr>
          </a:lstStyle>
          <a:p xmlns:a="http://schemas.openxmlformats.org/drawingml/2006/main">
            <a:pPr algn="l">
              <a:defRPr sz="1800" b="0">
                <a:solidFill>
                  <a:srgbClr val="183444"/>
                </a:solidFill>
                <a:latin typeface="Arial"/>
                <a:ea typeface="Arial"/>
                <a:cs typeface="Arial"/>
              </a:defRPr>
            </a:pPr>
            <a:r>
              <a:rPr sz="1800" b="0">
                <a:solidFill>
                  <a:srgbClr val="183444"/>
                </a:solidFill>
                <a:latin typeface="Arial"/>
                <a:ea typeface="Arial"/>
                <a:cs typeface="Arial"/>
              </a:rPr>
              <a:t>campaign cases</a:t>
            </a:r>
          </a:p>
          <a:p xmlns:a="http://schemas.openxmlformats.org/drawingml/2006/main">
            <a:pPr algn="l">
              <a:defRPr sz="1800" b="0">
                <a:solidFill>
                  <a:srgbClr val="183444"/>
                </a:solidFill>
                <a:latin typeface="Arial"/>
                <a:ea typeface="Arial"/>
                <a:cs typeface="Arial"/>
              </a:defRPr>
            </a:pPr>
            <a:r>
              <a:rPr sz="1800" b="0">
                <a:solidFill>
                  <a:srgbClr val="183444"/>
                </a:solidFill>
                <a:latin typeface="Arial"/>
                <a:ea typeface="Arial"/>
                <a:cs typeface="Arial"/>
              </a:rPr>
              <a:t>passed</a:t>
            </a:r>
          </a:p>
        </p:txBody>
      </p:sp>
      <p:sp>
        <p:nvSpPr>
          <p:cNvPr id="15" name="text-j966ol-14">
            <a:extLst xmlns:a="http://schemas.openxmlformats.org/drawingml/2006/main">
              <a:ext uri="{FF2B5EF4-FFF2-40B4-BE49-F238E27FC236}">
                <a16:creationId xmlns:a16="http://schemas.microsoft.com/office/drawing/2014/main" id="{722A0787-6573-4A27-81AB-FF27DD0983BD}"/>
              </a:ext>
            </a:extLst>
          </p:cNvPr>
          <p:cNvSpPr>
            <a:spLocks xmlns:a="http://schemas.openxmlformats.org/drawingml/2006/main" noGrp="1"/>
          </p:cNvSpPr>
          <p:nvPr/>
        </p:nvSpPr>
        <p:spPr>
          <a:xfrm xmlns:a="http://schemas.openxmlformats.org/drawingml/2006/main">
            <a:off x="609600" y="58293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2"/>
                </a:solidFill>
                <a:latin typeface="Arial"/>
                <a:ea typeface="Arial"/>
                <a:cs typeface="Arial"/>
              </a:defRPr>
            </a:defPPr>
          </a:lstStyle>
          <a:p xmlns:a="http://schemas.openxmlformats.org/drawingml/2006/main">
            <a:pPr algn="l">
              <a:defRPr sz="1800" b="0">
                <a:solidFill>
                  <a:srgbClr val="526872"/>
                </a:solidFill>
                <a:latin typeface="Arial"/>
                <a:ea typeface="Arial"/>
                <a:cs typeface="Arial"/>
              </a:defRPr>
            </a:pPr>
            <a:r>
              <a:rPr sz="1800" b="0">
                <a:solidFill>
                  <a:srgbClr val="526872"/>
                </a:solidFill>
                <a:latin typeface="Arial"/>
                <a:ea typeface="Arial"/>
                <a:cs typeface="Arial"/>
              </a:rPr>
              <a:t>Future options: capacity planning and carrier integration.</a:t>
            </a:r>
          </a:p>
        </p:txBody>
      </p:sp>
    </p:spTree>
    <p:extLst>
      <p:ext uri="{BB962C8B-B14F-4D97-AF65-F5344CB8AC3E}">
        <p14:creationId xmlns:p14="http://schemas.microsoft.com/office/powerpoint/2010/main" val="1249374604"/>
      </p:ext>
    </p:extLst>
  </p:cSld>
</p:sld>
</file>

<file path=ppt/slides/slide14.xml><?xml version="1.0" encoding="utf-8"?>
<p:sld xmlns:p="http://schemas.openxmlformats.org/presentationml/2006/main">
  <p:cSld>
    <p:bg>
      <p:bgPr>
        <a:solidFill xmlns:a="http://schemas.openxmlformats.org/drawingml/2006/main">
          <a:srgbClr val="102A3A"/>
        </a:solidFill>
      </p:bgPr>
    </p:bg>
    <p:spTree>
      <p:nvGrpSpPr>
        <p:cNvPr id="1" name=""/>
        <p:cNvGrpSpPr/>
        <p:nvPr/>
      </p:nvGrpSpPr>
      <p:grpSpPr>
        <a:xfrm xmlns:a="http://schemas.openxmlformats.org/drawingml/2006/main"/>
      </p:grpSpPr>
      <p:sp>
        <p:nvSpPr>
          <p:cNvPr id="15" name="text-ez671b-0">
            <a:extLst xmlns:a="http://schemas.openxmlformats.org/drawingml/2006/main">
              <a:ext uri="{FF2B5EF4-FFF2-40B4-BE49-F238E27FC236}">
                <a16:creationId xmlns:a16="http://schemas.microsoft.com/office/drawing/2014/main" id="{25A63F21-6A9E-4018-97D1-77EDE0BC8974}"/>
              </a:ext>
            </a:extLst>
          </p:cNvPr>
          <p:cNvSpPr>
            <a:spLocks xmlns:a="http://schemas.openxmlformats.org/drawingml/2006/main" noGrp="1"/>
          </p:cNvSpPr>
          <p:nvPr/>
        </p:nvSpPr>
        <p:spPr>
          <a:xfrm xmlns:a="http://schemas.openxmlformats.org/drawingml/2006/main">
            <a:off x="609600" y="495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Technology and source</a:t>
            </a:r>
          </a:p>
        </p:txBody>
      </p:sp>
      <p:sp>
        <p:nvSpPr>
          <p:cNvPr id="2" name="text-ez671b-1">
            <a:extLst xmlns:a="http://schemas.openxmlformats.org/drawingml/2006/main">
              <a:ext uri="{FF2B5EF4-FFF2-40B4-BE49-F238E27FC236}">
                <a16:creationId xmlns:a16="http://schemas.microsoft.com/office/drawing/2014/main" id="{EE5EDFC9-B3E3-4FA9-BE4E-7426660F1563}"/>
              </a:ext>
            </a:extLst>
          </p:cNvPr>
          <p:cNvSpPr>
            <a:spLocks xmlns:a="http://schemas.openxmlformats.org/drawingml/2006/main" noGrp="1"/>
          </p:cNvSpPr>
          <p:nvPr/>
        </p:nvSpPr>
        <p:spPr>
          <a:xfrm xmlns:a="http://schemas.openxmlformats.org/drawingml/2006/main">
            <a:off x="609600" y="1257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D4E6E2"/>
                </a:solidFill>
                <a:latin typeface="Arial"/>
                <a:ea typeface="Arial"/>
                <a:cs typeface="Arial"/>
              </a:defRPr>
            </a:defPPr>
          </a:lstStyle>
          <a:p xmlns:a="http://schemas.openxmlformats.org/drawingml/2006/main">
            <a:pPr algn="l">
              <a:defRPr sz="1950" b="0">
                <a:solidFill>
                  <a:srgbClr val="D4E6E2"/>
                </a:solidFill>
                <a:latin typeface="Arial"/>
                <a:ea typeface="Arial"/>
                <a:cs typeface="Arial"/>
              </a:defRPr>
            </a:pPr>
            <a:r>
              <a:rPr sz="1950" b="0">
                <a:solidFill>
                  <a:srgbClr val="D4E6E2"/>
                </a:solidFill>
                <a:latin typeface="Arial"/>
                <a:ea typeface="Arial"/>
                <a:cs typeface="Arial"/>
              </a:rPr>
              <a:t>Platform and tools used in the local demonstration.</a:t>
            </a:r>
          </a:p>
        </p:txBody>
      </p:sp>
      <p:sp>
        <p:nvSpPr>
          <p:cNvPr id="3" name="text-ez671b-2">
            <a:extLst xmlns:a="http://schemas.openxmlformats.org/drawingml/2006/main">
              <a:ext uri="{FF2B5EF4-FFF2-40B4-BE49-F238E27FC236}">
                <a16:creationId xmlns:a16="http://schemas.microsoft.com/office/drawing/2014/main" id="{164E2B4F-F33A-41B6-9BD8-46BFCDE0BE3E}"/>
              </a:ext>
            </a:extLst>
          </p:cNvPr>
          <p:cNvSpPr>
            <a:spLocks xmlns:a="http://schemas.openxmlformats.org/drawingml/2006/main" noGrp="1"/>
          </p:cNvSpPr>
          <p:nvPr/>
        </p:nvSpPr>
        <p:spPr>
          <a:xfrm xmlns:a="http://schemas.openxmlformats.org/drawingml/2006/main">
            <a:off x="609600" y="6448425"/>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AD4D2"/>
                </a:solidFill>
                <a:latin typeface="Arial"/>
                <a:ea typeface="Arial"/>
                <a:cs typeface="Arial"/>
              </a:defRPr>
            </a:defPPr>
          </a:lstStyle>
          <a:p xmlns:a="http://schemas.openxmlformats.org/drawingml/2006/main">
            <a:pPr algn="l">
              <a:defRPr sz="1275" b="0">
                <a:solidFill>
                  <a:srgbClr val="BAD4D2"/>
                </a:solidFill>
                <a:latin typeface="Arial"/>
                <a:ea typeface="Arial"/>
                <a:cs typeface="Arial"/>
              </a:defRPr>
            </a:pPr>
            <a:r>
              <a:rPr sz="1275" b="0">
                <a:solidFill>
                  <a:srgbClr val="BAD4D2"/>
                </a:solidFill>
                <a:latin typeface="Arial"/>
                <a:ea typeface="Arial"/>
                <a:cs typeface="Arial"/>
              </a:rPr>
              <a:t>HALY synthetic portfolio case study</a:t>
            </a:r>
          </a:p>
        </p:txBody>
      </p:sp>
      <p:sp>
        <p:nvSpPr>
          <p:cNvPr id="4" name="text-ez671b-3">
            <a:extLst xmlns:a="http://schemas.openxmlformats.org/drawingml/2006/main">
              <a:ext uri="{FF2B5EF4-FFF2-40B4-BE49-F238E27FC236}">
                <a16:creationId xmlns:a16="http://schemas.microsoft.com/office/drawing/2014/main" id="{EF1FF62E-8ADE-4DC0-8C67-621870805AE9}"/>
              </a:ext>
            </a:extLst>
          </p:cNvPr>
          <p:cNvSpPr>
            <a:spLocks xmlns:a="http://schemas.openxmlformats.org/drawingml/2006/main" noGrp="1"/>
          </p:cNvSpPr>
          <p:nvPr/>
        </p:nvSpPr>
        <p:spPr>
          <a:xfrm xmlns:a="http://schemas.openxmlformats.org/drawingml/2006/main">
            <a:off x="10572750" y="6448425"/>
            <a:ext cx="1009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BAD4D2"/>
                </a:solidFill>
                <a:latin typeface="Arial"/>
                <a:ea typeface="Arial"/>
                <a:cs typeface="Arial"/>
              </a:defRPr>
            </a:defPPr>
          </a:lstStyle>
          <a:p xmlns:a="http://schemas.openxmlformats.org/drawingml/2006/main">
            <a:pPr algn="r">
              <a:defRPr sz="1275" b="0">
                <a:solidFill>
                  <a:srgbClr val="BAD4D2"/>
                </a:solidFill>
                <a:latin typeface="Arial"/>
                <a:ea typeface="Arial"/>
                <a:cs typeface="Arial"/>
              </a:defRPr>
            </a:pPr>
            <a:r>
              <a:rPr sz="1275" b="0">
                <a:solidFill>
                  <a:srgbClr val="BAD4D2"/>
                </a:solidFill>
                <a:latin typeface="Arial"/>
                <a:ea typeface="Arial"/>
                <a:cs typeface="Arial"/>
              </a:rPr>
              <a:t>14 / 14</a:t>
            </a:r>
          </a:p>
        </p:txBody>
      </p:sp>
      <p:sp>
        <p:nvSpPr>
          <p:cNvPr id="5" name="text-ez671b-4">
            <a:extLst xmlns:a="http://schemas.openxmlformats.org/drawingml/2006/main">
              <a:ext uri="{FF2B5EF4-FFF2-40B4-BE49-F238E27FC236}">
                <a16:creationId xmlns:a16="http://schemas.microsoft.com/office/drawing/2014/main" id="{D6739329-850B-4CA8-9EB4-97D7952AE199}"/>
              </a:ext>
            </a:extLst>
          </p:cNvPr>
          <p:cNvSpPr>
            <a:spLocks xmlns:a="http://schemas.openxmlformats.org/drawingml/2006/main" noGrp="1"/>
          </p:cNvSpPr>
          <p:nvPr/>
        </p:nvSpPr>
        <p:spPr>
          <a:xfrm xmlns:a="http://schemas.openxmlformats.org/drawingml/2006/main">
            <a:off x="609600" y="205740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CD5CD"/>
                </a:solidFill>
                <a:latin typeface="Arial"/>
                <a:ea typeface="Arial"/>
                <a:cs typeface="Arial"/>
              </a:defRPr>
            </a:defPPr>
          </a:lstStyle>
          <a:p xmlns:a="http://schemas.openxmlformats.org/drawingml/2006/main">
            <a:pPr algn="l">
              <a:defRPr sz="2175" b="1">
                <a:solidFill>
                  <a:srgbClr val="9CD5CD"/>
                </a:solidFill>
                <a:latin typeface="Arial"/>
                <a:ea typeface="Arial"/>
                <a:cs typeface="Arial"/>
              </a:defRPr>
            </a:pPr>
            <a:r>
              <a:rPr sz="2175" b="1">
                <a:solidFill>
                  <a:srgbClr val="9CD5CD"/>
                </a:solidFill>
                <a:latin typeface="Arial"/>
                <a:ea typeface="Arial"/>
                <a:cs typeface="Arial"/>
              </a:rPr>
              <a:t>Business platform</a:t>
            </a:r>
          </a:p>
        </p:txBody>
      </p:sp>
      <p:sp>
        <p:nvSpPr>
          <p:cNvPr id="6" name="text-ez671b-5">
            <a:extLst xmlns:a="http://schemas.openxmlformats.org/drawingml/2006/main">
              <a:ext uri="{FF2B5EF4-FFF2-40B4-BE49-F238E27FC236}">
                <a16:creationId xmlns:a16="http://schemas.microsoft.com/office/drawing/2014/main" id="{FA52DF02-6AD9-4A9F-9142-383117C6F2F0}"/>
              </a:ext>
            </a:extLst>
          </p:cNvPr>
          <p:cNvSpPr>
            <a:spLocks xmlns:a="http://schemas.openxmlformats.org/drawingml/2006/main" noGrp="1"/>
          </p:cNvSpPr>
          <p:nvPr/>
        </p:nvSpPr>
        <p:spPr>
          <a:xfrm xmlns:a="http://schemas.openxmlformats.org/drawingml/2006/main">
            <a:off x="609600" y="253365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Odoo 19 Community</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Sales, Inventory, Purchase, Manufacturing</a:t>
            </a:r>
          </a:p>
        </p:txBody>
      </p:sp>
      <p:sp>
        <p:nvSpPr>
          <p:cNvPr id="7" name="text-ez671b-6">
            <a:extLst xmlns:a="http://schemas.openxmlformats.org/drawingml/2006/main">
              <a:ext uri="{FF2B5EF4-FFF2-40B4-BE49-F238E27FC236}">
                <a16:creationId xmlns:a16="http://schemas.microsoft.com/office/drawing/2014/main" id="{1F01FCBE-1957-4000-B5A8-0CFB48698695}"/>
              </a:ext>
            </a:extLst>
          </p:cNvPr>
          <p:cNvSpPr>
            <a:spLocks xmlns:a="http://schemas.openxmlformats.org/drawingml/2006/main" noGrp="1"/>
          </p:cNvSpPr>
          <p:nvPr/>
        </p:nvSpPr>
        <p:spPr>
          <a:xfrm xmlns:a="http://schemas.openxmlformats.org/drawingml/2006/main">
            <a:off x="609600" y="4029075"/>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CD5CD"/>
                </a:solidFill>
                <a:latin typeface="Arial"/>
                <a:ea typeface="Arial"/>
                <a:cs typeface="Arial"/>
              </a:defRPr>
            </a:defPPr>
          </a:lstStyle>
          <a:p xmlns:a="http://schemas.openxmlformats.org/drawingml/2006/main">
            <a:pPr algn="l">
              <a:defRPr sz="2175" b="1">
                <a:solidFill>
                  <a:srgbClr val="9CD5CD"/>
                </a:solidFill>
                <a:latin typeface="Arial"/>
                <a:ea typeface="Arial"/>
                <a:cs typeface="Arial"/>
              </a:defRPr>
            </a:pPr>
            <a:r>
              <a:rPr sz="2175" b="1">
                <a:solidFill>
                  <a:srgbClr val="9CD5CD"/>
                </a:solidFill>
                <a:latin typeface="Arial"/>
                <a:ea typeface="Arial"/>
                <a:cs typeface="Arial"/>
              </a:rPr>
              <a:t>Implementation</a:t>
            </a:r>
          </a:p>
        </p:txBody>
      </p:sp>
      <p:sp>
        <p:nvSpPr>
          <p:cNvPr id="8" name="text-ez671b-7">
            <a:extLst xmlns:a="http://schemas.openxmlformats.org/drawingml/2006/main">
              <a:ext uri="{FF2B5EF4-FFF2-40B4-BE49-F238E27FC236}">
                <a16:creationId xmlns:a16="http://schemas.microsoft.com/office/drawing/2014/main" id="{0680BEE7-026B-440B-925F-85F75EC92D51}"/>
              </a:ext>
            </a:extLst>
          </p:cNvPr>
          <p:cNvSpPr>
            <a:spLocks xmlns:a="http://schemas.openxmlformats.org/drawingml/2006/main" noGrp="1"/>
          </p:cNvSpPr>
          <p:nvPr/>
        </p:nvSpPr>
        <p:spPr>
          <a:xfrm xmlns:a="http://schemas.openxmlformats.org/drawingml/2006/main">
            <a:off x="609600" y="4505325"/>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Python business rules</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XML views and CSV access controls</a:t>
            </a:r>
          </a:p>
        </p:txBody>
      </p:sp>
      <p:sp>
        <p:nvSpPr>
          <p:cNvPr id="9" name="text-ez671b-8">
            <a:extLst xmlns:a="http://schemas.openxmlformats.org/drawingml/2006/main">
              <a:ext uri="{FF2B5EF4-FFF2-40B4-BE49-F238E27FC236}">
                <a16:creationId xmlns:a16="http://schemas.microsoft.com/office/drawing/2014/main" id="{D169815C-275C-4698-BA99-01CB08AA666C}"/>
              </a:ext>
            </a:extLst>
          </p:cNvPr>
          <p:cNvSpPr>
            <a:spLocks xmlns:a="http://schemas.openxmlformats.org/drawingml/2006/main" noGrp="1"/>
          </p:cNvSpPr>
          <p:nvPr/>
        </p:nvSpPr>
        <p:spPr>
          <a:xfrm xmlns:a="http://schemas.openxmlformats.org/drawingml/2006/main">
            <a:off x="6667500" y="20574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CD5CD"/>
                </a:solidFill>
                <a:latin typeface="Arial"/>
                <a:ea typeface="Arial"/>
                <a:cs typeface="Arial"/>
              </a:defRPr>
            </a:defPPr>
          </a:lstStyle>
          <a:p xmlns:a="http://schemas.openxmlformats.org/drawingml/2006/main">
            <a:pPr algn="l">
              <a:defRPr sz="2175" b="1">
                <a:solidFill>
                  <a:srgbClr val="9CD5CD"/>
                </a:solidFill>
                <a:latin typeface="Arial"/>
                <a:ea typeface="Arial"/>
                <a:cs typeface="Arial"/>
              </a:defRPr>
            </a:pPr>
            <a:r>
              <a:rPr sz="2175" b="1">
                <a:solidFill>
                  <a:srgbClr val="9CD5CD"/>
                </a:solidFill>
                <a:latin typeface="Arial"/>
                <a:ea typeface="Arial"/>
                <a:cs typeface="Arial"/>
              </a:rPr>
              <a:t>Data and environment</a:t>
            </a:r>
          </a:p>
        </p:txBody>
      </p:sp>
      <p:sp>
        <p:nvSpPr>
          <p:cNvPr id="10" name="text-ez671b-9">
            <a:extLst xmlns:a="http://schemas.openxmlformats.org/drawingml/2006/main">
              <a:ext uri="{FF2B5EF4-FFF2-40B4-BE49-F238E27FC236}">
                <a16:creationId xmlns:a16="http://schemas.microsoft.com/office/drawing/2014/main" id="{098A3227-B31B-49AB-BE27-94DA64E94129}"/>
              </a:ext>
            </a:extLst>
          </p:cNvPr>
          <p:cNvSpPr>
            <a:spLocks xmlns:a="http://schemas.openxmlformats.org/drawingml/2006/main" noGrp="1"/>
          </p:cNvSpPr>
          <p:nvPr/>
        </p:nvSpPr>
        <p:spPr>
          <a:xfrm xmlns:a="http://schemas.openxmlformats.org/drawingml/2006/main">
            <a:off x="6667500" y="25336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PostgreSQL 15</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Docker and PowerShell validation helpers</a:t>
            </a:r>
          </a:p>
        </p:txBody>
      </p:sp>
      <p:sp>
        <p:nvSpPr>
          <p:cNvPr id="11" name="text-ez671b-10">
            <a:extLst xmlns:a="http://schemas.openxmlformats.org/drawingml/2006/main">
              <a:ext uri="{FF2B5EF4-FFF2-40B4-BE49-F238E27FC236}">
                <a16:creationId xmlns:a16="http://schemas.microsoft.com/office/drawing/2014/main" id="{59E4BD55-F283-4C16-B6B0-5544B9F5A40D}"/>
              </a:ext>
            </a:extLst>
          </p:cNvPr>
          <p:cNvSpPr>
            <a:spLocks xmlns:a="http://schemas.openxmlformats.org/drawingml/2006/main" noGrp="1"/>
          </p:cNvSpPr>
          <p:nvPr/>
        </p:nvSpPr>
        <p:spPr>
          <a:xfrm xmlns:a="http://schemas.openxmlformats.org/drawingml/2006/main">
            <a:off x="6667500" y="40290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CD5CD"/>
                </a:solidFill>
                <a:latin typeface="Arial"/>
                <a:ea typeface="Arial"/>
                <a:cs typeface="Arial"/>
              </a:defRPr>
            </a:defPPr>
          </a:lstStyle>
          <a:p xmlns:a="http://schemas.openxmlformats.org/drawingml/2006/main">
            <a:pPr algn="l">
              <a:defRPr sz="2175" b="1">
                <a:solidFill>
                  <a:srgbClr val="9CD5CD"/>
                </a:solidFill>
                <a:latin typeface="Arial"/>
                <a:ea typeface="Arial"/>
                <a:cs typeface="Arial"/>
              </a:defRPr>
            </a:pPr>
            <a:r>
              <a:rPr sz="2175" b="1">
                <a:solidFill>
                  <a:srgbClr val="9CD5CD"/>
                </a:solidFill>
                <a:latin typeface="Arial"/>
                <a:ea typeface="Arial"/>
                <a:cs typeface="Arial"/>
              </a:rPr>
              <a:t>Version control</a:t>
            </a:r>
          </a:p>
        </p:txBody>
      </p:sp>
      <p:sp>
        <p:nvSpPr>
          <p:cNvPr id="12" name="text-ez671b-11">
            <a:extLst xmlns:a="http://schemas.openxmlformats.org/drawingml/2006/main">
              <a:ext uri="{FF2B5EF4-FFF2-40B4-BE49-F238E27FC236}">
                <a16:creationId xmlns:a16="http://schemas.microsoft.com/office/drawing/2014/main" id="{0A4F4466-9DE0-4181-9D8C-353FAB4B3901}"/>
              </a:ext>
            </a:extLst>
          </p:cNvPr>
          <p:cNvSpPr>
            <a:spLocks xmlns:a="http://schemas.openxmlformats.org/drawingml/2006/main" noGrp="1"/>
          </p:cNvSpPr>
          <p:nvPr/>
        </p:nvSpPr>
        <p:spPr>
          <a:xfrm xmlns:a="http://schemas.openxmlformats.org/drawingml/2006/main">
            <a:off x="6667500" y="45053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Git and </a:t>
            </a:r>
            <a:r>
              <a:rPr sz="2025" b="0">
                <a:solidFill>
                  <a:srgbClr val="FFFFFF"/>
                </a:solidFill>
                <a:latin typeface="Arial"/>
                <a:ea typeface="Arial"/>
                <a:cs typeface="Arial"/>
                <a:hlinkClick xmlns:r="http://schemas.openxmlformats.org/officeDocument/2006/relationships" r:id="R36e8946e84964a5d"/>
              </a:rPr>
              <a:t>GitHub</a:t>
            </a:r>
          </a:p>
        </p:txBody>
      </p:sp>
      <p:sp>
        <p:nvSpPr>
          <p:cNvPr id="13" name="text-ez671b-12">
            <a:extLst xmlns:a="http://schemas.openxmlformats.org/drawingml/2006/main">
              <a:ext uri="{FF2B5EF4-FFF2-40B4-BE49-F238E27FC236}">
                <a16:creationId xmlns:a16="http://schemas.microsoft.com/office/drawing/2014/main" id="{3DDECA49-3A80-4C58-A452-F40D4463B75C}"/>
              </a:ext>
            </a:extLst>
          </p:cNvPr>
          <p:cNvSpPr>
            <a:spLocks xmlns:a="http://schemas.openxmlformats.org/drawingml/2006/main" noGrp="1"/>
          </p:cNvSpPr>
          <p:nvPr/>
        </p:nvSpPr>
        <p:spPr>
          <a:xfrm xmlns:a="http://schemas.openxmlformats.org/drawingml/2006/main">
            <a:off x="6667500" y="5019675"/>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4E6E2"/>
                </a:solidFill>
                <a:latin typeface="Arial"/>
                <a:ea typeface="Arial"/>
                <a:cs typeface="Arial"/>
              </a:defRPr>
            </a:defPPr>
          </a:lstStyle>
          <a:p xmlns:a="http://schemas.openxmlformats.org/drawingml/2006/main">
            <a:pPr algn="l">
              <a:defRPr sz="1800" b="0">
                <a:solidFill>
                  <a:srgbClr val="D4E6E2"/>
                </a:solidFill>
                <a:latin typeface="Arial"/>
                <a:ea typeface="Arial"/>
                <a:cs typeface="Arial"/>
              </a:defRPr>
            </a:pPr>
            <a:r>
              <a:rPr sz="1800" b="0">
                <a:solidFill>
                  <a:srgbClr val="D4E6E2"/>
                </a:solidFill>
                <a:latin typeface="Arial"/>
                <a:ea typeface="Arial"/>
                <a:cs typeface="Arial"/>
              </a:rPr>
              <a:t>Source code on GitHub</a:t>
            </a:r>
          </a:p>
        </p:txBody>
      </p:sp>
      <p:sp>
        <p:nvSpPr>
          <p:cNvPr id="14" name="text-ez671b-13">
            <a:extLst xmlns:a="http://schemas.openxmlformats.org/drawingml/2006/main">
              <a:ext uri="{FF2B5EF4-FFF2-40B4-BE49-F238E27FC236}">
                <a16:creationId xmlns:a16="http://schemas.microsoft.com/office/drawing/2014/main" id="{671C15CF-3E1B-4CC1-A097-EB2F2B66078B}"/>
              </a:ext>
            </a:extLst>
          </p:cNvPr>
          <p:cNvSpPr>
            <a:spLocks xmlns:a="http://schemas.openxmlformats.org/drawingml/2006/main" noGrp="1"/>
          </p:cNvSpPr>
          <p:nvPr/>
        </p:nvSpPr>
        <p:spPr>
          <a:xfrm xmlns:a="http://schemas.openxmlformats.org/drawingml/2006/main">
            <a:off x="609600" y="58007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D4E6E2"/>
                </a:solidFill>
                <a:latin typeface="Arial"/>
                <a:ea typeface="Arial"/>
                <a:cs typeface="Arial"/>
              </a:defRPr>
            </a:defPPr>
          </a:lstStyle>
          <a:p xmlns:a="http://schemas.openxmlformats.org/drawingml/2006/main">
            <a:pPr algn="l">
              <a:defRPr sz="1575" b="0">
                <a:solidFill>
                  <a:srgbClr val="D4E6E2"/>
                </a:solidFill>
                <a:latin typeface="Arial"/>
                <a:ea typeface="Arial"/>
                <a:cs typeface="Arial"/>
              </a:defRPr>
            </a:pPr>
            <a:r>
              <a:rPr sz="1575" b="0">
                <a:solidFill>
                  <a:srgbClr val="D4E6E2"/>
                </a:solidFill>
                <a:latin typeface="Arial"/>
                <a:ea typeface="Arial"/>
                <a:cs typeface="Arial"/>
              </a:rPr>
              <a:t>Synthetic demo. No production deployment.</a:t>
            </a:r>
          </a:p>
        </p:txBody>
      </p:sp>
    </p:spTree>
    <p:extLst>
      <p:ext uri="{BB962C8B-B14F-4D97-AF65-F5344CB8AC3E}">
        <p14:creationId xmlns:p14="http://schemas.microsoft.com/office/powerpoint/2010/main" val="10238565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2026-10-15T16:22:12.2050000Z</dcterms:created>
  <dcterms:modified xsi:type="dcterms:W3CDTF">2026-10-15T16:22:12.2050000Z</dcterms:modified>
</coreProperties>
</file>