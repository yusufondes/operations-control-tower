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fa65f7802a4afe" /><Relationship Type="http://schemas.openxmlformats.org/officeDocument/2006/relationships/extended-properties" Target="/docProps/app.xml" Id="R2f4b8d14bebc477b" /><Relationship Type="http://schemas.openxmlformats.org/officeDocument/2006/relationships/officeDocument" Target="/ppt/presentation.xml" Id="Ref90b65c63b54ed0" /></Relationships>
</file>

<file path=ppt/presentation.xml><?xml version="1.0" encoding="utf-8"?>
<p:presentation xmlns:p="http://schemas.openxmlformats.org/presentationml/2006/main">
  <p:sldMasterIdLst>
    <p:sldMasterId xmlns:r="http://schemas.openxmlformats.org/officeDocument/2006/relationships" id="2147483648" r:id="Rb8e5493522ad46d0"/>
  </p:sldMasterIdLst>
  <p:notesMasterIdLst>
    <p:notesMasterId xmlns:r="http://schemas.openxmlformats.org/officeDocument/2006/relationships" r:id="Ra24e14387e3f4605"/>
  </p:notesMasterIdLst>
  <p:sldIdLst>
    <p:sldId xmlns:r="http://schemas.openxmlformats.org/officeDocument/2006/relationships" id="256" r:id="R60394d61a6c342c1"/>
    <p:sldId xmlns:r="http://schemas.openxmlformats.org/officeDocument/2006/relationships" id="257" r:id="R58c9715f051c43d9"/>
    <p:sldId xmlns:r="http://schemas.openxmlformats.org/officeDocument/2006/relationships" id="258" r:id="Rbfc0204c5a0844f6"/>
    <p:sldId xmlns:r="http://schemas.openxmlformats.org/officeDocument/2006/relationships" id="259" r:id="R408fd3ee6354433c"/>
    <p:sldId xmlns:r="http://schemas.openxmlformats.org/officeDocument/2006/relationships" id="260" r:id="Reb7eadebc9604ef0"/>
    <p:sldId xmlns:r="http://schemas.openxmlformats.org/officeDocument/2006/relationships" id="261" r:id="Rb76ee1696e984061"/>
    <p:sldId xmlns:r="http://schemas.openxmlformats.org/officeDocument/2006/relationships" id="262" r:id="Ra9391ef8d840411a"/>
    <p:sldId xmlns:r="http://schemas.openxmlformats.org/officeDocument/2006/relationships" id="263" r:id="R435155b647474f5b"/>
    <p:sldId xmlns:r="http://schemas.openxmlformats.org/officeDocument/2006/relationships" id="264" r:id="R0b3d86286064431f"/>
    <p:sldId xmlns:r="http://schemas.openxmlformats.org/officeDocument/2006/relationships" id="265" r:id="Raa8e6c11f16d4f8b"/>
    <p:sldId xmlns:r="http://schemas.openxmlformats.org/officeDocument/2006/relationships" id="266" r:id="R2be368066a734033"/>
    <p:sldId xmlns:r="http://schemas.openxmlformats.org/officeDocument/2006/relationships" id="267" r:id="R85013d0c00744d42"/>
    <p:sldId xmlns:r="http://schemas.openxmlformats.org/officeDocument/2006/relationships" id="268" r:id="R5862f882f39e4c77"/>
    <p:sldId xmlns:r="http://schemas.openxmlformats.org/officeDocument/2006/relationships" id="269" r:id="Re89e258182e94b61"/>
    <p:sldId xmlns:r="http://schemas.openxmlformats.org/officeDocument/2006/relationships" id="270" r:id="R94c0ee5ee8344081"/>
    <p:sldId xmlns:r="http://schemas.openxmlformats.org/officeDocument/2006/relationships" id="271" r:id="Rde39814904af4dfa"/>
    <p:sldId xmlns:r="http://schemas.openxmlformats.org/officeDocument/2006/relationships" id="272" r:id="Rdc8ee44168d74d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55bf3f4639486f" /><Relationship Type="http://schemas.openxmlformats.org/officeDocument/2006/relationships/slideMaster" Target="/ppt/slideMasters/slideMaster1.xml" Id="Rb8e5493522ad46d0" /><Relationship Type="http://schemas.openxmlformats.org/officeDocument/2006/relationships/notesMaster" Target="/ppt/notesMasters/notesMaster1.xml" Id="Ra24e14387e3f4605" /><Relationship Type="http://schemas.openxmlformats.org/officeDocument/2006/relationships/presProps" Target="/ppt/presProps.xml" Id="Re99a483944f348b1" /><Relationship Type="http://schemas.openxmlformats.org/officeDocument/2006/relationships/tableStyles" Target="/ppt/tableStyles.xml" Id="Rf894f41f3f2d4928" /><Relationship Type="http://schemas.openxmlformats.org/officeDocument/2006/relationships/slide" Target="/ppt/slides/slide1.xml" Id="R60394d61a6c342c1" /><Relationship Type="http://schemas.openxmlformats.org/officeDocument/2006/relationships/slide" Target="/ppt/slides/slide2.xml" Id="R58c9715f051c43d9" /><Relationship Type="http://schemas.openxmlformats.org/officeDocument/2006/relationships/slide" Target="/ppt/slides/slide3.xml" Id="Rbfc0204c5a0844f6" /><Relationship Type="http://schemas.openxmlformats.org/officeDocument/2006/relationships/slide" Target="/ppt/slides/slide4.xml" Id="R408fd3ee6354433c" /><Relationship Type="http://schemas.openxmlformats.org/officeDocument/2006/relationships/slide" Target="/ppt/slides/slide5.xml" Id="Reb7eadebc9604ef0" /><Relationship Type="http://schemas.openxmlformats.org/officeDocument/2006/relationships/slide" Target="/ppt/slides/slide6.xml" Id="Rb76ee1696e984061" /><Relationship Type="http://schemas.openxmlformats.org/officeDocument/2006/relationships/slide" Target="/ppt/slides/slide7.xml" Id="Ra9391ef8d840411a" /><Relationship Type="http://schemas.openxmlformats.org/officeDocument/2006/relationships/slide" Target="/ppt/slides/slide8.xml" Id="R435155b647474f5b" /><Relationship Type="http://schemas.openxmlformats.org/officeDocument/2006/relationships/slide" Target="/ppt/slides/slide9.xml" Id="R0b3d86286064431f" /><Relationship Type="http://schemas.openxmlformats.org/officeDocument/2006/relationships/slide" Target="/ppt/slides/slide10.xml" Id="Raa8e6c11f16d4f8b" /><Relationship Type="http://schemas.openxmlformats.org/officeDocument/2006/relationships/slide" Target="/ppt/slides/slide11.xml" Id="R2be368066a734033" /><Relationship Type="http://schemas.openxmlformats.org/officeDocument/2006/relationships/slide" Target="/ppt/slides/slide12.xml" Id="R85013d0c00744d42" /><Relationship Type="http://schemas.openxmlformats.org/officeDocument/2006/relationships/slide" Target="/ppt/slides/slide13.xml" Id="R5862f882f39e4c77" /><Relationship Type="http://schemas.openxmlformats.org/officeDocument/2006/relationships/slide" Target="/ppt/slides/slide14.xml" Id="Re89e258182e94b61" /><Relationship Type="http://schemas.openxmlformats.org/officeDocument/2006/relationships/slide" Target="/ppt/slides/slide15.xml" Id="R94c0ee5ee8344081" /><Relationship Type="http://schemas.openxmlformats.org/officeDocument/2006/relationships/slide" Target="/ppt/slides/slide16.xml" Id="Rde39814904af4dfa" /><Relationship Type="http://schemas.openxmlformats.org/officeDocument/2006/relationships/slide" Target="/ppt/slides/slide17.xml" Id="Rdc8ee44168d74d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729ed29c9a41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b9914a8e7943c6" /><Relationship Type="http://schemas.openxmlformats.org/officeDocument/2006/relationships/notesMaster" Target="/ppt/notesMasters/notesMaster1.xml" Id="Rcb9d24585f5340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c40f92761d428c" /><Relationship Type="http://schemas.openxmlformats.org/officeDocument/2006/relationships/notesMaster" Target="/ppt/notesMasters/notesMaster1.xml" Id="R39c912fc12014a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da130c019c4993" /><Relationship Type="http://schemas.openxmlformats.org/officeDocument/2006/relationships/notesMaster" Target="/ppt/notesMasters/notesMaster1.xml" Id="R3c60d78ad36f45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bb379608cd4137" /><Relationship Type="http://schemas.openxmlformats.org/officeDocument/2006/relationships/notesMaster" Target="/ppt/notesMasters/notesMaster1.xml" Id="R5b38ab89df974f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1f61f61c4e4443" /><Relationship Type="http://schemas.openxmlformats.org/officeDocument/2006/relationships/notesMaster" Target="/ppt/notesMasters/notesMaster1.xml" Id="R73a1c569ebcb4c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7fa0ec5f0e44f6" /><Relationship Type="http://schemas.openxmlformats.org/officeDocument/2006/relationships/notesMaster" Target="/ppt/notesMasters/notesMaster1.xml" Id="Rf2e3a20c0a404d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57d1d10dee43ee" /><Relationship Type="http://schemas.openxmlformats.org/officeDocument/2006/relationships/notesMaster" Target="/ppt/notesMasters/notesMaster1.xml" Id="R389b2d0f5a814c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5801fd6c5e4b76" /><Relationship Type="http://schemas.openxmlformats.org/officeDocument/2006/relationships/notesMaster" Target="/ppt/notesMasters/notesMaster1.xml" Id="R3969f04dd65c49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321532b0104feb" /><Relationship Type="http://schemas.openxmlformats.org/officeDocument/2006/relationships/notesMaster" Target="/ppt/notesMasters/notesMaster1.xml" Id="Rc9568815a68c47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9f58dbf9ea4f09" /><Relationship Type="http://schemas.openxmlformats.org/officeDocument/2006/relationships/notesMaster" Target="/ppt/notesMasters/notesMaster1.xml" Id="Rc6dbe4fc598f4c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029887c6514575" /><Relationship Type="http://schemas.openxmlformats.org/officeDocument/2006/relationships/notesMaster" Target="/ppt/notesMasters/notesMaster1.xml" Id="R134e7b39c74243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5bdfa0b3764d49" /><Relationship Type="http://schemas.openxmlformats.org/officeDocument/2006/relationships/notesMaster" Target="/ppt/notesMasters/notesMaster1.xml" Id="R8dd0e23ca2a243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6152765e214976" /><Relationship Type="http://schemas.openxmlformats.org/officeDocument/2006/relationships/notesMaster" Target="/ppt/notesMasters/notesMaster1.xml" Id="R21dc08c183c640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f9a120f5ee4914" /><Relationship Type="http://schemas.openxmlformats.org/officeDocument/2006/relationships/notesMaster" Target="/ppt/notesMasters/notesMaster1.xml" Id="Re484816be41541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2b2d9736fc4996" /><Relationship Type="http://schemas.openxmlformats.org/officeDocument/2006/relationships/notesMaster" Target="/ppt/notesMasters/notesMaster1.xml" Id="R748edd428625448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0cb56090294823" /><Relationship Type="http://schemas.openxmlformats.org/officeDocument/2006/relationships/notesMaster" Target="/ppt/notesMasters/notesMaster1.xml" Id="Rcd3ab68c49244f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b32133b33b495e" /><Relationship Type="http://schemas.openxmlformats.org/officeDocument/2006/relationships/notesMaster" Target="/ppt/notesMasters/notesMaster1.xml" Id="Rf0450b04e9b840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HALY is a fictional powdered-drink manufacturer. This portfolio demonstrates a realistic campaign-fulfilment problem with synthetic data. The project connects accepted dispatch promises to stock allocation, controlled shipments and accountable exceptions. It is a local demonstration with source published to a Private GitHub repository, not a production client implementation. The cover is an AI-generated representative concept image, not a photograph of an actual HALY company or facility.</a:t>
            </a:r>
          </a:p>
          <a:p xmlns:a="http://schemas.openxmlformats.org/drawingml/2006/main">
            <a:r>
              <a:t/>
            </a:r>
          </a:p>
          <a:p xmlns:a="http://schemas.openxmlformats.org/drawingml/2006/main">
            <a:r>
              <a:t>Sources: Repository: docs/DEMO.md; docs/TASKS.md, TASK-0007; docs/evidence/task-0007/README.md. Presentation design reference: https://support.microsoft.com/en-us/powerpoint/tips-for-creating-and-delivering-an-effective-presentation and https://support.microsoft.com/en-us/powerpoint/combining-colors-in-powerpoint-mistakes-to-avoid Cover asset: docs/portfolio/assets/haly-cover-concept.png. Generated with the built-in image tool on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synthetic campaign starts with 900 units of demand and 500 finished units on hand. HALY closes the remaining 400-unit gap through its own manufacturing process rather than buying finished products. Two suppliers provide raw materials. These values describe the validated end-to-end scenario, not a real sales forecast or measured company result.</a:t>
            </a:r>
          </a:p>
          <a:p xmlns:a="http://schemas.openxmlformats.org/drawingml/2006/main">
            <a:r>
              <a:t/>
            </a:r>
          </a:p>
          <a:p xmlns:a="http://schemas.openxmlformats.org/drawingml/2006/main">
            <a:r>
              <a:t>Sources: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focuses on the gap between having ERP records and enforcing a consistent business policy. Priority follows accepted warehouse dispatch dates. The customer type governs whether a partial shipment is permitted. Teams also need to see who owns a shortage and what action comes next. This is the designed business problem, not evidence that a real company previously suffered these losses.</a:t>
            </a:r>
          </a:p>
          <a:p xmlns:a="http://schemas.openxmlformats.org/drawingml/2006/main">
            <a:r>
              <a:t/>
            </a:r>
          </a:p>
          <a:p xmlns:a="http://schemas.openxmlformats.org/drawingml/2006/main">
            <a:r>
              <a:t>Sources: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business workflow, not a claim that physical work happens automatically. Sales establishes the accepted warehouse dispatch commitment. The campaign addon allocates eligible stock under the approved policy. Procurement and manufacturing users record real input receipts and completed production. Warehouse users prepare and validate shipments. Derived risk information supports coordinated follow-up.</a:t>
            </a:r>
          </a:p>
          <a:p xmlns:a="http://schemas.openxmlformats.org/drawingml/2006/main">
            <a:r>
              <a:t/>
            </a:r>
          </a:p>
          <a:p xmlns:a="http://schemas.openxmlformats.org/drawingml/2006/main">
            <a:r>
              <a:t>Sources: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allocation is A200, B300, C0. The first accepted dispatch date receives stock first. For equal dates, earlier confirmation wins. Stable order ID breaks an exact tie. An incomplete individual order retains its eligible allocated stock but cannot ship until complete. These are illustrative warehouse-dispatch dates, not delivery dates or a promised universal service level. Arithmetic: 200+600+100=900 ordered and 200+300+0=500 initially allocated.</a:t>
            </a:r>
          </a:p>
          <a:p xmlns:a="http://schemas.openxmlformats.org/drawingml/2006/main">
            <a:r>
              <a:t/>
            </a:r>
          </a:p>
          <a:p xmlns:a="http://schemas.openxmlformats.org/drawingml/2006/main">
            <a:r>
              <a:t>Sources: docs/DEMO.md, Campaign walkthrough table; docs/DECISIONS.md,D-015;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synthetic browser capture shows order B with original 16 December and current 14 December after a coordinator records acceptance. The original promise remains visible and the revision/history identify the applied change. Staff record response evidence manually. The application does not authenticate customer consent or contact the customer. Screenshot is cropped for readability without altering the original source image.</a:t>
            </a:r>
          </a:p>
          <a:p xmlns:a="http://schemas.openxmlformats.org/drawingml/2006/main">
            <a:r>
              <a:t/>
            </a:r>
          </a:p>
          <a:p xmlns:a="http://schemas.openxmlformats.org/drawingml/2006/main">
            <a:r>
              <a:t>Sources: docs/evidence/task-0007/04-accepted-date-history.png;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pending proposal, rejection or internal estimate does not move the campaign priority date. An accepted, non-stale response updates the current promise and can reprioritize stock that staff have not prepared. Original commitment and response history remain traceable. Acceptance is manually recorded by a coordinator; the addon does not send messages or capture authenticated customer consent. On rejection the team keeps the existing promise and records its next operational action.</a:t>
            </a:r>
          </a:p>
          <a:p xmlns:a="http://schemas.openxmlformats.org/drawingml/2006/main">
            <a:r>
              <a:t/>
            </a:r>
          </a:p>
          <a:p xmlns:a="http://schemas.openxmlformats.org/drawingml/2006/main">
            <a:r>
              <a:t>Sources: docs/DECISIONS.md,D-011,D-012,D-015;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later browser state, not the initial 200/300/0 allocation. B has an accepted date of 14 December and now receives all 500 eligible unprepared units against 600 demand. It wins because its promise is earlier, not because it is corporate. The application preserves prepared moves and outside reservations. It refuses unsupported or unmanaged competition rather than taking stock silently. A partly prepared short individual order needs warehouse unprepare/recheck before extra allocation.</a:t>
            </a:r>
          </a:p>
          <a:p xmlns:a="http://schemas.openxmlformats.org/drawingml/2006/main">
            <a:r>
              <a:t/>
            </a:r>
          </a:p>
          <a:p xmlns:a="http://schemas.openxmlformats.org/drawingml/2006/main">
            <a:r>
              <a:t>Sources: docs/evidence/task-0007/05-accepted-priority-reserves-500.png;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screenshot shows an actual refused synthetic consumer shipment. Demand is 200 and the entered quantity is 100. Every physical line of the supported individual order must ship completely in one picking. Allocated stock can remain reserved while the order waits for completion. This is a policy-specific control within the configured one-step, untracked-goods scope.</a:t>
            </a:r>
          </a:p>
          <a:p xmlns:a="http://schemas.openxmlformats.org/drawingml/2006/main">
            <a:r>
              <a:t/>
            </a:r>
          </a:p>
          <a:p xmlns:a="http://schemas.openxmlformats.org/drawingml/2006/main">
            <a:r>
              <a:t>Sources: docs/evidence/task-0007/02-consumer-partial-blocked.png;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browser capture shows a 300-unit corporate shipment completed. The right capture shows the retained 300-unit backorder, with 200 currently available/reserved. The remaining demand does not disappear when a batch leaves. This browser path later shipped 100 and 50 in separate checks; it is not the end-to-end 300/200/100 manufacturing scenario shown later. No real shipment occurred.</a:t>
            </a:r>
          </a:p>
          <a:p xmlns:a="http://schemas.openxmlformats.org/drawingml/2006/main">
            <a:r>
              <a:t/>
            </a:r>
          </a:p>
          <a:p xmlns:a="http://schemas.openxmlformats.org/drawingml/2006/main">
            <a:r>
              <a:t>Sources: docs/evidence/task-0007/06-corporate-300-dispatched.png; docs/evidence/task-0007/07-corporate-backorder-preserved.png;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validated automated purchase/manufacturing/dispatch scenario. Two 400-unit raw-material POs supply two inputs. Their 800 raw units are not 800 finished units. The bill of materials and one 400-unit manufacturing order produce 400 finished goods, which combine with 500 opening finished units. Procurement, receipt and production are recorded standard Odoo actions. The separate browser preview has no raw-material or manufacturing fixture.</a:t>
            </a:r>
          </a:p>
          <a:p xmlns:a="http://schemas.openxmlformats.org/drawingml/2006/main">
            <a:r>
              <a:t/>
            </a:r>
          </a:p>
          <a:p xmlns:a="http://schemas.openxmlformats.org/drawingml/2006/main">
            <a:r>
              <a:t>Sources: scripts/validate_campaign.py; docs/evidence/task-0007/README.md;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capture shows a campaign shortage linked to the source order, with a coordinator, Blocked state and a next action. Separate runtime cases test supplier delay, one linked risk item and repeated updates without duplicates. Supply-risk dates use a one-level input/production signal, not exact order pegging or a guaranteed feasible date. A card/status does not imply physical shipment or customer contact.</a:t>
            </a:r>
          </a:p>
          <a:p xmlns:a="http://schemas.openxmlformats.org/drawingml/2006/main">
            <a:r>
              <a:t/>
            </a:r>
          </a:p>
          <a:p xmlns:a="http://schemas.openxmlformats.org/drawingml/2006/main">
            <a:r>
              <a:t>Sources: docs/evidence/task-0007/03-owned-risk-item.png;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final-source browser capture demonstrates the repaired preparation guard. The application refuses a saved prepared quantity above the move allocation and asks the operator to reconcile availability. Independent review found two bypasses during development. Both were reproduced, repaired and retested. The final supported guards cover saved move/raw-line preparation and nested commands; they are not a claim that a privileged administrator cannot change any ERP data.</a:t>
            </a:r>
          </a:p>
          <a:p xmlns:a="http://schemas.openxmlformats.org/drawingml/2006/main">
            <a:r>
              <a:t/>
            </a:r>
          </a:p>
          <a:p xmlns:a="http://schemas.openxmlformats.org/drawingml/2006/main">
            <a:r>
              <a:t>Sources: docs/evidence/task-0007/12-final-preparation-guard.png; docs/TASKS.md,TASK-0007 repair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local campaign probe passes the 500+400=900 arithmetic. A ships 200 completely, B ships 600 in 300/200/100 batches, C ships 100 completely. Final main finished-goods stock is 0. Seven final probe quants remain nonnegative and not over-reserved. These are synthetic test outcomes, not measured performance of a real operation. The browser screenshots depict a separate partial-shipment walkthrough.</a:t>
            </a:r>
          </a:p>
          <a:p xmlns:a="http://schemas.openxmlformats.org/drawingml/2006/main">
            <a:r>
              <a:t/>
            </a:r>
          </a:p>
          <a:p xmlns:a="http://schemas.openxmlformats.org/drawingml/2006/main">
            <a:r>
              <a:t>Sources: scripts/validate_campaign.py;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Yusuf owns the project and approved its business rules. The work includes requirement clarification, standard-flow assessment, focused optional extensions, synthetic scenarios, negative/concurrency checks and review-driven repairs. AI-assisted implementation supported this work. The recorded local result is 81 methods:8 base, 22 promise, 51 campaign, plus 11 campaign probe cases. Those are distinct test units, not 92 independent business processes and not 81 GitHub CI tests. No time-saving, ROI or delivery-rate improvement has been measured.</a:t>
            </a:r>
          </a:p>
          <a:p xmlns:a="http://schemas.openxmlformats.org/drawingml/2006/main">
            <a:r>
              <a:t/>
            </a:r>
          </a:p>
          <a:p xmlns:a="http://schemas.openxmlformats.org/drawingml/2006/main">
            <a:r>
              <a:t>Sources: docs/TASKS.md,TASK-0003 through TASK-0008;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demonstrated capabilities, not measured business impact or a real-client implementation. The supported scope is one-step make-to-stock, untracked configured goods. Staff record responses and physical operations. Carrier/WMS adapters, formal quality release, capacity optimization, authenticated consent and production hosting are not delivered. Future opportunities shown here are proposals, not existing features or approved implementation commitments.</a:t>
            </a:r>
          </a:p>
          <a:p xmlns:a="http://schemas.openxmlformats.org/drawingml/2006/main">
            <a:r>
              <a:t/>
            </a:r>
          </a:p>
          <a:p xmlns:a="http://schemas.openxmlformats.org/drawingml/2006/main">
            <a:r>
              <a:t>Sources: docs/ARCHITECTURE.md; docs/DECISIONS.md;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repository: https://github.com/yusufondes/Operations-Control-Tower . The repository is Private at the verified publication checkpoint, so readers need access. No installation is needed to understand this deck. The source uses Odoo 19 Community, Python, PostgreSQL15, Docker, XML/CSV and PowerShell. Git/GitHub retain both initial histories. Development was AI-assisted with Codex and independent agent review. Local 81/11 checks passed. The first remote CI run passed repository checks and 8 base tests but failed its later HTTP-health check with curl 56; do not claim green CI or full campaign remote coverage. TASK-0008 preview-helper fixes are local/unpushed at this checkpoint. No production deployment or customer messaging exists.</a:t>
            </a:r>
          </a:p>
          <a:p xmlns:a="http://schemas.openxmlformats.org/drawingml/2006/main">
            <a:r>
              <a:t/>
            </a:r>
          </a:p>
          <a:p xmlns:a="http://schemas.openxmlformats.org/drawingml/2006/main">
            <a:r>
              <a:t>Sources: README.md; compose.yaml; .github/workflows/ci.yml; docs/TASKS.md,TASK-0006,TASK-0008. Repository: https://github.com/yusufondes/Operations-Control-Tower . CI evidence: https://github.com/yusufondes/Operations-Control-Tower/actions/runs/38748554245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4ff42c84fb4c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cdabfc86c147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b72e1be88b4a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9bf04e2e7241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3682d48a694a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549de479ea41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BB3EA0-1A92-4B4F-B7BA-382DE1EC817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F16C9E-2A36-4D45-A510-D8CCD33CC70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DB8243-3E02-47C6-B251-AE8C37B79CE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01FAF6-C139-4706-BF58-5264C75623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B164C03-1A22-47AD-A15A-03F8CDE748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CFEF699-57A3-4856-A239-D5DF08590B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58AD82-3364-4ED7-A724-2871D0BDE5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40AD0B-148A-4C26-BD84-AAFC8B74E20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851B7E-F098-4261-AE96-E663058D6A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A87F6C-F43E-4ED2-B573-863A1E0641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024849be834934" /><Relationship Type="http://schemas.openxmlformats.org/officeDocument/2006/relationships/slideLayout" Target="/ppt/slideLayouts/slideLayout1.xml" Id="R7de8eb67d6a3487f" /><Relationship Type="http://schemas.openxmlformats.org/officeDocument/2006/relationships/slideLayout" Target="/ppt/slideLayouts/slideLayout2.xml" Id="Rf9f5439c5c85464f" /><Relationship Type="http://schemas.openxmlformats.org/officeDocument/2006/relationships/slideLayout" Target="/ppt/slideLayouts/slideLayout3.xml" Id="Rd2a0037744ac4315" /><Relationship Type="http://schemas.openxmlformats.org/officeDocument/2006/relationships/slideLayout" Target="/ppt/slideLayouts/slideLayout4.xml" Id="R9773b7e427fc45f1" /><Relationship Type="http://schemas.openxmlformats.org/officeDocument/2006/relationships/slideLayout" Target="/ppt/slideLayouts/slideLayout5.xml" Id="Rf8fe39540d934b2e" /><Relationship Type="http://schemas.openxmlformats.org/officeDocument/2006/relationships/slideLayout" Target="/ppt/slideLayouts/slideLayout6.xml" Id="R82917532f76444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e8eb67d6a3487f"/>
    <p:sldLayoutId xmlns:r="http://schemas.openxmlformats.org/officeDocument/2006/relationships" id="2147483650" r:id="Rf9f5439c5c85464f"/>
    <p:sldLayoutId xmlns:r="http://schemas.openxmlformats.org/officeDocument/2006/relationships" id="2147483651" r:id="Rd2a0037744ac4315"/>
    <p:sldLayoutId xmlns:r="http://schemas.openxmlformats.org/officeDocument/2006/relationships" id="2147483652" r:id="R9773b7e427fc45f1"/>
    <p:sldLayoutId xmlns:r="http://schemas.openxmlformats.org/officeDocument/2006/relationships" id="2147483653" r:id="Rf8fe39540d934b2e"/>
    <p:sldLayoutId xmlns:r="http://schemas.openxmlformats.org/officeDocument/2006/relationships" id="2147483654" r:id="R82917532f76444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86c717293449e1" /><Relationship Type="http://schemas.openxmlformats.org/officeDocument/2006/relationships/image" Target="/ppt/media/image.png" Id="Ra66463e93bcf413f" /><Relationship Type="http://schemas.openxmlformats.org/officeDocument/2006/relationships/notesSlide" Target="/ppt/notesSlides/notesSlide1.xml" Id="R189a8ab2628940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6c7d0b73fc344c0" /><Relationship Type="http://schemas.openxmlformats.org/officeDocument/2006/relationships/notesSlide" Target="/ppt/notesSlides/notesSlide2.xml" Id="Rea87aa1b682d46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6e469374234b5e" /><Relationship Type="http://schemas.openxmlformats.org/officeDocument/2006/relationships/notesSlide" Target="/ppt/notesSlides/notesSlide3.xml" Id="R2fec4ef1efa04b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78d67764b774e85" /><Relationship Type="http://schemas.openxmlformats.org/officeDocument/2006/relationships/notesSlide" Target="/ppt/notesSlides/notesSlide4.xml" Id="Re44ff1a7e89b4f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708039c22be4c11" /><Relationship Type="http://schemas.openxmlformats.org/officeDocument/2006/relationships/notesSlide" Target="/ppt/notesSlides/notesSlide5.xml" Id="Rd12cfbc4df3943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20205e3cc7548e2" /><Relationship Type="http://schemas.openxmlformats.org/officeDocument/2006/relationships/image" Target="/ppt/media/image.jpeg" Id="R127de21365dc4f6b" /><Relationship Type="http://schemas.openxmlformats.org/officeDocument/2006/relationships/notesSlide" Target="/ppt/notesSlides/notesSlide6.xml" Id="R7f68c3ef194043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7a09ba0f444af0" /><Relationship Type="http://schemas.openxmlformats.org/officeDocument/2006/relationships/notesSlide" Target="/ppt/notesSlides/notesSlide7.xml" Id="R50f3d537e9e940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7eba3d75194f74" /><Relationship Type="http://schemas.openxmlformats.org/officeDocument/2006/relationships/image" Target="/ppt/media/image2.jpeg" Id="R8d024383193d4620" /><Relationship Type="http://schemas.openxmlformats.org/officeDocument/2006/relationships/notesSlide" Target="/ppt/notesSlides/notesSlide8.xml" Id="Rd3eb61fc1da84b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265ab2b9c974df6" /><Relationship Type="http://schemas.openxmlformats.org/officeDocument/2006/relationships/image" Target="/ppt/media/image3.jpeg" Id="Rfac79e21db0b456d" /><Relationship Type="http://schemas.openxmlformats.org/officeDocument/2006/relationships/notesSlide" Target="/ppt/notesSlides/notesSlide9.xml" Id="R225ce3c7a79946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ff25a253524ac0" /><Relationship Type="http://schemas.openxmlformats.org/officeDocument/2006/relationships/image" Target="/ppt/media/image4.jpeg" Id="R87ca50b144eb4de0" /><Relationship Type="http://schemas.openxmlformats.org/officeDocument/2006/relationships/image" Target="/ppt/media/image5.jpeg" Id="R0845771785804adc" /><Relationship Type="http://schemas.openxmlformats.org/officeDocument/2006/relationships/notesSlide" Target="/ppt/notesSlides/notesSlide10.xml" Id="R374dc75a9c3e43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47ed11379664694" /><Relationship Type="http://schemas.openxmlformats.org/officeDocument/2006/relationships/notesSlide" Target="/ppt/notesSlides/notesSlide11.xml" Id="R77917deec0d842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0b16288a4e541d7" /><Relationship Type="http://schemas.openxmlformats.org/officeDocument/2006/relationships/image" Target="/ppt/media/image6.jpeg" Id="R2da8847c408f4a85" /><Relationship Type="http://schemas.openxmlformats.org/officeDocument/2006/relationships/notesSlide" Target="/ppt/notesSlides/notesSlide12.xml" Id="Rd3962725cd1f4e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eed2c9a9f3d4f3b" /><Relationship Type="http://schemas.openxmlformats.org/officeDocument/2006/relationships/image" Target="/ppt/media/image7.jpeg" Id="Rcbf3288a09ba4672" /><Relationship Type="http://schemas.openxmlformats.org/officeDocument/2006/relationships/notesSlide" Target="/ppt/notesSlides/notesSlide13.xml" Id="R755ee9aae07f4d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f417e7e8ed343ab" /><Relationship Type="http://schemas.openxmlformats.org/officeDocument/2006/relationships/notesSlide" Target="/ppt/notesSlides/notesSlide14.xml" Id="Rb4f1d5734bfd48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fd9f1ca680146fd" /><Relationship Type="http://schemas.openxmlformats.org/officeDocument/2006/relationships/notesSlide" Target="/ppt/notesSlides/notesSlide15.xml" Id="R4cc26372b575431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986cfab8dfb404f" /><Relationship Type="http://schemas.openxmlformats.org/officeDocument/2006/relationships/notesSlide" Target="/ppt/notesSlides/notesSlide16.xml" Id="Rbcd05f117bbf4e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f20ce2da3c14624" /><Relationship Type="http://schemas.openxmlformats.org/officeDocument/2006/relationships/hyperlink" Target="https://github.com/yusufondes/Operations-Control-Tower" TargetMode="External" Id="R00d6d426a1c04e79" /><Relationship Type="http://schemas.openxmlformats.org/officeDocument/2006/relationships/notesSlide" Target="/ppt/notesSlides/notesSlide17.xml" Id="R00b70004d7f84fea" /></Relationships>
</file>

<file path=ppt/slides/slide1.xml><?xml version="1.0" encoding="utf-8"?>
<p:sld xmlns:p="http://schemas.openxmlformats.org/presentationml/2006/main">
  <p:cSld>
    <p:bg>
      <p:bgPr>
        <a:solidFill xmlns:a="http://schemas.openxmlformats.org/drawingml/2006/main">
          <a:srgbClr val="102A3A"/>
        </a:solidFill>
      </p:bgPr>
    </p:bg>
    <p:spTree>
      <p:nvGrpSpPr>
        <p:cNvPr id="1" name=""/>
        <p:cNvGrpSpPr/>
        <p:nvPr/>
      </p:nvGrpSpPr>
      <p:grpSpPr>
        <a:xfrm xmlns:a="http://schemas.openxmlformats.org/drawingml/2006/main"/>
      </p:grpSpPr>
      <p:sp>
        <p:nvSpPr>
          <p:cNvPr id="8" name="text-8ub507-0">
            <a:extLst xmlns:a="http://schemas.openxmlformats.org/drawingml/2006/main">
              <a:ext uri="{FF2B5EF4-FFF2-40B4-BE49-F238E27FC236}">
                <a16:creationId xmlns:a16="http://schemas.microsoft.com/office/drawing/2014/main" id="{EE0E3065-1F07-4B99-B04B-60ADA514CC7D}"/>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AD4D2"/>
                </a:solidFill>
                <a:latin typeface="Arial"/>
                <a:ea typeface="Arial"/>
                <a:cs typeface="Arial"/>
              </a:defRPr>
            </a:defPPr>
          </a:lstStyle>
          <a:p xmlns:a="http://schemas.openxmlformats.org/drawingml/2006/main">
            <a:pPr algn="l">
              <a:defRPr sz="1275" b="0">
                <a:solidFill>
                  <a:srgbClr val="BAD4D2"/>
                </a:solidFill>
                <a:latin typeface="Arial"/>
                <a:ea typeface="Arial"/>
                <a:cs typeface="Arial"/>
              </a:defRPr>
            </a:pPr>
            <a:r>
              <a:rPr sz="1275" b="0">
                <a:solidFill>
                  <a:srgbClr val="BAD4D2"/>
                </a:solidFill>
                <a:latin typeface="Arial"/>
                <a:ea typeface="Arial"/>
                <a:cs typeface="Arial"/>
              </a:rPr>
              <a:t>HALY synthetic portfolio case study</a:t>
            </a:r>
          </a:p>
        </p:txBody>
      </p:sp>
      <p:sp>
        <p:nvSpPr>
          <p:cNvPr id="2" name="text-8ub507-1">
            <a:extLst xmlns:a="http://schemas.openxmlformats.org/drawingml/2006/main">
              <a:ext uri="{FF2B5EF4-FFF2-40B4-BE49-F238E27FC236}">
                <a16:creationId xmlns:a16="http://schemas.microsoft.com/office/drawing/2014/main" id="{6D235730-9E0A-499F-8A26-641D744808B2}"/>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AD4D2"/>
                </a:solidFill>
                <a:latin typeface="Arial"/>
                <a:ea typeface="Arial"/>
                <a:cs typeface="Arial"/>
              </a:defRPr>
            </a:defPPr>
          </a:lstStyle>
          <a:p xmlns:a="http://schemas.openxmlformats.org/drawingml/2006/main">
            <a:pPr algn="r">
              <a:defRPr sz="1275" b="0">
                <a:solidFill>
                  <a:srgbClr val="BAD4D2"/>
                </a:solidFill>
                <a:latin typeface="Arial"/>
                <a:ea typeface="Arial"/>
                <a:cs typeface="Arial"/>
              </a:defRPr>
            </a:pPr>
            <a:r>
              <a:rPr sz="1275" b="0">
                <a:solidFill>
                  <a:srgbClr val="BAD4D2"/>
                </a:solidFill>
                <a:latin typeface="Arial"/>
                <a:ea typeface="Arial"/>
                <a:cs typeface="Arial"/>
              </a:rPr>
              <a:t>01 / 17</a:t>
            </a:r>
          </a:p>
        </p:txBody>
      </p:sp>
      <p:pic>
        <p:nvPicPr>
          <p:cNvPr id="3" name="">
            <a:extLst xmlns:a="http://schemas.openxmlformats.org/drawingml/2006/main">
              <a:ext uri="{FF2B5EF4-FFF2-40B4-BE49-F238E27FC236}">
                <a16:creationId xmlns:a16="http://schemas.microsoft.com/office/drawing/2014/main" id="{0A830002-22F1-4503-9BD5-ED502E24BBC5}"/>
              </a:ext>
            </a:extLst>
          </p:cNvPr>
          <p:cNvPicPr>
            <a:picLocks xmlns:a="http://schemas.openxmlformats.org/drawingml/2006/main" noChangeAspect="1"/>
          </p:cNvPicPr>
          <p:nvPr/>
        </p:nvPicPr>
        <p:blipFill>
          <a:blip xmlns:r="http://schemas.openxmlformats.org/officeDocument/2006/relationships" xmlns:a="http://schemas.openxmlformats.org/drawingml/2006/main" r:embed="Ra66463e93bcf413f"/>
          <a:stretch xmlns:a="http://schemas.openxmlformats.org/drawingml/2006/main"/>
        </p:blipFill>
        <p:spPr>
          <a:xfrm xmlns:a="http://schemas.openxmlformats.org/drawingml/2006/main">
            <a:off x="6048375" y="1700187"/>
            <a:ext cx="6143625" cy="3457626"/>
          </a:xfrm>
          <a:prstGeom xmlns:a="http://schemas.openxmlformats.org/drawingml/2006/main" prst="rect">
            <a:avLst/>
          </a:prstGeom>
        </p:spPr>
      </p:pic>
      <p:sp>
        <p:nvSpPr>
          <p:cNvPr id="4" name="text-8ub507-2">
            <a:extLst xmlns:a="http://schemas.openxmlformats.org/drawingml/2006/main">
              <a:ext uri="{FF2B5EF4-FFF2-40B4-BE49-F238E27FC236}">
                <a16:creationId xmlns:a16="http://schemas.microsoft.com/office/drawing/2014/main" id="{6B680B9D-B18E-4F34-A1B3-21659C50643A}"/>
              </a:ext>
            </a:extLst>
          </p:cNvPr>
          <p:cNvSpPr>
            <a:spLocks xmlns:a="http://schemas.openxmlformats.org/drawingml/2006/main" noGrp="1"/>
          </p:cNvSpPr>
          <p:nvPr/>
        </p:nvSpPr>
        <p:spPr>
          <a:xfrm xmlns:a="http://schemas.openxmlformats.org/drawingml/2006/main">
            <a:off x="609600" y="1600200"/>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FFFFFF"/>
                </a:solidFill>
                <a:latin typeface="Arial"/>
                <a:ea typeface="Arial"/>
                <a:cs typeface="Arial"/>
              </a:defRPr>
            </a:defPPr>
          </a:lstStyle>
          <a:p xmlns:a="http://schemas.openxmlformats.org/drawingml/2006/main">
            <a:pPr algn="l">
              <a:defRPr sz="5250" b="1">
                <a:solidFill>
                  <a:srgbClr val="FFFFFF"/>
                </a:solidFill>
                <a:latin typeface="Arial"/>
                <a:ea typeface="Arial"/>
                <a:cs typeface="Arial"/>
              </a:defRPr>
            </a:pPr>
            <a:r>
              <a:rPr sz="5250" b="1">
                <a:solidFill>
                  <a:srgbClr val="FFFFFF"/>
                </a:solidFill>
                <a:latin typeface="Arial"/>
                <a:ea typeface="Arial"/>
                <a:cs typeface="Arial"/>
              </a:rPr>
              <a:t>Operations</a:t>
            </a:r>
          </a:p>
          <a:p xmlns:a="http://schemas.openxmlformats.org/drawingml/2006/main">
            <a:pPr algn="l">
              <a:defRPr sz="5250" b="1">
                <a:solidFill>
                  <a:srgbClr val="FFFFFF"/>
                </a:solidFill>
                <a:latin typeface="Arial"/>
                <a:ea typeface="Arial"/>
                <a:cs typeface="Arial"/>
              </a:defRPr>
            </a:pPr>
            <a:r>
              <a:rPr sz="5250" b="1">
                <a:solidFill>
                  <a:srgbClr val="FFFFFF"/>
                </a:solidFill>
                <a:latin typeface="Arial"/>
                <a:ea typeface="Arial"/>
                <a:cs typeface="Arial"/>
              </a:rPr>
              <a:t>Control Tower</a:t>
            </a:r>
          </a:p>
        </p:txBody>
      </p:sp>
      <p:sp>
        <p:nvSpPr>
          <p:cNvPr id="5" name="text-8ub507-3">
            <a:extLst xmlns:a="http://schemas.openxmlformats.org/drawingml/2006/main">
              <a:ext uri="{FF2B5EF4-FFF2-40B4-BE49-F238E27FC236}">
                <a16:creationId xmlns:a16="http://schemas.microsoft.com/office/drawing/2014/main" id="{8BB7697E-B81C-408F-AE85-7E7FE225BDED}"/>
              </a:ext>
            </a:extLst>
          </p:cNvPr>
          <p:cNvSpPr>
            <a:spLocks xmlns:a="http://schemas.openxmlformats.org/drawingml/2006/main" noGrp="1"/>
          </p:cNvSpPr>
          <p:nvPr/>
        </p:nvSpPr>
        <p:spPr>
          <a:xfrm xmlns:a="http://schemas.openxmlformats.org/drawingml/2006/main">
            <a:off x="638175" y="375285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4E6E2"/>
                </a:solidFill>
                <a:latin typeface="Arial"/>
                <a:ea typeface="Arial"/>
                <a:cs typeface="Arial"/>
              </a:defRPr>
            </a:defPPr>
          </a:lstStyle>
          <a:p xmlns:a="http://schemas.openxmlformats.org/drawingml/2006/main">
            <a:pPr algn="l">
              <a:defRPr sz="2100" b="0">
                <a:solidFill>
                  <a:srgbClr val="D4E6E2"/>
                </a:solidFill>
                <a:latin typeface="Arial"/>
                <a:ea typeface="Arial"/>
                <a:cs typeface="Arial"/>
              </a:defRPr>
            </a:pPr>
            <a:r>
              <a:rPr sz="2100" b="0">
                <a:solidFill>
                  <a:srgbClr val="D4E6E2"/>
                </a:solidFill>
                <a:latin typeface="Arial"/>
                <a:ea typeface="Arial"/>
                <a:cs typeface="Arial"/>
              </a:rPr>
              <a:t>Seasonal campaign fulfilment</a:t>
            </a:r>
          </a:p>
          <a:p xmlns:a="http://schemas.openxmlformats.org/drawingml/2006/main">
            <a:pPr algn="l">
              <a:defRPr sz="2100" b="0">
                <a:solidFill>
                  <a:srgbClr val="D4E6E2"/>
                </a:solidFill>
                <a:latin typeface="Arial"/>
                <a:ea typeface="Arial"/>
                <a:cs typeface="Arial"/>
              </a:defRPr>
            </a:pPr>
            <a:r>
              <a:rPr sz="2100" b="0">
                <a:solidFill>
                  <a:srgbClr val="D4E6E2"/>
                </a:solidFill>
                <a:latin typeface="Arial"/>
                <a:ea typeface="Arial"/>
                <a:cs typeface="Arial"/>
              </a:rPr>
              <a:t>A business portfolio case study</a:t>
            </a:r>
          </a:p>
        </p:txBody>
      </p:sp>
      <p:sp>
        <p:nvSpPr>
          <p:cNvPr id="6" name="text-8ub507-4">
            <a:extLst xmlns:a="http://schemas.openxmlformats.org/drawingml/2006/main">
              <a:ext uri="{FF2B5EF4-FFF2-40B4-BE49-F238E27FC236}">
                <a16:creationId xmlns:a16="http://schemas.microsoft.com/office/drawing/2014/main" id="{9CD27553-64A5-4EBC-AB1F-988AB7F48F1F}"/>
              </a:ext>
            </a:extLst>
          </p:cNvPr>
          <p:cNvSpPr>
            <a:spLocks xmlns:a="http://schemas.openxmlformats.org/drawingml/2006/main" noGrp="1"/>
          </p:cNvSpPr>
          <p:nvPr/>
        </p:nvSpPr>
        <p:spPr>
          <a:xfrm xmlns:a="http://schemas.openxmlformats.org/drawingml/2006/main">
            <a:off x="638175" y="52578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Yusuf Ondes</a:t>
            </a:r>
          </a:p>
        </p:txBody>
      </p:sp>
      <p:sp>
        <p:nvSpPr>
          <p:cNvPr id="7" name="text-8ub507-5">
            <a:extLst xmlns:a="http://schemas.openxmlformats.org/drawingml/2006/main">
              <a:ext uri="{FF2B5EF4-FFF2-40B4-BE49-F238E27FC236}">
                <a16:creationId xmlns:a16="http://schemas.microsoft.com/office/drawing/2014/main" id="{490FED8E-FD58-45FF-8AA1-D4FE8EE1C73B}"/>
              </a:ext>
            </a:extLst>
          </p:cNvPr>
          <p:cNvSpPr>
            <a:spLocks xmlns:a="http://schemas.openxmlformats.org/drawingml/2006/main" noGrp="1"/>
          </p:cNvSpPr>
          <p:nvPr/>
        </p:nvSpPr>
        <p:spPr>
          <a:xfrm xmlns:a="http://schemas.openxmlformats.org/drawingml/2006/main">
            <a:off x="638175" y="5715000"/>
            <a:ext cx="500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BAD4D2"/>
                </a:solidFill>
                <a:latin typeface="Arial"/>
                <a:ea typeface="Arial"/>
                <a:cs typeface="Arial"/>
              </a:defRPr>
            </a:defPPr>
          </a:lstStyle>
          <a:p xmlns:a="http://schemas.openxmlformats.org/drawingml/2006/main">
            <a:pPr algn="l">
              <a:defRPr sz="1575" b="0">
                <a:solidFill>
                  <a:srgbClr val="BAD4D2"/>
                </a:solidFill>
                <a:latin typeface="Arial"/>
                <a:ea typeface="Arial"/>
                <a:cs typeface="Arial"/>
              </a:defRPr>
            </a:pPr>
            <a:r>
              <a:rPr sz="1575" b="0">
                <a:solidFill>
                  <a:srgbClr val="BAD4D2"/>
                </a:solidFill>
                <a:latin typeface="Arial"/>
                <a:ea typeface="Arial"/>
                <a:cs typeface="Arial"/>
              </a:rPr>
              <a:t>Fictional company. Synthetic business data.</a:t>
            </a:r>
          </a:p>
        </p:txBody>
      </p:sp>
    </p:spTree>
    <p:extLst>
      <p:ext uri="{BB962C8B-B14F-4D97-AF65-F5344CB8AC3E}">
        <p14:creationId xmlns:p14="http://schemas.microsoft.com/office/powerpoint/2010/main" val="553154595"/>
      </p:ext>
    </p:extLst>
  </p:cSld>
</p:sld>
</file>

<file path=ppt/slides/slide2.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2" name="text-pvexcu-0">
            <a:extLst xmlns:a="http://schemas.openxmlformats.org/drawingml/2006/main">
              <a:ext uri="{FF2B5EF4-FFF2-40B4-BE49-F238E27FC236}">
                <a16:creationId xmlns:a16="http://schemas.microsoft.com/office/drawing/2014/main" id="{82FDD6D1-0576-41BB-96D7-CA54ECBC59AB}"/>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The campaign creates a 400-unit stock gap</a:t>
            </a:r>
          </a:p>
        </p:txBody>
      </p:sp>
      <p:sp>
        <p:nvSpPr>
          <p:cNvPr id="2" name="text-pvexcu-1">
            <a:extLst xmlns:a="http://schemas.openxmlformats.org/drawingml/2006/main">
              <a:ext uri="{FF2B5EF4-FFF2-40B4-BE49-F238E27FC236}">
                <a16:creationId xmlns:a16="http://schemas.microsoft.com/office/drawing/2014/main" id="{61B6234C-5E63-4BCE-80A1-F826ADEFBF2B}"/>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HALY manufactures powdered drinks from raw materials bought from two suppliers.</a:t>
            </a:r>
          </a:p>
        </p:txBody>
      </p:sp>
      <p:sp>
        <p:nvSpPr>
          <p:cNvPr id="3" name="text-pvexcu-2">
            <a:extLst xmlns:a="http://schemas.openxmlformats.org/drawingml/2006/main">
              <a:ext uri="{FF2B5EF4-FFF2-40B4-BE49-F238E27FC236}">
                <a16:creationId xmlns:a16="http://schemas.microsoft.com/office/drawing/2014/main" id="{AE75353F-832E-4A29-B015-E58CA6EBA919}"/>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pvexcu-3">
            <a:extLst xmlns:a="http://schemas.openxmlformats.org/drawingml/2006/main">
              <a:ext uri="{FF2B5EF4-FFF2-40B4-BE49-F238E27FC236}">
                <a16:creationId xmlns:a16="http://schemas.microsoft.com/office/drawing/2014/main" id="{C1320E6C-C7AE-463A-A750-D915BD1BC422}"/>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02 / 17</a:t>
            </a:r>
          </a:p>
        </p:txBody>
      </p:sp>
      <p:sp>
        <p:nvSpPr>
          <p:cNvPr id="5" name="text-pvexcu-4">
            <a:extLst xmlns:a="http://schemas.openxmlformats.org/drawingml/2006/main">
              <a:ext uri="{FF2B5EF4-FFF2-40B4-BE49-F238E27FC236}">
                <a16:creationId xmlns:a16="http://schemas.microsoft.com/office/drawing/2014/main" id="{78A25230-5B73-4326-AA92-17D46FF1E2BC}"/>
              </a:ext>
            </a:extLst>
          </p:cNvPr>
          <p:cNvSpPr>
            <a:spLocks xmlns:a="http://schemas.openxmlformats.org/drawingml/2006/main" noGrp="1"/>
          </p:cNvSpPr>
          <p:nvPr/>
        </p:nvSpPr>
        <p:spPr>
          <a:xfrm xmlns:a="http://schemas.openxmlformats.org/drawingml/2006/main">
            <a:off x="609600" y="22669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102A3A"/>
                </a:solidFill>
                <a:latin typeface="Arial"/>
                <a:ea typeface="Arial"/>
                <a:cs typeface="Arial"/>
              </a:defRPr>
            </a:defPPr>
          </a:lstStyle>
          <a:p xmlns:a="http://schemas.openxmlformats.org/drawingml/2006/main">
            <a:pPr algn="l">
              <a:defRPr sz="7500" b="1">
                <a:solidFill>
                  <a:srgbClr val="102A3A"/>
                </a:solidFill>
                <a:latin typeface="Arial"/>
                <a:ea typeface="Arial"/>
                <a:cs typeface="Arial"/>
              </a:defRPr>
            </a:pPr>
            <a:r>
              <a:rPr sz="7500" b="1">
                <a:solidFill>
                  <a:srgbClr val="102A3A"/>
                </a:solidFill>
                <a:latin typeface="Arial"/>
                <a:ea typeface="Arial"/>
                <a:cs typeface="Arial"/>
              </a:rPr>
              <a:t>900</a:t>
            </a:r>
          </a:p>
        </p:txBody>
      </p:sp>
      <p:sp>
        <p:nvSpPr>
          <p:cNvPr id="6" name="text-pvexcu-5">
            <a:extLst xmlns:a="http://schemas.openxmlformats.org/drawingml/2006/main">
              <a:ext uri="{FF2B5EF4-FFF2-40B4-BE49-F238E27FC236}">
                <a16:creationId xmlns:a16="http://schemas.microsoft.com/office/drawing/2014/main" id="{E315E1F1-50BF-464D-9814-78985BE7CC26}"/>
              </a:ext>
            </a:extLst>
          </p:cNvPr>
          <p:cNvSpPr>
            <a:spLocks xmlns:a="http://schemas.openxmlformats.org/drawingml/2006/main" noGrp="1"/>
          </p:cNvSpPr>
          <p:nvPr/>
        </p:nvSpPr>
        <p:spPr>
          <a:xfrm xmlns:a="http://schemas.openxmlformats.org/drawingml/2006/main">
            <a:off x="647700" y="3429000"/>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444"/>
                </a:solidFill>
                <a:latin typeface="Arial"/>
                <a:ea typeface="Arial"/>
                <a:cs typeface="Arial"/>
              </a:defRPr>
            </a:defPPr>
          </a:lstStyle>
          <a:p xmlns:a="http://schemas.openxmlformats.org/drawingml/2006/main">
            <a:pPr algn="l">
              <a:defRPr sz="2175" b="0">
                <a:solidFill>
                  <a:srgbClr val="183444"/>
                </a:solidFill>
                <a:latin typeface="Arial"/>
                <a:ea typeface="Arial"/>
                <a:cs typeface="Arial"/>
              </a:defRPr>
            </a:pPr>
            <a:r>
              <a:rPr sz="2175" b="0">
                <a:solidFill>
                  <a:srgbClr val="183444"/>
                </a:solidFill>
                <a:latin typeface="Arial"/>
                <a:ea typeface="Arial"/>
                <a:cs typeface="Arial"/>
              </a:rPr>
              <a:t>units ordered</a:t>
            </a:r>
          </a:p>
        </p:txBody>
      </p:sp>
      <p:sp>
        <p:nvSpPr>
          <p:cNvPr id="7" name="text-pvexcu-6">
            <a:extLst xmlns:a="http://schemas.openxmlformats.org/drawingml/2006/main">
              <a:ext uri="{FF2B5EF4-FFF2-40B4-BE49-F238E27FC236}">
                <a16:creationId xmlns:a16="http://schemas.microsoft.com/office/drawing/2014/main" id="{4F517317-4B28-4178-B157-91AF307C6307}"/>
              </a:ext>
            </a:extLst>
          </p:cNvPr>
          <p:cNvSpPr>
            <a:spLocks xmlns:a="http://schemas.openxmlformats.org/drawingml/2006/main" noGrp="1"/>
          </p:cNvSpPr>
          <p:nvPr/>
        </p:nvSpPr>
        <p:spPr>
          <a:xfrm xmlns:a="http://schemas.openxmlformats.org/drawingml/2006/main">
            <a:off x="4438650" y="22669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087F83"/>
                </a:solidFill>
                <a:latin typeface="Arial"/>
                <a:ea typeface="Arial"/>
                <a:cs typeface="Arial"/>
              </a:defRPr>
            </a:defPPr>
          </a:lstStyle>
          <a:p xmlns:a="http://schemas.openxmlformats.org/drawingml/2006/main">
            <a:pPr algn="l">
              <a:defRPr sz="7500" b="1">
                <a:solidFill>
                  <a:srgbClr val="087F83"/>
                </a:solidFill>
                <a:latin typeface="Arial"/>
                <a:ea typeface="Arial"/>
                <a:cs typeface="Arial"/>
              </a:defRPr>
            </a:pPr>
            <a:r>
              <a:rPr sz="7500" b="1">
                <a:solidFill>
                  <a:srgbClr val="087F83"/>
                </a:solidFill>
                <a:latin typeface="Arial"/>
                <a:ea typeface="Arial"/>
                <a:cs typeface="Arial"/>
              </a:rPr>
              <a:t>500</a:t>
            </a:r>
          </a:p>
        </p:txBody>
      </p:sp>
      <p:sp>
        <p:nvSpPr>
          <p:cNvPr id="8" name="text-pvexcu-7">
            <a:extLst xmlns:a="http://schemas.openxmlformats.org/drawingml/2006/main">
              <a:ext uri="{FF2B5EF4-FFF2-40B4-BE49-F238E27FC236}">
                <a16:creationId xmlns:a16="http://schemas.microsoft.com/office/drawing/2014/main" id="{8619709E-D8C2-485E-AD9D-8FC59AEE60EA}"/>
              </a:ext>
            </a:extLst>
          </p:cNvPr>
          <p:cNvSpPr>
            <a:spLocks xmlns:a="http://schemas.openxmlformats.org/drawingml/2006/main" noGrp="1"/>
          </p:cNvSpPr>
          <p:nvPr/>
        </p:nvSpPr>
        <p:spPr>
          <a:xfrm xmlns:a="http://schemas.openxmlformats.org/drawingml/2006/main">
            <a:off x="4476750" y="3429000"/>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444"/>
                </a:solidFill>
                <a:latin typeface="Arial"/>
                <a:ea typeface="Arial"/>
                <a:cs typeface="Arial"/>
              </a:defRPr>
            </a:defPPr>
          </a:lstStyle>
          <a:p xmlns:a="http://schemas.openxmlformats.org/drawingml/2006/main">
            <a:pPr algn="l">
              <a:defRPr sz="2175" b="0">
                <a:solidFill>
                  <a:srgbClr val="183444"/>
                </a:solidFill>
                <a:latin typeface="Arial"/>
                <a:ea typeface="Arial"/>
                <a:cs typeface="Arial"/>
              </a:defRPr>
            </a:pPr>
            <a:r>
              <a:rPr sz="2175" b="0">
                <a:solidFill>
                  <a:srgbClr val="183444"/>
                </a:solidFill>
                <a:latin typeface="Arial"/>
                <a:ea typeface="Arial"/>
                <a:cs typeface="Arial"/>
              </a:rPr>
              <a:t>finished units in stock</a:t>
            </a:r>
          </a:p>
        </p:txBody>
      </p:sp>
      <p:sp>
        <p:nvSpPr>
          <p:cNvPr id="9" name="text-pvexcu-8">
            <a:extLst xmlns:a="http://schemas.openxmlformats.org/drawingml/2006/main">
              <a:ext uri="{FF2B5EF4-FFF2-40B4-BE49-F238E27FC236}">
                <a16:creationId xmlns:a16="http://schemas.microsoft.com/office/drawing/2014/main" id="{0927D7E4-C388-4E6C-B0EB-3B3751CCDAB9}"/>
              </a:ext>
            </a:extLst>
          </p:cNvPr>
          <p:cNvSpPr>
            <a:spLocks xmlns:a="http://schemas.openxmlformats.org/drawingml/2006/main" noGrp="1"/>
          </p:cNvSpPr>
          <p:nvPr/>
        </p:nvSpPr>
        <p:spPr>
          <a:xfrm xmlns:a="http://schemas.openxmlformats.org/drawingml/2006/main">
            <a:off x="8248650" y="22669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102A3A"/>
                </a:solidFill>
                <a:latin typeface="Arial"/>
                <a:ea typeface="Arial"/>
                <a:cs typeface="Arial"/>
              </a:defRPr>
            </a:defPPr>
          </a:lstStyle>
          <a:p xmlns:a="http://schemas.openxmlformats.org/drawingml/2006/main">
            <a:pPr algn="l">
              <a:defRPr sz="7500" b="1">
                <a:solidFill>
                  <a:srgbClr val="102A3A"/>
                </a:solidFill>
                <a:latin typeface="Arial"/>
                <a:ea typeface="Arial"/>
                <a:cs typeface="Arial"/>
              </a:defRPr>
            </a:pPr>
            <a:r>
              <a:rPr sz="7500" b="1">
                <a:solidFill>
                  <a:srgbClr val="102A3A"/>
                </a:solidFill>
                <a:latin typeface="Arial"/>
                <a:ea typeface="Arial"/>
                <a:cs typeface="Arial"/>
              </a:rPr>
              <a:t>400</a:t>
            </a:r>
          </a:p>
        </p:txBody>
      </p:sp>
      <p:sp>
        <p:nvSpPr>
          <p:cNvPr id="10" name="text-pvexcu-9">
            <a:extLst xmlns:a="http://schemas.openxmlformats.org/drawingml/2006/main">
              <a:ext uri="{FF2B5EF4-FFF2-40B4-BE49-F238E27FC236}">
                <a16:creationId xmlns:a16="http://schemas.microsoft.com/office/drawing/2014/main" id="{97A9CC43-BD1D-474E-B2B1-F80D0DA21910}"/>
              </a:ext>
            </a:extLst>
          </p:cNvPr>
          <p:cNvSpPr>
            <a:spLocks xmlns:a="http://schemas.openxmlformats.org/drawingml/2006/main" noGrp="1"/>
          </p:cNvSpPr>
          <p:nvPr/>
        </p:nvSpPr>
        <p:spPr>
          <a:xfrm xmlns:a="http://schemas.openxmlformats.org/drawingml/2006/main">
            <a:off x="8286750" y="3429000"/>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444"/>
                </a:solidFill>
                <a:latin typeface="Arial"/>
                <a:ea typeface="Arial"/>
                <a:cs typeface="Arial"/>
              </a:defRPr>
            </a:defPPr>
          </a:lstStyle>
          <a:p xmlns:a="http://schemas.openxmlformats.org/drawingml/2006/main">
            <a:pPr algn="l">
              <a:defRPr sz="2175" b="0">
                <a:solidFill>
                  <a:srgbClr val="183444"/>
                </a:solidFill>
                <a:latin typeface="Arial"/>
                <a:ea typeface="Arial"/>
                <a:cs typeface="Arial"/>
              </a:defRPr>
            </a:pPr>
            <a:r>
              <a:rPr sz="2175" b="0">
                <a:solidFill>
                  <a:srgbClr val="183444"/>
                </a:solidFill>
                <a:latin typeface="Arial"/>
                <a:ea typeface="Arial"/>
                <a:cs typeface="Arial"/>
              </a:rPr>
              <a:t>units to manufacture</a:t>
            </a:r>
          </a:p>
        </p:txBody>
      </p:sp>
      <p:sp>
        <p:nvSpPr>
          <p:cNvPr id="11" name="text-pvexcu-10">
            <a:extLst xmlns:a="http://schemas.openxmlformats.org/drawingml/2006/main">
              <a:ext uri="{FF2B5EF4-FFF2-40B4-BE49-F238E27FC236}">
                <a16:creationId xmlns:a16="http://schemas.microsoft.com/office/drawing/2014/main" id="{F2E12917-8325-491B-86B2-0DC13F00437A}"/>
              </a:ext>
            </a:extLst>
          </p:cNvPr>
          <p:cNvSpPr>
            <a:spLocks xmlns:a="http://schemas.openxmlformats.org/drawingml/2006/main" noGrp="1"/>
          </p:cNvSpPr>
          <p:nvPr/>
        </p:nvSpPr>
        <p:spPr>
          <a:xfrm xmlns:a="http://schemas.openxmlformats.org/drawingml/2006/main">
            <a:off x="609600" y="504825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2A3A"/>
                </a:solidFill>
                <a:latin typeface="Arial"/>
                <a:ea typeface="Arial"/>
                <a:cs typeface="Arial"/>
              </a:defRPr>
            </a:defPPr>
          </a:lstStyle>
          <a:p xmlns:a="http://schemas.openxmlformats.org/drawingml/2006/main">
            <a:pPr algn="l">
              <a:defRPr sz="2400" b="1">
                <a:solidFill>
                  <a:srgbClr val="102A3A"/>
                </a:solidFill>
                <a:latin typeface="Arial"/>
                <a:ea typeface="Arial"/>
                <a:cs typeface="Arial"/>
              </a:defRPr>
            </a:pPr>
            <a:r>
              <a:rPr sz="2400" b="1">
                <a:solidFill>
                  <a:srgbClr val="102A3A"/>
                </a:solidFill>
                <a:latin typeface="Arial"/>
                <a:ea typeface="Arial"/>
                <a:cs typeface="Arial"/>
              </a:rPr>
              <a:t>The business task: fulfil discounted campaign orders while protecting accepted dispatch commitments.</a:t>
            </a:r>
          </a:p>
        </p:txBody>
      </p:sp>
    </p:spTree>
    <p:extLst>
      <p:ext uri="{BB962C8B-B14F-4D97-AF65-F5344CB8AC3E}">
        <p14:creationId xmlns:p14="http://schemas.microsoft.com/office/powerpoint/2010/main" val="354621244"/>
      </p:ext>
    </p:extLst>
  </p:cSld>
</p:sld>
</file>

<file path=ppt/slides/slide3.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0" name="text-2aacql-0">
            <a:extLst xmlns:a="http://schemas.openxmlformats.org/drawingml/2006/main">
              <a:ext uri="{FF2B5EF4-FFF2-40B4-BE49-F238E27FC236}">
                <a16:creationId xmlns:a16="http://schemas.microsoft.com/office/drawing/2014/main" id="{F145972C-BFC4-4F17-9895-05E64BF23FC8}"/>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The operating problem</a:t>
            </a:r>
          </a:p>
        </p:txBody>
      </p:sp>
      <p:sp>
        <p:nvSpPr>
          <p:cNvPr id="2" name="text-2aacql-1">
            <a:extLst xmlns:a="http://schemas.openxmlformats.org/drawingml/2006/main">
              <a:ext uri="{FF2B5EF4-FFF2-40B4-BE49-F238E27FC236}">
                <a16:creationId xmlns:a16="http://schemas.microsoft.com/office/drawing/2014/main" id="{B1125E5F-9EB6-4D93-BB4B-258A9C23F796}"/>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A stock shortage creates decisions that standard records alone do not resolve.</a:t>
            </a:r>
          </a:p>
        </p:txBody>
      </p:sp>
      <p:sp>
        <p:nvSpPr>
          <p:cNvPr id="3" name="text-2aacql-2">
            <a:extLst xmlns:a="http://schemas.openxmlformats.org/drawingml/2006/main">
              <a:ext uri="{FF2B5EF4-FFF2-40B4-BE49-F238E27FC236}">
                <a16:creationId xmlns:a16="http://schemas.microsoft.com/office/drawing/2014/main" id="{CA0E5E78-B062-4218-B9D6-C1FB55B0853D}"/>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2aacql-3">
            <a:extLst xmlns:a="http://schemas.openxmlformats.org/drawingml/2006/main">
              <a:ext uri="{FF2B5EF4-FFF2-40B4-BE49-F238E27FC236}">
                <a16:creationId xmlns:a16="http://schemas.microsoft.com/office/drawing/2014/main" id="{1FE10F1F-CC17-442B-8EFF-375B75AE853C}"/>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03 / 17</a:t>
            </a:r>
          </a:p>
        </p:txBody>
      </p:sp>
      <p:sp>
        <p:nvSpPr>
          <p:cNvPr id="5" name="text-2aacql-4">
            <a:extLst xmlns:a="http://schemas.openxmlformats.org/drawingml/2006/main">
              <a:ext uri="{FF2B5EF4-FFF2-40B4-BE49-F238E27FC236}">
                <a16:creationId xmlns:a16="http://schemas.microsoft.com/office/drawing/2014/main" id="{D72F87C1-463D-4916-9D97-1C1CCBD2EB34}"/>
              </a:ext>
            </a:extLst>
          </p:cNvPr>
          <p:cNvSpPr>
            <a:spLocks xmlns:a="http://schemas.openxmlformats.org/drawingml/2006/main" noGrp="1"/>
          </p:cNvSpPr>
          <p:nvPr/>
        </p:nvSpPr>
        <p:spPr>
          <a:xfrm xmlns:a="http://schemas.openxmlformats.org/drawingml/2006/main">
            <a:off x="609600" y="20955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02A3A"/>
                </a:solidFill>
                <a:latin typeface="Arial"/>
                <a:ea typeface="Arial"/>
                <a:cs typeface="Arial"/>
              </a:defRPr>
            </a:defPPr>
          </a:lstStyle>
          <a:p xmlns:a="http://schemas.openxmlformats.org/drawingml/2006/main">
            <a:pPr algn="l">
              <a:defRPr sz="4200" b="1">
                <a:solidFill>
                  <a:srgbClr val="102A3A"/>
                </a:solidFill>
                <a:latin typeface="Arial"/>
                <a:ea typeface="Arial"/>
                <a:cs typeface="Arial"/>
              </a:defRPr>
            </a:pPr>
            <a:r>
              <a:rPr sz="4200" b="1">
                <a:solidFill>
                  <a:srgbClr val="102A3A"/>
                </a:solidFill>
                <a:latin typeface="Arial"/>
                <a:ea typeface="Arial"/>
                <a:cs typeface="Arial"/>
              </a:rPr>
              <a:t>Which order should receive</a:t>
            </a:r>
          </a:p>
          <a:p xmlns:a="http://schemas.openxmlformats.org/drawingml/2006/main">
            <a:pPr algn="l">
              <a:defRPr sz="4200" b="1">
                <a:solidFill>
                  <a:srgbClr val="102A3A"/>
                </a:solidFill>
                <a:latin typeface="Arial"/>
                <a:ea typeface="Arial"/>
                <a:cs typeface="Arial"/>
              </a:defRPr>
            </a:pPr>
            <a:r>
              <a:rPr sz="4200" b="1">
                <a:solidFill>
                  <a:srgbClr val="102A3A"/>
                </a:solidFill>
                <a:latin typeface="Arial"/>
                <a:ea typeface="Arial"/>
                <a:cs typeface="Arial"/>
              </a:rPr>
              <a:t>the next available unit?</a:t>
            </a:r>
          </a:p>
        </p:txBody>
      </p:sp>
      <p:sp>
        <p:nvSpPr>
          <p:cNvPr id="6" name="text-2aacql-5">
            <a:extLst xmlns:a="http://schemas.openxmlformats.org/drawingml/2006/main">
              <a:ext uri="{FF2B5EF4-FFF2-40B4-BE49-F238E27FC236}">
                <a16:creationId xmlns:a16="http://schemas.microsoft.com/office/drawing/2014/main" id="{CF568FFB-17E1-4E58-89A7-8232EEC24011}"/>
              </a:ext>
            </a:extLst>
          </p:cNvPr>
          <p:cNvSpPr>
            <a:spLocks xmlns:a="http://schemas.openxmlformats.org/drawingml/2006/main" noGrp="1"/>
          </p:cNvSpPr>
          <p:nvPr/>
        </p:nvSpPr>
        <p:spPr>
          <a:xfrm xmlns:a="http://schemas.openxmlformats.org/drawingml/2006/main">
            <a:off x="609600" y="40767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3"/>
                </a:solidFill>
                <a:latin typeface="Arial"/>
                <a:ea typeface="Arial"/>
                <a:cs typeface="Arial"/>
              </a:defRPr>
            </a:defPPr>
          </a:lstStyle>
          <a:p xmlns:a="http://schemas.openxmlformats.org/drawingml/2006/main">
            <a:pPr algn="l">
              <a:defRPr sz="2175" b="1">
                <a:solidFill>
                  <a:srgbClr val="087F83"/>
                </a:solidFill>
                <a:latin typeface="Arial"/>
                <a:ea typeface="Arial"/>
                <a:cs typeface="Arial"/>
              </a:defRPr>
            </a:pPr>
            <a:r>
              <a:rPr sz="2175" b="1">
                <a:solidFill>
                  <a:srgbClr val="087F83"/>
                </a:solidFill>
                <a:latin typeface="Arial"/>
                <a:ea typeface="Arial"/>
                <a:cs typeface="Arial"/>
              </a:rPr>
              <a:t>Competing commitments</a:t>
            </a:r>
          </a:p>
        </p:txBody>
      </p:sp>
      <p:sp>
        <p:nvSpPr>
          <p:cNvPr id="7" name="text-2aacql-6">
            <a:extLst xmlns:a="http://schemas.openxmlformats.org/drawingml/2006/main">
              <a:ext uri="{FF2B5EF4-FFF2-40B4-BE49-F238E27FC236}">
                <a16:creationId xmlns:a16="http://schemas.microsoft.com/office/drawing/2014/main" id="{0AD5038E-0BB8-426E-A25B-59E231847312}"/>
              </a:ext>
            </a:extLst>
          </p:cNvPr>
          <p:cNvSpPr>
            <a:spLocks xmlns:a="http://schemas.openxmlformats.org/drawingml/2006/main" noGrp="1"/>
          </p:cNvSpPr>
          <p:nvPr/>
        </p:nvSpPr>
        <p:spPr>
          <a:xfrm xmlns:a="http://schemas.openxmlformats.org/drawingml/2006/main">
            <a:off x="609600" y="4581525"/>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444"/>
                </a:solidFill>
                <a:latin typeface="Arial"/>
                <a:ea typeface="Arial"/>
                <a:cs typeface="Arial"/>
              </a:defRPr>
            </a:defPPr>
          </a:lstStyle>
          <a:p xmlns:a="http://schemas.openxmlformats.org/drawingml/2006/main">
            <a:pPr algn="l">
              <a:defRPr sz="1950" b="0">
                <a:solidFill>
                  <a:srgbClr val="183444"/>
                </a:solidFill>
                <a:latin typeface="Arial"/>
                <a:ea typeface="Arial"/>
                <a:cs typeface="Arial"/>
              </a:defRPr>
            </a:pPr>
            <a:r>
              <a:rPr sz="1950" b="0">
                <a:solidFill>
                  <a:srgbClr val="183444"/>
                </a:solidFill>
                <a:latin typeface="Arial"/>
                <a:ea typeface="Arial"/>
                <a:cs typeface="Arial"/>
              </a:rPr>
              <a:t>A large corporate order must not automatically outrank an earlier promise.</a:t>
            </a:r>
          </a:p>
        </p:txBody>
      </p:sp>
      <p:sp>
        <p:nvSpPr>
          <p:cNvPr id="8" name="text-2aacql-7">
            <a:extLst xmlns:a="http://schemas.openxmlformats.org/drawingml/2006/main">
              <a:ext uri="{FF2B5EF4-FFF2-40B4-BE49-F238E27FC236}">
                <a16:creationId xmlns:a16="http://schemas.microsoft.com/office/drawing/2014/main" id="{47AE9FF8-94C5-4E35-9C60-137FA7219995}"/>
              </a:ext>
            </a:extLst>
          </p:cNvPr>
          <p:cNvSpPr>
            <a:spLocks xmlns:a="http://schemas.openxmlformats.org/drawingml/2006/main" noGrp="1"/>
          </p:cNvSpPr>
          <p:nvPr/>
        </p:nvSpPr>
        <p:spPr>
          <a:xfrm xmlns:a="http://schemas.openxmlformats.org/drawingml/2006/main">
            <a:off x="6515100" y="40767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3"/>
                </a:solidFill>
                <a:latin typeface="Arial"/>
                <a:ea typeface="Arial"/>
                <a:cs typeface="Arial"/>
              </a:defRPr>
            </a:defPPr>
          </a:lstStyle>
          <a:p xmlns:a="http://schemas.openxmlformats.org/drawingml/2006/main">
            <a:pPr algn="l">
              <a:defRPr sz="2175" b="1">
                <a:solidFill>
                  <a:srgbClr val="087F83"/>
                </a:solidFill>
                <a:latin typeface="Arial"/>
                <a:ea typeface="Arial"/>
                <a:cs typeface="Arial"/>
              </a:defRPr>
            </a:pPr>
            <a:r>
              <a:rPr sz="2175" b="1">
                <a:solidFill>
                  <a:srgbClr val="087F83"/>
                </a:solidFill>
                <a:latin typeface="Arial"/>
                <a:ea typeface="Arial"/>
                <a:cs typeface="Arial"/>
              </a:rPr>
              <a:t>Changing promises</a:t>
            </a:r>
          </a:p>
        </p:txBody>
      </p:sp>
      <p:sp>
        <p:nvSpPr>
          <p:cNvPr id="9" name="text-2aacql-8">
            <a:extLst xmlns:a="http://schemas.openxmlformats.org/drawingml/2006/main">
              <a:ext uri="{FF2B5EF4-FFF2-40B4-BE49-F238E27FC236}">
                <a16:creationId xmlns:a16="http://schemas.microsoft.com/office/drawing/2014/main" id="{ACB76198-F73A-4D3B-9AF5-BE08E9001EF0}"/>
              </a:ext>
            </a:extLst>
          </p:cNvPr>
          <p:cNvSpPr>
            <a:spLocks xmlns:a="http://schemas.openxmlformats.org/drawingml/2006/main" noGrp="1"/>
          </p:cNvSpPr>
          <p:nvPr/>
        </p:nvSpPr>
        <p:spPr>
          <a:xfrm xmlns:a="http://schemas.openxmlformats.org/drawingml/2006/main">
            <a:off x="6515100" y="4581525"/>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444"/>
                </a:solidFill>
                <a:latin typeface="Arial"/>
                <a:ea typeface="Arial"/>
                <a:cs typeface="Arial"/>
              </a:defRPr>
            </a:defPPr>
          </a:lstStyle>
          <a:p xmlns:a="http://schemas.openxmlformats.org/drawingml/2006/main">
            <a:pPr algn="l">
              <a:defRPr sz="1950" b="0">
                <a:solidFill>
                  <a:srgbClr val="183444"/>
                </a:solidFill>
                <a:latin typeface="Arial"/>
                <a:ea typeface="Arial"/>
                <a:cs typeface="Arial"/>
              </a:defRPr>
            </a:pPr>
            <a:r>
              <a:rPr sz="1950" b="0">
                <a:solidFill>
                  <a:srgbClr val="183444"/>
                </a:solidFill>
                <a:latin typeface="Arial"/>
                <a:ea typeface="Arial"/>
                <a:cs typeface="Arial"/>
              </a:rPr>
              <a:t>A proposal must not silently become a new commitment or hide the original date.</a:t>
            </a:r>
          </a:p>
        </p:txBody>
      </p:sp>
    </p:spTree>
    <p:extLst>
      <p:ext uri="{BB962C8B-B14F-4D97-AF65-F5344CB8AC3E}">
        <p14:creationId xmlns:p14="http://schemas.microsoft.com/office/powerpoint/2010/main" val="180285054"/>
      </p:ext>
    </p:extLst>
  </p:cSld>
</p:sld>
</file>

<file path=ppt/slides/slide4.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20" name="text-gctja3-0">
            <a:extLst xmlns:a="http://schemas.openxmlformats.org/drawingml/2006/main">
              <a:ext uri="{FF2B5EF4-FFF2-40B4-BE49-F238E27FC236}">
                <a16:creationId xmlns:a16="http://schemas.microsoft.com/office/drawing/2014/main" id="{AF3CE7CA-2353-4D20-96FC-DC43FE35AF97}"/>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The fulfilment workflow</a:t>
            </a:r>
          </a:p>
        </p:txBody>
      </p:sp>
      <p:sp>
        <p:nvSpPr>
          <p:cNvPr id="2" name="text-gctja3-1">
            <a:extLst xmlns:a="http://schemas.openxmlformats.org/drawingml/2006/main">
              <a:ext uri="{FF2B5EF4-FFF2-40B4-BE49-F238E27FC236}">
                <a16:creationId xmlns:a16="http://schemas.microsoft.com/office/drawing/2014/main" id="{908C2648-00C8-418C-A3E7-7167F54472B3}"/>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Standard purchasing and manufacturing support focused campaign controls.</a:t>
            </a:r>
          </a:p>
        </p:txBody>
      </p:sp>
      <p:sp>
        <p:nvSpPr>
          <p:cNvPr id="3" name="text-gctja3-2">
            <a:extLst xmlns:a="http://schemas.openxmlformats.org/drawingml/2006/main">
              <a:ext uri="{FF2B5EF4-FFF2-40B4-BE49-F238E27FC236}">
                <a16:creationId xmlns:a16="http://schemas.microsoft.com/office/drawing/2014/main" id="{8021FC2D-947E-4A52-969F-0CACC176E433}"/>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gctja3-3">
            <a:extLst xmlns:a="http://schemas.openxmlformats.org/drawingml/2006/main">
              <a:ext uri="{FF2B5EF4-FFF2-40B4-BE49-F238E27FC236}">
                <a16:creationId xmlns:a16="http://schemas.microsoft.com/office/drawing/2014/main" id="{89A7311E-79A0-4E48-89EB-8376E2EBFEFA}"/>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04 / 17</a:t>
            </a:r>
          </a:p>
        </p:txBody>
      </p:sp>
      <p:sp>
        <p:nvSpPr>
          <p:cNvPr id="5" name="text-gctja3-4">
            <a:extLst xmlns:a="http://schemas.openxmlformats.org/drawingml/2006/main">
              <a:ext uri="{FF2B5EF4-FFF2-40B4-BE49-F238E27FC236}">
                <a16:creationId xmlns:a16="http://schemas.microsoft.com/office/drawing/2014/main" id="{803426E7-B2F0-4E71-9FCF-6B8940E34D09}"/>
              </a:ext>
            </a:extLst>
          </p:cNvPr>
          <p:cNvSpPr>
            <a:spLocks xmlns:a="http://schemas.openxmlformats.org/drawingml/2006/main" noGrp="1"/>
          </p:cNvSpPr>
          <p:nvPr/>
        </p:nvSpPr>
        <p:spPr>
          <a:xfrm xmlns:a="http://schemas.openxmlformats.org/drawingml/2006/main">
            <a:off x="609600" y="186690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87F83"/>
                </a:solidFill>
                <a:latin typeface="Arial"/>
                <a:ea typeface="Arial"/>
                <a:cs typeface="Arial"/>
              </a:defRPr>
            </a:defPPr>
          </a:lstStyle>
          <a:p xmlns:a="http://schemas.openxmlformats.org/drawingml/2006/main">
            <a:pPr algn="l">
              <a:defRPr sz="3150" b="1">
                <a:solidFill>
                  <a:srgbClr val="087F83"/>
                </a:solidFill>
                <a:latin typeface="Arial"/>
                <a:ea typeface="Arial"/>
                <a:cs typeface="Arial"/>
              </a:defRPr>
            </a:pPr>
            <a:r>
              <a:rPr sz="3150" b="1">
                <a:solidFill>
                  <a:srgbClr val="087F83"/>
                </a:solidFill>
                <a:latin typeface="Arial"/>
                <a:ea typeface="Arial"/>
                <a:cs typeface="Arial"/>
              </a:rPr>
              <a:t>01</a:t>
            </a:r>
          </a:p>
        </p:txBody>
      </p:sp>
      <p:sp>
        <p:nvSpPr>
          <p:cNvPr id="6" name="text-gctja3-5">
            <a:extLst xmlns:a="http://schemas.openxmlformats.org/drawingml/2006/main">
              <a:ext uri="{FF2B5EF4-FFF2-40B4-BE49-F238E27FC236}">
                <a16:creationId xmlns:a16="http://schemas.microsoft.com/office/drawing/2014/main" id="{38AC4B4B-DAC6-4EAF-B4E0-A2C1EB09F82E}"/>
              </a:ext>
            </a:extLst>
          </p:cNvPr>
          <p:cNvSpPr>
            <a:spLocks xmlns:a="http://schemas.openxmlformats.org/drawingml/2006/main" noGrp="1"/>
          </p:cNvSpPr>
          <p:nvPr/>
        </p:nvSpPr>
        <p:spPr>
          <a:xfrm xmlns:a="http://schemas.openxmlformats.org/drawingml/2006/main">
            <a:off x="1466850" y="187642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Confirm the order and dispatch promise</a:t>
            </a:r>
          </a:p>
        </p:txBody>
      </p:sp>
      <p:sp>
        <p:nvSpPr>
          <p:cNvPr id="7" name="text-gctja3-6">
            <a:extLst xmlns:a="http://schemas.openxmlformats.org/drawingml/2006/main">
              <a:ext uri="{FF2B5EF4-FFF2-40B4-BE49-F238E27FC236}">
                <a16:creationId xmlns:a16="http://schemas.microsoft.com/office/drawing/2014/main" id="{EC2DBAEF-62A6-4F0C-95A1-A3F714316E98}"/>
              </a:ext>
            </a:extLst>
          </p:cNvPr>
          <p:cNvSpPr>
            <a:spLocks xmlns:a="http://schemas.openxmlformats.org/drawingml/2006/main" noGrp="1"/>
          </p:cNvSpPr>
          <p:nvPr/>
        </p:nvSpPr>
        <p:spPr>
          <a:xfrm xmlns:a="http://schemas.openxmlformats.org/drawingml/2006/main">
            <a:off x="1466850" y="2266950"/>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Sales records the shipment policy and accepted warehouse date.</a:t>
            </a:r>
          </a:p>
        </p:txBody>
      </p:sp>
      <p:sp>
        <p:nvSpPr>
          <p:cNvPr id="8" name="text-gctja3-7">
            <a:extLst xmlns:a="http://schemas.openxmlformats.org/drawingml/2006/main">
              <a:ext uri="{FF2B5EF4-FFF2-40B4-BE49-F238E27FC236}">
                <a16:creationId xmlns:a16="http://schemas.microsoft.com/office/drawing/2014/main" id="{81D5243A-7C91-460A-AFAD-39378F8FC6C5}"/>
              </a:ext>
            </a:extLst>
          </p:cNvPr>
          <p:cNvSpPr>
            <a:spLocks xmlns:a="http://schemas.openxmlformats.org/drawingml/2006/main" noGrp="1"/>
          </p:cNvSpPr>
          <p:nvPr/>
        </p:nvSpPr>
        <p:spPr>
          <a:xfrm xmlns:a="http://schemas.openxmlformats.org/drawingml/2006/main">
            <a:off x="609600" y="27241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87F83"/>
                </a:solidFill>
                <a:latin typeface="Arial"/>
                <a:ea typeface="Arial"/>
                <a:cs typeface="Arial"/>
              </a:defRPr>
            </a:defPPr>
          </a:lstStyle>
          <a:p xmlns:a="http://schemas.openxmlformats.org/drawingml/2006/main">
            <a:pPr algn="l">
              <a:defRPr sz="3150" b="1">
                <a:solidFill>
                  <a:srgbClr val="087F83"/>
                </a:solidFill>
                <a:latin typeface="Arial"/>
                <a:ea typeface="Arial"/>
                <a:cs typeface="Arial"/>
              </a:defRPr>
            </a:pPr>
            <a:r>
              <a:rPr sz="3150" b="1">
                <a:solidFill>
                  <a:srgbClr val="087F83"/>
                </a:solidFill>
                <a:latin typeface="Arial"/>
                <a:ea typeface="Arial"/>
                <a:cs typeface="Arial"/>
              </a:rPr>
              <a:t>02</a:t>
            </a:r>
          </a:p>
        </p:txBody>
      </p:sp>
      <p:sp>
        <p:nvSpPr>
          <p:cNvPr id="9" name="text-gctja3-8">
            <a:extLst xmlns:a="http://schemas.openxmlformats.org/drawingml/2006/main">
              <a:ext uri="{FF2B5EF4-FFF2-40B4-BE49-F238E27FC236}">
                <a16:creationId xmlns:a16="http://schemas.microsoft.com/office/drawing/2014/main" id="{CF131C64-5515-453B-BB25-9AA9CF416162}"/>
              </a:ext>
            </a:extLst>
          </p:cNvPr>
          <p:cNvSpPr>
            <a:spLocks xmlns:a="http://schemas.openxmlformats.org/drawingml/2006/main" noGrp="1"/>
          </p:cNvSpPr>
          <p:nvPr/>
        </p:nvSpPr>
        <p:spPr>
          <a:xfrm xmlns:a="http://schemas.openxmlformats.org/drawingml/2006/main">
            <a:off x="1466850" y="273367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Allocate the available stock</a:t>
            </a:r>
          </a:p>
        </p:txBody>
      </p:sp>
      <p:sp>
        <p:nvSpPr>
          <p:cNvPr id="10" name="text-gctja3-9">
            <a:extLst xmlns:a="http://schemas.openxmlformats.org/drawingml/2006/main">
              <a:ext uri="{FF2B5EF4-FFF2-40B4-BE49-F238E27FC236}">
                <a16:creationId xmlns:a16="http://schemas.microsoft.com/office/drawing/2014/main" id="{C0071B56-32E0-4A48-A363-DD6F439EF6CA}"/>
              </a:ext>
            </a:extLst>
          </p:cNvPr>
          <p:cNvSpPr>
            <a:spLocks xmlns:a="http://schemas.openxmlformats.org/drawingml/2006/main" noGrp="1"/>
          </p:cNvSpPr>
          <p:nvPr/>
        </p:nvSpPr>
        <p:spPr>
          <a:xfrm xmlns:a="http://schemas.openxmlformats.org/drawingml/2006/main">
            <a:off x="1466850" y="3124200"/>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Earlier accepted commitments receive eligible stock first.</a:t>
            </a:r>
          </a:p>
        </p:txBody>
      </p:sp>
      <p:sp>
        <p:nvSpPr>
          <p:cNvPr id="11" name="text-gctja3-10">
            <a:extLst xmlns:a="http://schemas.openxmlformats.org/drawingml/2006/main">
              <a:ext uri="{FF2B5EF4-FFF2-40B4-BE49-F238E27FC236}">
                <a16:creationId xmlns:a16="http://schemas.microsoft.com/office/drawing/2014/main" id="{B7E76ECA-4708-4665-86EE-896C45ACC2D4}"/>
              </a:ext>
            </a:extLst>
          </p:cNvPr>
          <p:cNvSpPr>
            <a:spLocks xmlns:a="http://schemas.openxmlformats.org/drawingml/2006/main" noGrp="1"/>
          </p:cNvSpPr>
          <p:nvPr/>
        </p:nvSpPr>
        <p:spPr>
          <a:xfrm xmlns:a="http://schemas.openxmlformats.org/drawingml/2006/main">
            <a:off x="609600" y="358140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87F83"/>
                </a:solidFill>
                <a:latin typeface="Arial"/>
                <a:ea typeface="Arial"/>
                <a:cs typeface="Arial"/>
              </a:defRPr>
            </a:defPPr>
          </a:lstStyle>
          <a:p xmlns:a="http://schemas.openxmlformats.org/drawingml/2006/main">
            <a:pPr algn="l">
              <a:defRPr sz="3150" b="1">
                <a:solidFill>
                  <a:srgbClr val="087F83"/>
                </a:solidFill>
                <a:latin typeface="Arial"/>
                <a:ea typeface="Arial"/>
                <a:cs typeface="Arial"/>
              </a:defRPr>
            </a:pPr>
            <a:r>
              <a:rPr sz="3150" b="1">
                <a:solidFill>
                  <a:srgbClr val="087F83"/>
                </a:solidFill>
                <a:latin typeface="Arial"/>
                <a:ea typeface="Arial"/>
                <a:cs typeface="Arial"/>
              </a:rPr>
              <a:t>03</a:t>
            </a:r>
          </a:p>
        </p:txBody>
      </p:sp>
      <p:sp>
        <p:nvSpPr>
          <p:cNvPr id="12" name="text-gctja3-11">
            <a:extLst xmlns:a="http://schemas.openxmlformats.org/drawingml/2006/main">
              <a:ext uri="{FF2B5EF4-FFF2-40B4-BE49-F238E27FC236}">
                <a16:creationId xmlns:a16="http://schemas.microsoft.com/office/drawing/2014/main" id="{11A15265-7C9F-4BD0-9624-A007948D309D}"/>
              </a:ext>
            </a:extLst>
          </p:cNvPr>
          <p:cNvSpPr>
            <a:spLocks xmlns:a="http://schemas.openxmlformats.org/drawingml/2006/main" noGrp="1"/>
          </p:cNvSpPr>
          <p:nvPr/>
        </p:nvSpPr>
        <p:spPr>
          <a:xfrm xmlns:a="http://schemas.openxmlformats.org/drawingml/2006/main">
            <a:off x="1466850" y="359092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Purchase inputs and manufacture the shortage</a:t>
            </a:r>
          </a:p>
        </p:txBody>
      </p:sp>
      <p:sp>
        <p:nvSpPr>
          <p:cNvPr id="13" name="text-gctja3-12">
            <a:extLst xmlns:a="http://schemas.openxmlformats.org/drawingml/2006/main">
              <a:ext uri="{FF2B5EF4-FFF2-40B4-BE49-F238E27FC236}">
                <a16:creationId xmlns:a16="http://schemas.microsoft.com/office/drawing/2014/main" id="{F5FA4DDB-26E0-4EC9-9C81-FC32A35156E7}"/>
              </a:ext>
            </a:extLst>
          </p:cNvPr>
          <p:cNvSpPr>
            <a:spLocks xmlns:a="http://schemas.openxmlformats.org/drawingml/2006/main" noGrp="1"/>
          </p:cNvSpPr>
          <p:nvPr/>
        </p:nvSpPr>
        <p:spPr>
          <a:xfrm xmlns:a="http://schemas.openxmlformats.org/drawingml/2006/main">
            <a:off x="1466850" y="3981450"/>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Staff record receipts and production through standard Odoo operations.</a:t>
            </a:r>
          </a:p>
        </p:txBody>
      </p:sp>
      <p:sp>
        <p:nvSpPr>
          <p:cNvPr id="14" name="text-gctja3-13">
            <a:extLst xmlns:a="http://schemas.openxmlformats.org/drawingml/2006/main">
              <a:ext uri="{FF2B5EF4-FFF2-40B4-BE49-F238E27FC236}">
                <a16:creationId xmlns:a16="http://schemas.microsoft.com/office/drawing/2014/main" id="{B01C1345-1B78-4808-ADF2-2628BF41D4D6}"/>
              </a:ext>
            </a:extLst>
          </p:cNvPr>
          <p:cNvSpPr>
            <a:spLocks xmlns:a="http://schemas.openxmlformats.org/drawingml/2006/main" noGrp="1"/>
          </p:cNvSpPr>
          <p:nvPr/>
        </p:nvSpPr>
        <p:spPr>
          <a:xfrm xmlns:a="http://schemas.openxmlformats.org/drawingml/2006/main">
            <a:off x="609600" y="44386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87F83"/>
                </a:solidFill>
                <a:latin typeface="Arial"/>
                <a:ea typeface="Arial"/>
                <a:cs typeface="Arial"/>
              </a:defRPr>
            </a:defPPr>
          </a:lstStyle>
          <a:p xmlns:a="http://schemas.openxmlformats.org/drawingml/2006/main">
            <a:pPr algn="l">
              <a:defRPr sz="3150" b="1">
                <a:solidFill>
                  <a:srgbClr val="087F83"/>
                </a:solidFill>
                <a:latin typeface="Arial"/>
                <a:ea typeface="Arial"/>
                <a:cs typeface="Arial"/>
              </a:defRPr>
            </a:pPr>
            <a:r>
              <a:rPr sz="3150" b="1">
                <a:solidFill>
                  <a:srgbClr val="087F83"/>
                </a:solidFill>
                <a:latin typeface="Arial"/>
                <a:ea typeface="Arial"/>
                <a:cs typeface="Arial"/>
              </a:rPr>
              <a:t>04</a:t>
            </a:r>
          </a:p>
        </p:txBody>
      </p:sp>
      <p:sp>
        <p:nvSpPr>
          <p:cNvPr id="15" name="text-gctja3-14">
            <a:extLst xmlns:a="http://schemas.openxmlformats.org/drawingml/2006/main">
              <a:ext uri="{FF2B5EF4-FFF2-40B4-BE49-F238E27FC236}">
                <a16:creationId xmlns:a16="http://schemas.microsoft.com/office/drawing/2014/main" id="{0DA35787-1F00-4D6A-A2BD-23124B3DA63B}"/>
              </a:ext>
            </a:extLst>
          </p:cNvPr>
          <p:cNvSpPr>
            <a:spLocks xmlns:a="http://schemas.openxmlformats.org/drawingml/2006/main" noGrp="1"/>
          </p:cNvSpPr>
          <p:nvPr/>
        </p:nvSpPr>
        <p:spPr>
          <a:xfrm xmlns:a="http://schemas.openxmlformats.org/drawingml/2006/main">
            <a:off x="1466850" y="444817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Ship within the customer policy</a:t>
            </a:r>
          </a:p>
        </p:txBody>
      </p:sp>
      <p:sp>
        <p:nvSpPr>
          <p:cNvPr id="16" name="text-gctja3-15">
            <a:extLst xmlns:a="http://schemas.openxmlformats.org/drawingml/2006/main">
              <a:ext uri="{FF2B5EF4-FFF2-40B4-BE49-F238E27FC236}">
                <a16:creationId xmlns:a16="http://schemas.microsoft.com/office/drawing/2014/main" id="{B66764D6-74FD-4038-AD1F-334190BB4110}"/>
              </a:ext>
            </a:extLst>
          </p:cNvPr>
          <p:cNvSpPr>
            <a:spLocks xmlns:a="http://schemas.openxmlformats.org/drawingml/2006/main" noGrp="1"/>
          </p:cNvSpPr>
          <p:nvPr/>
        </p:nvSpPr>
        <p:spPr>
          <a:xfrm xmlns:a="http://schemas.openxmlformats.org/drawingml/2006/main">
            <a:off x="1466850" y="4838700"/>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Individuals receive complete orders. Corporate customers can receive batches.</a:t>
            </a:r>
          </a:p>
        </p:txBody>
      </p:sp>
      <p:sp>
        <p:nvSpPr>
          <p:cNvPr id="17" name="text-gctja3-16">
            <a:extLst xmlns:a="http://schemas.openxmlformats.org/drawingml/2006/main">
              <a:ext uri="{FF2B5EF4-FFF2-40B4-BE49-F238E27FC236}">
                <a16:creationId xmlns:a16="http://schemas.microsoft.com/office/drawing/2014/main" id="{185B0C0E-F030-4DD1-A8C1-340DE9486B7B}"/>
              </a:ext>
            </a:extLst>
          </p:cNvPr>
          <p:cNvSpPr>
            <a:spLocks xmlns:a="http://schemas.openxmlformats.org/drawingml/2006/main" noGrp="1"/>
          </p:cNvSpPr>
          <p:nvPr/>
        </p:nvSpPr>
        <p:spPr>
          <a:xfrm xmlns:a="http://schemas.openxmlformats.org/drawingml/2006/main">
            <a:off x="609600" y="529590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87F83"/>
                </a:solidFill>
                <a:latin typeface="Arial"/>
                <a:ea typeface="Arial"/>
                <a:cs typeface="Arial"/>
              </a:defRPr>
            </a:defPPr>
          </a:lstStyle>
          <a:p xmlns:a="http://schemas.openxmlformats.org/drawingml/2006/main">
            <a:pPr algn="l">
              <a:defRPr sz="3150" b="1">
                <a:solidFill>
                  <a:srgbClr val="087F83"/>
                </a:solidFill>
                <a:latin typeface="Arial"/>
                <a:ea typeface="Arial"/>
                <a:cs typeface="Arial"/>
              </a:defRPr>
            </a:pPr>
            <a:r>
              <a:rPr sz="3150" b="1">
                <a:solidFill>
                  <a:srgbClr val="087F83"/>
                </a:solidFill>
                <a:latin typeface="Arial"/>
                <a:ea typeface="Arial"/>
                <a:cs typeface="Arial"/>
              </a:rPr>
              <a:t>05</a:t>
            </a:r>
          </a:p>
        </p:txBody>
      </p:sp>
      <p:sp>
        <p:nvSpPr>
          <p:cNvPr id="18" name="text-gctja3-17">
            <a:extLst xmlns:a="http://schemas.openxmlformats.org/drawingml/2006/main">
              <a:ext uri="{FF2B5EF4-FFF2-40B4-BE49-F238E27FC236}">
                <a16:creationId xmlns:a16="http://schemas.microsoft.com/office/drawing/2014/main" id="{98BF39B3-1B4A-4040-A249-84AECB02CD1C}"/>
              </a:ext>
            </a:extLst>
          </p:cNvPr>
          <p:cNvSpPr>
            <a:spLocks xmlns:a="http://schemas.openxmlformats.org/drawingml/2006/main" noGrp="1"/>
          </p:cNvSpPr>
          <p:nvPr/>
        </p:nvSpPr>
        <p:spPr>
          <a:xfrm xmlns:a="http://schemas.openxmlformats.org/drawingml/2006/main">
            <a:off x="1466850" y="530542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Act on exceptions</a:t>
            </a:r>
          </a:p>
        </p:txBody>
      </p:sp>
      <p:sp>
        <p:nvSpPr>
          <p:cNvPr id="19" name="text-gctja3-18">
            <a:extLst xmlns:a="http://schemas.openxmlformats.org/drawingml/2006/main">
              <a:ext uri="{FF2B5EF4-FFF2-40B4-BE49-F238E27FC236}">
                <a16:creationId xmlns:a16="http://schemas.microsoft.com/office/drawing/2014/main" id="{C19D7E53-1A50-4443-AAA2-BAEEA10FA969}"/>
              </a:ext>
            </a:extLst>
          </p:cNvPr>
          <p:cNvSpPr>
            <a:spLocks xmlns:a="http://schemas.openxmlformats.org/drawingml/2006/main" noGrp="1"/>
          </p:cNvSpPr>
          <p:nvPr/>
        </p:nvSpPr>
        <p:spPr>
          <a:xfrm xmlns:a="http://schemas.openxmlformats.org/drawingml/2006/main">
            <a:off x="1466850" y="5695950"/>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A linked risk item shows the responsible owner and the next action.</a:t>
            </a:r>
          </a:p>
        </p:txBody>
      </p:sp>
    </p:spTree>
    <p:extLst>
      <p:ext uri="{BB962C8B-B14F-4D97-AF65-F5344CB8AC3E}">
        <p14:creationId xmlns:p14="http://schemas.microsoft.com/office/powerpoint/2010/main" val="1690791669"/>
      </p:ext>
    </p:extLst>
  </p:cSld>
</p:sld>
</file>

<file path=ppt/slides/slide5.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h8cqev-0">
            <a:extLst xmlns:a="http://schemas.openxmlformats.org/drawingml/2006/main">
              <a:ext uri="{FF2B5EF4-FFF2-40B4-BE49-F238E27FC236}">
                <a16:creationId xmlns:a16="http://schemas.microsoft.com/office/drawing/2014/main" id="{9C5968EF-F6CF-4292-99BF-26730EAC020C}"/>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Promise dates set stock priority</a:t>
            </a:r>
          </a:p>
        </p:txBody>
      </p:sp>
      <p:sp>
        <p:nvSpPr>
          <p:cNvPr id="2" name="text-h8cqev-1">
            <a:extLst xmlns:a="http://schemas.openxmlformats.org/drawingml/2006/main">
              <a:ext uri="{FF2B5EF4-FFF2-40B4-BE49-F238E27FC236}">
                <a16:creationId xmlns:a16="http://schemas.microsoft.com/office/drawing/2014/main" id="{6E20FA61-1D58-4127-B558-19678300AE74}"/>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Three confirmed orders compete for 500 available finished units.</a:t>
            </a:r>
          </a:p>
        </p:txBody>
      </p:sp>
      <p:sp>
        <p:nvSpPr>
          <p:cNvPr id="3" name="text-h8cqev-2">
            <a:extLst xmlns:a="http://schemas.openxmlformats.org/drawingml/2006/main">
              <a:ext uri="{FF2B5EF4-FFF2-40B4-BE49-F238E27FC236}">
                <a16:creationId xmlns:a16="http://schemas.microsoft.com/office/drawing/2014/main" id="{787DE04E-CC94-4EE7-B43E-7F7CE89BB91B}"/>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h8cqev-3">
            <a:extLst xmlns:a="http://schemas.openxmlformats.org/drawingml/2006/main">
              <a:ext uri="{FF2B5EF4-FFF2-40B4-BE49-F238E27FC236}">
                <a16:creationId xmlns:a16="http://schemas.microsoft.com/office/drawing/2014/main" id="{30FAA859-6EF2-42F6-A794-40083458A58F}"/>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05 / 17</a:t>
            </a:r>
          </a:p>
        </p:txBody>
      </p:sp>
      <p:graphicFrame>
        <p:nvGraphicFramePr>
          <p:cNvPr id="5" name="">
            <a:extLst xmlns:a="http://schemas.openxmlformats.org/drawingml/2006/main">
              <a:ext uri="{FF2B5EF4-FFF2-40B4-BE49-F238E27FC236}">
                <a16:creationId xmlns:a16="http://schemas.microsoft.com/office/drawing/2014/main" id="{0296A10A-240F-446B-87F4-969464C0B83B}"/>
              </a:ext>
            </a:extLst>
          </p:cNvPr>
          <p:cNvGraphicFramePr/>
          <p:nvPr/>
        </p:nvGraphicFramePr>
        <p:xfrm>
          <a:off xmlns:a="http://schemas.openxmlformats.org/drawingml/2006/main" x="609600" y="2000250"/>
          <a:ext xmlns:a="http://schemas.openxmlformats.org/drawingml/2006/main" cx="10972800" cy="3190875"/>
        </p:xfrm>
        <a:graphic xmlns:a="http://schemas.openxmlformats.org/drawingml/2006/main">
          <a:graphicData uri="http://schemas.openxmlformats.org/drawingml/2006/table">
            <a:tbl>
              <a:tblPr firstRow="1" bandRow="0"/>
              <a:tblGrid>
                <a:gridCol w="1000125"/>
                <a:gridCol w="3333750"/>
                <a:gridCol w="1428750"/>
                <a:gridCol w="2857500"/>
                <a:gridCol w="2352675"/>
              </a:tblGrid>
              <a:tr h="638175">
                <a:tc>
                  <a:txBody>
                    <a:bodyPr lIns="95250" tIns="95250" rIns="95250" bIns="95250"/>
                    <a:lstStyle/>
                    <a:p>
                      <a:r>
                        <a:rPr sz="1650" b="1">
                          <a:solidFill>
                            <a:srgbClr val="FFFFFF"/>
                          </a:solidFill>
                          <a:latin typeface="Arial"/>
                          <a:ea typeface="Arial"/>
                          <a:cs typeface="Arial"/>
                        </a:rPr>
                        <a:t>Order</a:t>
                      </a:r>
                    </a:p>
                  </a:txBody>
                  <a:tcPr marL="91440" marR="91440" marT="45720" marB="45720" anchor="ctr">
                    <a:lnL w="9525">
                      <a:solidFill>
                        <a:srgbClr val="D6E1DE"/>
                      </a:solidFill>
                      <a:prstDash val="solid"/>
                    </a:lnL>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650" b="1">
                          <a:solidFill>
                            <a:srgbClr val="FFFFFF"/>
                          </a:solidFill>
                          <a:latin typeface="Arial"/>
                          <a:ea typeface="Arial"/>
                          <a:cs typeface="Arial"/>
                        </a:rPr>
                        <a:t>Shipment policy</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650" b="1">
                          <a:solidFill>
                            <a:srgbClr val="FFFFFF"/>
                          </a:solidFill>
                          <a:latin typeface="Arial"/>
                          <a:ea typeface="Arial"/>
                          <a:cs typeface="Arial"/>
                        </a:rPr>
                        <a:t>Ordered</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650" b="1">
                          <a:solidFill>
                            <a:srgbClr val="FFFFFF"/>
                          </a:solidFill>
                          <a:latin typeface="Arial"/>
                          <a:ea typeface="Arial"/>
                          <a:cs typeface="Arial"/>
                        </a:rPr>
                        <a:t>Dispatch date</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650" b="1">
                          <a:solidFill>
                            <a:srgbClr val="FFFFFF"/>
                          </a:solidFill>
                          <a:latin typeface="Arial"/>
                          <a:ea typeface="Arial"/>
                          <a:cs typeface="Arial"/>
                        </a:rPr>
                        <a:t>Allocated</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r>
              <a:tr h="638175">
                <a:tc>
                  <a:txBody>
                    <a:bodyPr lIns="95250" tIns="95250" rIns="95250" bIns="95250"/>
                    <a:lstStyle/>
                    <a:p>
                      <a:r>
                        <a:rPr sz="1800" b="0">
                          <a:solidFill>
                            <a:srgbClr val="183444"/>
                          </a:solidFill>
                          <a:latin typeface="Arial"/>
                          <a:ea typeface="Arial"/>
                          <a:cs typeface="Arial"/>
                        </a:rPr>
                        <a:t>A</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Individual: complete</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200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15 Dec 2026</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200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638175">
                <a:tc>
                  <a:txBody>
                    <a:bodyPr lIns="95250" tIns="95250" rIns="95250" bIns="95250"/>
                    <a:lstStyle/>
                    <a:p>
                      <a:r>
                        <a:rPr sz="1800" b="0">
                          <a:solidFill>
                            <a:srgbClr val="183444"/>
                          </a:solidFill>
                          <a:latin typeface="Arial"/>
                          <a:ea typeface="Arial"/>
                          <a:cs typeface="Arial"/>
                        </a:rPr>
                        <a:t>B</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Corporate: batches</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600</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16 Dec 2026</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300</a:t>
                      </a:r>
                    </a:p>
                  </a:txBody>
                  <a:tcPr marL="91440" marR="91440" marT="45720" marB="45720" anchor="ctr">
                    <a:lnR w="9525">
                      <a:solidFill>
                        <a:srgbClr val="D6E1DE"/>
                      </a:solidFill>
                      <a:prstDash val="solid"/>
                    </a:lnR>
                    <a:lnB w="9525">
                      <a:solidFill>
                        <a:srgbClr val="D6E1DE"/>
                      </a:solidFill>
                      <a:prstDash val="solid"/>
                    </a:lnB>
                    <a:solidFill>
                      <a:srgbClr val="E6F0EB"/>
                    </a:solidFill>
                  </a:tcPr>
                </a:tc>
              </a:tr>
              <a:tr h="638175">
                <a:tc>
                  <a:txBody>
                    <a:bodyPr lIns="95250" tIns="95250" rIns="95250" bIns="95250"/>
                    <a:lstStyle/>
                    <a:p>
                      <a:r>
                        <a:rPr sz="1800" b="0">
                          <a:solidFill>
                            <a:srgbClr val="183444"/>
                          </a:solidFill>
                          <a:latin typeface="Arial"/>
                          <a:ea typeface="Arial"/>
                          <a:cs typeface="Arial"/>
                        </a:rPr>
                        <a:t>C</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Individual: complete</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100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17 Dec 2026</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0</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638175">
                <a:tc>
                  <a:txBody>
                    <a:bodyPr lIns="95250" tIns="95250" rIns="95250" bIns="95250"/>
                    <a:lstStyle/>
                    <a:p>
                      <a:r>
                        <a:rPr sz="1800" b="0">
                          <a:solidFill>
                            <a:srgbClr val="183444"/>
                          </a:solidFill>
                          <a:latin typeface="Arial"/>
                          <a:ea typeface="Arial"/>
                          <a:cs typeface="Arial"/>
                        </a:rPr>
                        <a:t>Total</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900</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500</a:t>
                      </a:r>
                    </a:p>
                  </a:txBody>
                  <a:tcPr marL="91440" marR="91440" marT="45720" marB="45720" anchor="ctr">
                    <a:lnR w="9525">
                      <a:solidFill>
                        <a:srgbClr val="D6E1DE"/>
                      </a:solidFill>
                      <a:prstDash val="solid"/>
                    </a:lnR>
                    <a:lnB w="9525">
                      <a:solidFill>
                        <a:srgbClr val="D6E1DE"/>
                      </a:solidFill>
                      <a:prstDash val="solid"/>
                    </a:lnB>
                    <a:solidFill>
                      <a:srgbClr val="E6F0EB"/>
                    </a:solidFill>
                  </a:tcPr>
                </a:tc>
              </a:tr>
            </a:tbl>
          </a:graphicData>
        </a:graphic>
      </p:graphicFrame>
      <p:sp>
        <p:nvSpPr>
          <p:cNvPr id="6" name="text-h8cqev-4">
            <a:extLst xmlns:a="http://schemas.openxmlformats.org/drawingml/2006/main">
              <a:ext uri="{FF2B5EF4-FFF2-40B4-BE49-F238E27FC236}">
                <a16:creationId xmlns:a16="http://schemas.microsoft.com/office/drawing/2014/main" id="{79527B63-5E9F-44DC-8D7D-A39C9828A568}"/>
              </a:ext>
            </a:extLst>
          </p:cNvPr>
          <p:cNvSpPr>
            <a:spLocks xmlns:a="http://schemas.openxmlformats.org/drawingml/2006/main" noGrp="1"/>
          </p:cNvSpPr>
          <p:nvPr/>
        </p:nvSpPr>
        <p:spPr>
          <a:xfrm xmlns:a="http://schemas.openxmlformats.org/drawingml/2006/main">
            <a:off x="609600" y="55245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83"/>
                </a:solidFill>
                <a:latin typeface="Arial"/>
                <a:ea typeface="Arial"/>
                <a:cs typeface="Arial"/>
              </a:defRPr>
            </a:defPPr>
          </a:lstStyle>
          <a:p xmlns:a="http://schemas.openxmlformats.org/drawingml/2006/main">
            <a:pPr algn="l">
              <a:defRPr sz="2325" b="1">
                <a:solidFill>
                  <a:srgbClr val="087F83"/>
                </a:solidFill>
                <a:latin typeface="Arial"/>
                <a:ea typeface="Arial"/>
                <a:cs typeface="Arial"/>
              </a:defRPr>
            </a:pPr>
            <a:r>
              <a:rPr sz="2325" b="1">
                <a:solidFill>
                  <a:srgbClr val="087F83"/>
                </a:solidFill>
                <a:latin typeface="Arial"/>
                <a:ea typeface="Arial"/>
                <a:cs typeface="Arial"/>
              </a:rPr>
              <a:t>Dispatch dates determine priority for both customer types.</a:t>
            </a:r>
          </a:p>
        </p:txBody>
      </p:sp>
    </p:spTree>
    <p:extLst>
      <p:ext uri="{BB962C8B-B14F-4D97-AF65-F5344CB8AC3E}">
        <p14:creationId xmlns:p14="http://schemas.microsoft.com/office/powerpoint/2010/main" val="498971367"/>
      </p:ext>
    </p:extLst>
  </p:cSld>
</p:sld>
</file>

<file path=ppt/slides/slide6.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6" name="text-bjb3y7-0">
            <a:extLst xmlns:a="http://schemas.openxmlformats.org/drawingml/2006/main">
              <a:ext uri="{FF2B5EF4-FFF2-40B4-BE49-F238E27FC236}">
                <a16:creationId xmlns:a16="http://schemas.microsoft.com/office/drawing/2014/main" id="{CD384581-4674-4626-83F3-F036C4EF7292}"/>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One order keeps its promise history</a:t>
            </a:r>
          </a:p>
        </p:txBody>
      </p:sp>
      <p:sp>
        <p:nvSpPr>
          <p:cNvPr id="2" name="text-bjb3y7-1">
            <a:extLst xmlns:a="http://schemas.openxmlformats.org/drawingml/2006/main">
              <a:ext uri="{FF2B5EF4-FFF2-40B4-BE49-F238E27FC236}">
                <a16:creationId xmlns:a16="http://schemas.microsoft.com/office/drawing/2014/main" id="{10F8A5E5-CAF6-4C54-80E9-1FCDD2D246EB}"/>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Original commitment: 16 December. Recorded accepted commitment: 14 December.</a:t>
            </a:r>
          </a:p>
        </p:txBody>
      </p:sp>
      <p:sp>
        <p:nvSpPr>
          <p:cNvPr id="3" name="text-bjb3y7-2">
            <a:extLst xmlns:a="http://schemas.openxmlformats.org/drawingml/2006/main">
              <a:ext uri="{FF2B5EF4-FFF2-40B4-BE49-F238E27FC236}">
                <a16:creationId xmlns:a16="http://schemas.microsoft.com/office/drawing/2014/main" id="{040684BB-DFD5-4E69-89FD-333B108CD886}"/>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bjb3y7-3">
            <a:extLst xmlns:a="http://schemas.openxmlformats.org/drawingml/2006/main">
              <a:ext uri="{FF2B5EF4-FFF2-40B4-BE49-F238E27FC236}">
                <a16:creationId xmlns:a16="http://schemas.microsoft.com/office/drawing/2014/main" id="{91186958-FA03-41F7-ACFA-FDF86500D34C}"/>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06 / 17</a:t>
            </a:r>
          </a:p>
        </p:txBody>
      </p:sp>
      <p:pic>
        <p:nvPicPr>
          <p:cNvPr id="5" name="">
            <a:extLst xmlns:a="http://schemas.openxmlformats.org/drawingml/2006/main">
              <a:ext uri="{FF2B5EF4-FFF2-40B4-BE49-F238E27FC236}">
                <a16:creationId xmlns:a16="http://schemas.microsoft.com/office/drawing/2014/main" id="{BFF8E96D-9272-4627-B88F-6436B00C93F0}"/>
              </a:ext>
            </a:extLst>
          </p:cNvPr>
          <p:cNvPicPr>
            <a:picLocks xmlns:a="http://schemas.openxmlformats.org/drawingml/2006/main" noChangeAspect="1"/>
          </p:cNvPicPr>
          <p:nvPr/>
        </p:nvPicPr>
        <p:blipFill>
          <a:blip xmlns:r="http://schemas.openxmlformats.org/officeDocument/2006/relationships" xmlns:a="http://schemas.openxmlformats.org/drawingml/2006/main" r:embed="R127de21365dc4f6b"/>
          <a:srcRect xmlns:a="http://schemas.openxmlformats.org/drawingml/2006/main" l="1563" t="34722" r="18750" b="13611"/>
          <a:stretch xmlns:a="http://schemas.openxmlformats.org/drawingml/2006/main"/>
        </p:blipFill>
        <p:spPr>
          <a:xfrm xmlns:a="http://schemas.openxmlformats.org/drawingml/2006/main">
            <a:off x="609600" y="1981200"/>
            <a:ext cx="10972800" cy="4000500"/>
          </a:xfrm>
          <a:prstGeom xmlns:a="http://schemas.openxmlformats.org/drawingml/2006/main" prst="rect">
            <a:avLst/>
          </a:prstGeom>
        </p:spPr>
      </p:pic>
    </p:spTree>
    <p:extLst>
      <p:ext uri="{BB962C8B-B14F-4D97-AF65-F5344CB8AC3E}">
        <p14:creationId xmlns:p14="http://schemas.microsoft.com/office/powerpoint/2010/main" val="2142249228"/>
      </p:ext>
    </p:extLst>
  </p:cSld>
</p:sld>
</file>

<file path=ppt/slides/slide7.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tfbmrj-0">
            <a:extLst xmlns:a="http://schemas.openxmlformats.org/drawingml/2006/main">
              <a:ext uri="{FF2B5EF4-FFF2-40B4-BE49-F238E27FC236}">
                <a16:creationId xmlns:a16="http://schemas.microsoft.com/office/drawing/2014/main" id="{7677CE10-F3C0-44BD-84D6-5319D3F3BB33}"/>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Customer responses control date changes</a:t>
            </a:r>
          </a:p>
        </p:txBody>
      </p:sp>
      <p:sp>
        <p:nvSpPr>
          <p:cNvPr id="2" name="text-tfbmrj-1">
            <a:extLst xmlns:a="http://schemas.openxmlformats.org/drawingml/2006/main">
              <a:ext uri="{FF2B5EF4-FFF2-40B4-BE49-F238E27FC236}">
                <a16:creationId xmlns:a16="http://schemas.microsoft.com/office/drawing/2014/main" id="{D3A45135-832D-4411-AC44-10D53E6F3E91}"/>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Staff record the customer response before a new date controls priority.</a:t>
            </a:r>
          </a:p>
        </p:txBody>
      </p:sp>
      <p:sp>
        <p:nvSpPr>
          <p:cNvPr id="3" name="text-tfbmrj-2">
            <a:extLst xmlns:a="http://schemas.openxmlformats.org/drawingml/2006/main">
              <a:ext uri="{FF2B5EF4-FFF2-40B4-BE49-F238E27FC236}">
                <a16:creationId xmlns:a16="http://schemas.microsoft.com/office/drawing/2014/main" id="{A2F09C7B-5DAE-481F-A06D-5AB6E8B85475}"/>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tfbmrj-3">
            <a:extLst xmlns:a="http://schemas.openxmlformats.org/drawingml/2006/main">
              <a:ext uri="{FF2B5EF4-FFF2-40B4-BE49-F238E27FC236}">
                <a16:creationId xmlns:a16="http://schemas.microsoft.com/office/drawing/2014/main" id="{BD8F37EA-DA97-4512-ABBF-EECF36D31451}"/>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07 / 17</a:t>
            </a:r>
          </a:p>
        </p:txBody>
      </p:sp>
      <p:graphicFrame>
        <p:nvGraphicFramePr>
          <p:cNvPr id="5" name="">
            <a:extLst xmlns:a="http://schemas.openxmlformats.org/drawingml/2006/main">
              <a:ext uri="{FF2B5EF4-FFF2-40B4-BE49-F238E27FC236}">
                <a16:creationId xmlns:a16="http://schemas.microsoft.com/office/drawing/2014/main" id="{B409B69C-9C8A-4784-B913-2DA13E81CF71}"/>
              </a:ext>
            </a:extLst>
          </p:cNvPr>
          <p:cNvGraphicFramePr/>
          <p:nvPr/>
        </p:nvGraphicFramePr>
        <p:xfrm>
          <a:off xmlns:a="http://schemas.openxmlformats.org/drawingml/2006/main" x="609600" y="2009775"/>
          <a:ext xmlns:a="http://schemas.openxmlformats.org/drawingml/2006/main" cx="10972800" cy="2876550"/>
        </p:xfrm>
        <a:graphic xmlns:a="http://schemas.openxmlformats.org/drawingml/2006/main">
          <a:graphicData uri="http://schemas.openxmlformats.org/drawingml/2006/table">
            <a:tbl>
              <a:tblPr firstRow="1" bandRow="0"/>
              <a:tblGrid>
                <a:gridCol w="2857500"/>
                <a:gridCol w="3429000"/>
                <a:gridCol w="4686300"/>
              </a:tblGrid>
              <a:tr h="719138">
                <a:tc>
                  <a:txBody>
                    <a:bodyPr lIns="95250" tIns="95250" rIns="95250" bIns="95250"/>
                    <a:lstStyle/>
                    <a:p>
                      <a:r>
                        <a:rPr sz="1650" b="1">
                          <a:solidFill>
                            <a:srgbClr val="FFFFFF"/>
                          </a:solidFill>
                          <a:latin typeface="Arial"/>
                          <a:ea typeface="Arial"/>
                          <a:cs typeface="Arial"/>
                        </a:rPr>
                        <a:t>Recorded response</a:t>
                      </a:r>
                    </a:p>
                  </a:txBody>
                  <a:tcPr marL="91440" marR="91440" marT="45720" marB="45720" anchor="ctr">
                    <a:lnL w="9525">
                      <a:solidFill>
                        <a:srgbClr val="D6E1DE"/>
                      </a:solidFill>
                      <a:prstDash val="solid"/>
                    </a:lnL>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650" b="1">
                          <a:solidFill>
                            <a:srgbClr val="FFFFFF"/>
                          </a:solidFill>
                          <a:latin typeface="Arial"/>
                          <a:ea typeface="Arial"/>
                          <a:cs typeface="Arial"/>
                        </a:rPr>
                        <a:t>Active commitment</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650" b="1">
                          <a:solidFill>
                            <a:srgbClr val="FFFFFF"/>
                          </a:solidFill>
                          <a:latin typeface="Arial"/>
                          <a:ea typeface="Arial"/>
                          <a:cs typeface="Arial"/>
                        </a:rPr>
                        <a:t>Stock-priority effect</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r>
              <a:tr h="719138">
                <a:tc>
                  <a:txBody>
                    <a:bodyPr lIns="95250" tIns="95250" rIns="95250" bIns="95250"/>
                    <a:lstStyle/>
                    <a:p>
                      <a:r>
                        <a:rPr sz="1800" b="0">
                          <a:solidFill>
                            <a:srgbClr val="183444"/>
                          </a:solidFill>
                          <a:latin typeface="Arial"/>
                          <a:ea typeface="Arial"/>
                          <a:cs typeface="Arial"/>
                        </a:rPr>
                        <a:t>Pending</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Existing accepted date</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No change</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719138">
                <a:tc>
                  <a:txBody>
                    <a:bodyPr lIns="95250" tIns="95250" rIns="95250" bIns="95250"/>
                    <a:lstStyle/>
                    <a:p>
                      <a:r>
                        <a:rPr sz="1800" b="0">
                          <a:solidFill>
                            <a:srgbClr val="183444"/>
                          </a:solidFill>
                          <a:latin typeface="Arial"/>
                          <a:ea typeface="Arial"/>
                          <a:cs typeface="Arial"/>
                        </a:rPr>
                        <a:t>Rejected</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Existing accepted date</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No change</a:t>
                      </a:r>
                    </a:p>
                  </a:txBody>
                  <a:tcPr marL="91440" marR="91440" marT="45720" marB="45720" anchor="ctr">
                    <a:lnR w="9525">
                      <a:solidFill>
                        <a:srgbClr val="D6E1DE"/>
                      </a:solidFill>
                      <a:prstDash val="solid"/>
                    </a:lnR>
                    <a:lnB w="9525">
                      <a:solidFill>
                        <a:srgbClr val="D6E1DE"/>
                      </a:solidFill>
                      <a:prstDash val="solid"/>
                    </a:lnB>
                    <a:solidFill>
                      <a:srgbClr val="E6F0EB"/>
                    </a:solidFill>
                  </a:tcPr>
                </a:tc>
              </a:tr>
              <a:tr h="719138">
                <a:tc>
                  <a:txBody>
                    <a:bodyPr lIns="95250" tIns="95250" rIns="95250" bIns="95250"/>
                    <a:lstStyle/>
                    <a:p>
                      <a:r>
                        <a:rPr sz="1800" b="0">
                          <a:solidFill>
                            <a:srgbClr val="183444"/>
                          </a:solidFill>
                          <a:latin typeface="Arial"/>
                          <a:ea typeface="Arial"/>
                          <a:cs typeface="Arial"/>
                        </a:rPr>
                        <a:t>Accepted and current</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New accepted date</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Recalculate eligible stock</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bl>
          </a:graphicData>
        </a:graphic>
      </p:graphicFrame>
      <p:sp>
        <p:nvSpPr>
          <p:cNvPr id="6" name="text-tfbmrj-4">
            <a:extLst xmlns:a="http://schemas.openxmlformats.org/drawingml/2006/main">
              <a:ext uri="{FF2B5EF4-FFF2-40B4-BE49-F238E27FC236}">
                <a16:creationId xmlns:a16="http://schemas.microsoft.com/office/drawing/2014/main" id="{8AF1CE24-EBD8-4F3B-9702-4D68227A29D2}"/>
              </a:ext>
            </a:extLst>
          </p:cNvPr>
          <p:cNvSpPr>
            <a:spLocks xmlns:a="http://schemas.openxmlformats.org/drawingml/2006/main" noGrp="1"/>
          </p:cNvSpPr>
          <p:nvPr/>
        </p:nvSpPr>
        <p:spPr>
          <a:xfrm xmlns:a="http://schemas.openxmlformats.org/drawingml/2006/main">
            <a:off x="609600" y="52768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3"/>
                </a:solidFill>
                <a:latin typeface="Arial"/>
                <a:ea typeface="Arial"/>
                <a:cs typeface="Arial"/>
              </a:defRPr>
            </a:defPPr>
          </a:lstStyle>
          <a:p xmlns:a="http://schemas.openxmlformats.org/drawingml/2006/main">
            <a:pPr algn="l">
              <a:defRPr sz="2250" b="1">
                <a:solidFill>
                  <a:srgbClr val="087F83"/>
                </a:solidFill>
                <a:latin typeface="Arial"/>
                <a:ea typeface="Arial"/>
                <a:cs typeface="Arial"/>
              </a:defRPr>
            </a:pPr>
            <a:r>
              <a:rPr sz="2250" b="1">
                <a:solidFill>
                  <a:srgbClr val="087F83"/>
                </a:solidFill>
                <a:latin typeface="Arial"/>
                <a:ea typeface="Arial"/>
                <a:cs typeface="Arial"/>
              </a:rPr>
              <a:t>Unanswered or rejected proposals keep the existing commitment and its risk visible.</a:t>
            </a:r>
          </a:p>
        </p:txBody>
      </p:sp>
    </p:spTree>
    <p:extLst>
      <p:ext uri="{BB962C8B-B14F-4D97-AF65-F5344CB8AC3E}">
        <p14:creationId xmlns:p14="http://schemas.microsoft.com/office/powerpoint/2010/main" val="420372213"/>
      </p:ext>
    </p:extLst>
  </p:cSld>
</p:sld>
</file>

<file path=ppt/slides/slide8.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qix1a9-0">
            <a:extLst xmlns:a="http://schemas.openxmlformats.org/drawingml/2006/main">
              <a:ext uri="{FF2B5EF4-FFF2-40B4-BE49-F238E27FC236}">
                <a16:creationId xmlns:a16="http://schemas.microsoft.com/office/drawing/2014/main" id="{C549CAF0-A3EC-46B4-9B1F-AE050A6913D8}"/>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An earlier accepted date can change allocation</a:t>
            </a:r>
          </a:p>
        </p:txBody>
      </p:sp>
      <p:sp>
        <p:nvSpPr>
          <p:cNvPr id="2" name="text-qix1a9-1">
            <a:extLst xmlns:a="http://schemas.openxmlformats.org/drawingml/2006/main">
              <a:ext uri="{FF2B5EF4-FFF2-40B4-BE49-F238E27FC236}">
                <a16:creationId xmlns:a16="http://schemas.microsoft.com/office/drawing/2014/main" id="{296CF864-80AC-445A-8EB8-B6AD7051D679}"/>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Browser example: B moves to 14 December, before A. It then receives 500 units.</a:t>
            </a:r>
          </a:p>
        </p:txBody>
      </p:sp>
      <p:sp>
        <p:nvSpPr>
          <p:cNvPr id="3" name="text-qix1a9-2">
            <a:extLst xmlns:a="http://schemas.openxmlformats.org/drawingml/2006/main">
              <a:ext uri="{FF2B5EF4-FFF2-40B4-BE49-F238E27FC236}">
                <a16:creationId xmlns:a16="http://schemas.microsoft.com/office/drawing/2014/main" id="{940D49AD-46DC-4B33-AA6B-096B8BA73771}"/>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qix1a9-3">
            <a:extLst xmlns:a="http://schemas.openxmlformats.org/drawingml/2006/main">
              <a:ext uri="{FF2B5EF4-FFF2-40B4-BE49-F238E27FC236}">
                <a16:creationId xmlns:a16="http://schemas.microsoft.com/office/drawing/2014/main" id="{98263866-5ED4-4FE1-8E66-585B22C21D30}"/>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08 / 17</a:t>
            </a:r>
          </a:p>
        </p:txBody>
      </p:sp>
      <p:pic>
        <p:nvPicPr>
          <p:cNvPr id="5" name="">
            <a:extLst xmlns:a="http://schemas.openxmlformats.org/drawingml/2006/main">
              <a:ext uri="{FF2B5EF4-FFF2-40B4-BE49-F238E27FC236}">
                <a16:creationId xmlns:a16="http://schemas.microsoft.com/office/drawing/2014/main" id="{7BE34F3D-5A2B-4F04-9540-DABD52346270}"/>
              </a:ext>
            </a:extLst>
          </p:cNvPr>
          <p:cNvPicPr>
            <a:picLocks xmlns:a="http://schemas.openxmlformats.org/drawingml/2006/main" noChangeAspect="1"/>
          </p:cNvPicPr>
          <p:nvPr/>
        </p:nvPicPr>
        <p:blipFill>
          <a:blip xmlns:r="http://schemas.openxmlformats.org/officeDocument/2006/relationships" xmlns:a="http://schemas.openxmlformats.org/drawingml/2006/main" r:embed="R8d024383193d4620"/>
          <a:srcRect xmlns:a="http://schemas.openxmlformats.org/drawingml/2006/main" l="1953" t="22917" r="2734" b="20417"/>
          <a:stretch xmlns:a="http://schemas.openxmlformats.org/drawingml/2006/main"/>
        </p:blipFill>
        <p:spPr>
          <a:xfrm xmlns:a="http://schemas.openxmlformats.org/drawingml/2006/main">
            <a:off x="609600" y="1981200"/>
            <a:ext cx="10972800" cy="3667125"/>
          </a:xfrm>
          <a:prstGeom xmlns:a="http://schemas.openxmlformats.org/drawingml/2006/main" prst="rect">
            <a:avLst/>
          </a:prstGeom>
        </p:spPr>
      </p:pic>
      <p:sp>
        <p:nvSpPr>
          <p:cNvPr id="6" name="text-qix1a9-4">
            <a:extLst xmlns:a="http://schemas.openxmlformats.org/drawingml/2006/main">
              <a:ext uri="{FF2B5EF4-FFF2-40B4-BE49-F238E27FC236}">
                <a16:creationId xmlns:a16="http://schemas.microsoft.com/office/drawing/2014/main" id="{19AE6224-DEA4-4AB3-817D-924E1E3BF047}"/>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3"/>
                </a:solidFill>
                <a:latin typeface="Arial"/>
                <a:ea typeface="Arial"/>
                <a:cs typeface="Arial"/>
              </a:defRPr>
            </a:defPPr>
          </a:lstStyle>
          <a:p xmlns:a="http://schemas.openxmlformats.org/drawingml/2006/main">
            <a:pPr algn="l">
              <a:defRPr sz="2025" b="1">
                <a:solidFill>
                  <a:srgbClr val="087F83"/>
                </a:solidFill>
                <a:latin typeface="Arial"/>
                <a:ea typeface="Arial"/>
                <a:cs typeface="Arial"/>
              </a:defRPr>
            </a:pPr>
            <a:r>
              <a:rPr sz="2025" b="1">
                <a:solidFill>
                  <a:srgbClr val="087F83"/>
                </a:solidFill>
                <a:latin typeface="Arial"/>
                <a:ea typeface="Arial"/>
                <a:cs typeface="Arial"/>
              </a:rPr>
              <a:t>Prepared stock and outside reservations remain protected.</a:t>
            </a:r>
          </a:p>
        </p:txBody>
      </p:sp>
    </p:spTree>
    <p:extLst>
      <p:ext uri="{BB962C8B-B14F-4D97-AF65-F5344CB8AC3E}">
        <p14:creationId xmlns:p14="http://schemas.microsoft.com/office/powerpoint/2010/main" val="1469715041"/>
      </p:ext>
    </p:extLst>
  </p:cSld>
</p:sld>
</file>

<file path=ppt/slides/slide9.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rhkhl4-0">
            <a:extLst xmlns:a="http://schemas.openxmlformats.org/drawingml/2006/main">
              <a:ext uri="{FF2B5EF4-FFF2-40B4-BE49-F238E27FC236}">
                <a16:creationId xmlns:a16="http://schemas.microsoft.com/office/drawing/2014/main" id="{5062C0AF-08F8-40B5-9FCA-1A9AD2A6EC5C}"/>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Individual orders require a complete shipment</a:t>
            </a:r>
          </a:p>
        </p:txBody>
      </p:sp>
      <p:sp>
        <p:nvSpPr>
          <p:cNvPr id="2" name="text-rhkhl4-1">
            <a:extLst xmlns:a="http://schemas.openxmlformats.org/drawingml/2006/main">
              <a:ext uri="{FF2B5EF4-FFF2-40B4-BE49-F238E27FC236}">
                <a16:creationId xmlns:a16="http://schemas.microsoft.com/office/drawing/2014/main" id="{13310FDF-A6A2-4DCD-A494-679D973206B8}"/>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Attempt: dispatch 100 units against an individual order for 200.</a:t>
            </a:r>
          </a:p>
        </p:txBody>
      </p:sp>
      <p:sp>
        <p:nvSpPr>
          <p:cNvPr id="3" name="text-rhkhl4-2">
            <a:extLst xmlns:a="http://schemas.openxmlformats.org/drawingml/2006/main">
              <a:ext uri="{FF2B5EF4-FFF2-40B4-BE49-F238E27FC236}">
                <a16:creationId xmlns:a16="http://schemas.microsoft.com/office/drawing/2014/main" id="{E8F8A188-98B4-420F-9F7C-EECDD6E227AB}"/>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rhkhl4-3">
            <a:extLst xmlns:a="http://schemas.openxmlformats.org/drawingml/2006/main">
              <a:ext uri="{FF2B5EF4-FFF2-40B4-BE49-F238E27FC236}">
                <a16:creationId xmlns:a16="http://schemas.microsoft.com/office/drawing/2014/main" id="{4802D522-7624-4F79-91D2-296A056B2C55}"/>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09 / 17</a:t>
            </a:r>
          </a:p>
        </p:txBody>
      </p:sp>
      <p:pic>
        <p:nvPicPr>
          <p:cNvPr id="5" name="">
            <a:extLst xmlns:a="http://schemas.openxmlformats.org/drawingml/2006/main">
              <a:ext uri="{FF2B5EF4-FFF2-40B4-BE49-F238E27FC236}">
                <a16:creationId xmlns:a16="http://schemas.microsoft.com/office/drawing/2014/main" id="{DF219A81-B86F-47D3-8846-D645BDA8C341}"/>
              </a:ext>
            </a:extLst>
          </p:cNvPr>
          <p:cNvPicPr>
            <a:picLocks xmlns:a="http://schemas.openxmlformats.org/drawingml/2006/main" noChangeAspect="1"/>
          </p:cNvPicPr>
          <p:nvPr/>
        </p:nvPicPr>
        <p:blipFill>
          <a:blip xmlns:r="http://schemas.openxmlformats.org/officeDocument/2006/relationships" xmlns:a="http://schemas.openxmlformats.org/drawingml/2006/main" r:embed="Rfac79e21db0b456d"/>
          <a:srcRect xmlns:a="http://schemas.openxmlformats.org/drawingml/2006/main" l="4688" t="35417" r="4688" b="22639"/>
          <a:stretch xmlns:a="http://schemas.openxmlformats.org/drawingml/2006/main"/>
        </p:blipFill>
        <p:spPr>
          <a:xfrm xmlns:a="http://schemas.openxmlformats.org/drawingml/2006/main">
            <a:off x="609600" y="2047875"/>
            <a:ext cx="10972800" cy="2857500"/>
          </a:xfrm>
          <a:prstGeom xmlns:a="http://schemas.openxmlformats.org/drawingml/2006/main" prst="rect">
            <a:avLst/>
          </a:prstGeom>
        </p:spPr>
      </p:pic>
      <p:sp>
        <p:nvSpPr>
          <p:cNvPr id="6" name="text-rhkhl4-4">
            <a:extLst xmlns:a="http://schemas.openxmlformats.org/drawingml/2006/main">
              <a:ext uri="{FF2B5EF4-FFF2-40B4-BE49-F238E27FC236}">
                <a16:creationId xmlns:a16="http://schemas.microsoft.com/office/drawing/2014/main" id="{FB29AD5E-61D4-49D6-A968-987A88C1C256}"/>
              </a:ext>
            </a:extLst>
          </p:cNvPr>
          <p:cNvSpPr>
            <a:spLocks xmlns:a="http://schemas.openxmlformats.org/drawingml/2006/main" noGrp="1"/>
          </p:cNvSpPr>
          <p:nvPr/>
        </p:nvSpPr>
        <p:spPr>
          <a:xfrm xmlns:a="http://schemas.openxmlformats.org/drawingml/2006/main">
            <a:off x="609600" y="533400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3"/>
                </a:solidFill>
                <a:latin typeface="Arial"/>
                <a:ea typeface="Arial"/>
                <a:cs typeface="Arial"/>
              </a:defRPr>
            </a:defPPr>
          </a:lstStyle>
          <a:p xmlns:a="http://schemas.openxmlformats.org/drawingml/2006/main">
            <a:pPr algn="l">
              <a:defRPr sz="2400" b="1">
                <a:solidFill>
                  <a:srgbClr val="087F83"/>
                </a:solidFill>
                <a:latin typeface="Arial"/>
                <a:ea typeface="Arial"/>
                <a:cs typeface="Arial"/>
              </a:defRPr>
            </a:pPr>
            <a:r>
              <a:rPr sz="2400" b="1">
                <a:solidFill>
                  <a:srgbClr val="087F83"/>
                </a:solidFill>
                <a:latin typeface="Arial"/>
                <a:ea typeface="Arial"/>
                <a:cs typeface="Arial"/>
              </a:rPr>
              <a:t>The system refuses the incomplete shipment before physical completion.</a:t>
            </a:r>
          </a:p>
        </p:txBody>
      </p:sp>
    </p:spTree>
    <p:extLst>
      <p:ext uri="{BB962C8B-B14F-4D97-AF65-F5344CB8AC3E}">
        <p14:creationId xmlns:p14="http://schemas.microsoft.com/office/powerpoint/2010/main" val="473332133"/>
      </p:ext>
    </p:extLst>
  </p:cSld>
</p:sld>
</file>

<file path=ppt/slides/slide10.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1" name="text-gjrtvy-0">
            <a:extLst xmlns:a="http://schemas.openxmlformats.org/drawingml/2006/main">
              <a:ext uri="{FF2B5EF4-FFF2-40B4-BE49-F238E27FC236}">
                <a16:creationId xmlns:a16="http://schemas.microsoft.com/office/drawing/2014/main" id="{D21C1788-2C52-4C75-BA0A-B5B570D71F61}"/>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Corporate shipments retain the open balance</a:t>
            </a:r>
          </a:p>
        </p:txBody>
      </p:sp>
      <p:sp>
        <p:nvSpPr>
          <p:cNvPr id="2" name="text-gjrtvy-1">
            <a:extLst xmlns:a="http://schemas.openxmlformats.org/drawingml/2006/main">
              <a:ext uri="{FF2B5EF4-FFF2-40B4-BE49-F238E27FC236}">
                <a16:creationId xmlns:a16="http://schemas.microsoft.com/office/drawing/2014/main" id="{9E78A075-3EF3-46B7-BB2E-DD0FDC18548C}"/>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Browser example: 600 ordered, 300 dispatched, 300 left to fulfil.</a:t>
            </a:r>
          </a:p>
        </p:txBody>
      </p:sp>
      <p:sp>
        <p:nvSpPr>
          <p:cNvPr id="3" name="text-gjrtvy-2">
            <a:extLst xmlns:a="http://schemas.openxmlformats.org/drawingml/2006/main">
              <a:ext uri="{FF2B5EF4-FFF2-40B4-BE49-F238E27FC236}">
                <a16:creationId xmlns:a16="http://schemas.microsoft.com/office/drawing/2014/main" id="{D6004703-5987-4ED9-B555-01A136C950D7}"/>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gjrtvy-3">
            <a:extLst xmlns:a="http://schemas.openxmlformats.org/drawingml/2006/main">
              <a:ext uri="{FF2B5EF4-FFF2-40B4-BE49-F238E27FC236}">
                <a16:creationId xmlns:a16="http://schemas.microsoft.com/office/drawing/2014/main" id="{687568A3-A508-4697-974A-B83D689C1E6B}"/>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10 / 17</a:t>
            </a:r>
          </a:p>
        </p:txBody>
      </p:sp>
      <p:sp>
        <p:nvSpPr>
          <p:cNvPr id="5" name="text-gjrtvy-4">
            <a:extLst xmlns:a="http://schemas.openxmlformats.org/drawingml/2006/main">
              <a:ext uri="{FF2B5EF4-FFF2-40B4-BE49-F238E27FC236}">
                <a16:creationId xmlns:a16="http://schemas.microsoft.com/office/drawing/2014/main" id="{C86663C6-6B33-43B7-A944-BD4FBD63F3A2}"/>
              </a:ext>
            </a:extLst>
          </p:cNvPr>
          <p:cNvSpPr>
            <a:spLocks xmlns:a="http://schemas.openxmlformats.org/drawingml/2006/main" noGrp="1"/>
          </p:cNvSpPr>
          <p:nvPr/>
        </p:nvSpPr>
        <p:spPr>
          <a:xfrm xmlns:a="http://schemas.openxmlformats.org/drawingml/2006/main">
            <a:off x="609600" y="19240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3"/>
                </a:solidFill>
                <a:latin typeface="Arial"/>
                <a:ea typeface="Arial"/>
                <a:cs typeface="Arial"/>
              </a:defRPr>
            </a:defPPr>
          </a:lstStyle>
          <a:p xmlns:a="http://schemas.openxmlformats.org/drawingml/2006/main">
            <a:pPr algn="l">
              <a:defRPr sz="2400" b="1">
                <a:solidFill>
                  <a:srgbClr val="087F83"/>
                </a:solidFill>
                <a:latin typeface="Arial"/>
                <a:ea typeface="Arial"/>
                <a:cs typeface="Arial"/>
              </a:defRPr>
            </a:pPr>
            <a:r>
              <a:rPr sz="2400" b="1">
                <a:solidFill>
                  <a:srgbClr val="087F83"/>
                </a:solidFill>
                <a:latin typeface="Arial"/>
                <a:ea typeface="Arial"/>
                <a:cs typeface="Arial"/>
              </a:rPr>
              <a:t>300 dispatched</a:t>
            </a:r>
          </a:p>
        </p:txBody>
      </p:sp>
      <p:sp>
        <p:nvSpPr>
          <p:cNvPr id="6" name="text-gjrtvy-5">
            <a:extLst xmlns:a="http://schemas.openxmlformats.org/drawingml/2006/main">
              <a:ext uri="{FF2B5EF4-FFF2-40B4-BE49-F238E27FC236}">
                <a16:creationId xmlns:a16="http://schemas.microsoft.com/office/drawing/2014/main" id="{C2E06991-5058-484F-AB55-6C455ACFC271}"/>
              </a:ext>
            </a:extLst>
          </p:cNvPr>
          <p:cNvSpPr>
            <a:spLocks xmlns:a="http://schemas.openxmlformats.org/drawingml/2006/main" noGrp="1"/>
          </p:cNvSpPr>
          <p:nvPr/>
        </p:nvSpPr>
        <p:spPr>
          <a:xfrm xmlns:a="http://schemas.openxmlformats.org/drawingml/2006/main">
            <a:off x="6334125" y="1924050"/>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3"/>
                </a:solidFill>
                <a:latin typeface="Arial"/>
                <a:ea typeface="Arial"/>
                <a:cs typeface="Arial"/>
              </a:defRPr>
            </a:defPPr>
          </a:lstStyle>
          <a:p xmlns:a="http://schemas.openxmlformats.org/drawingml/2006/main">
            <a:pPr algn="l">
              <a:defRPr sz="2400" b="1">
                <a:solidFill>
                  <a:srgbClr val="087F83"/>
                </a:solidFill>
                <a:latin typeface="Arial"/>
                <a:ea typeface="Arial"/>
                <a:cs typeface="Arial"/>
              </a:defRPr>
            </a:pPr>
            <a:r>
              <a:rPr sz="2400" b="1">
                <a:solidFill>
                  <a:srgbClr val="087F83"/>
                </a:solidFill>
                <a:latin typeface="Arial"/>
                <a:ea typeface="Arial"/>
                <a:cs typeface="Arial"/>
              </a:rPr>
              <a:t>300 still outstanding</a:t>
            </a:r>
          </a:p>
        </p:txBody>
      </p:sp>
      <p:pic>
        <p:nvPicPr>
          <p:cNvPr id="7" name="">
            <a:extLst xmlns:a="http://schemas.openxmlformats.org/drawingml/2006/main">
              <a:ext uri="{FF2B5EF4-FFF2-40B4-BE49-F238E27FC236}">
                <a16:creationId xmlns:a16="http://schemas.microsoft.com/office/drawing/2014/main" id="{5B9E4C60-1A0B-49CE-BBB9-B724E562B25C}"/>
              </a:ext>
            </a:extLst>
          </p:cNvPr>
          <p:cNvPicPr>
            <a:picLocks xmlns:a="http://schemas.openxmlformats.org/drawingml/2006/main" noChangeAspect="1"/>
          </p:cNvPicPr>
          <p:nvPr/>
        </p:nvPicPr>
        <p:blipFill>
          <a:blip xmlns:r="http://schemas.openxmlformats.org/officeDocument/2006/relationships" xmlns:a="http://schemas.openxmlformats.org/drawingml/2006/main" r:embed="R87ca50b144eb4de0"/>
          <a:srcRect xmlns:a="http://schemas.openxmlformats.org/drawingml/2006/main" l="50781" t="15278" r="1563" b="33333"/>
          <a:stretch xmlns:a="http://schemas.openxmlformats.org/drawingml/2006/main"/>
        </p:blipFill>
        <p:spPr>
          <a:xfrm xmlns:a="http://schemas.openxmlformats.org/drawingml/2006/main">
            <a:off x="609600" y="2476500"/>
            <a:ext cx="5238750" cy="27146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EBCE760-ED65-4250-A9FC-5199DAA413C6}"/>
              </a:ext>
            </a:extLst>
          </p:cNvPr>
          <p:cNvPicPr>
            <a:picLocks xmlns:a="http://schemas.openxmlformats.org/drawingml/2006/main" noChangeAspect="1"/>
          </p:cNvPicPr>
          <p:nvPr/>
        </p:nvPicPr>
        <p:blipFill>
          <a:blip xmlns:r="http://schemas.openxmlformats.org/officeDocument/2006/relationships" xmlns:a="http://schemas.openxmlformats.org/drawingml/2006/main" r:embed="R0845771785804adc"/>
          <a:srcRect xmlns:a="http://schemas.openxmlformats.org/drawingml/2006/main" l="50781" t="15278" r="1563" b="26389"/>
          <a:stretch xmlns:a="http://schemas.openxmlformats.org/drawingml/2006/main"/>
        </p:blipFill>
        <p:spPr>
          <a:xfrm xmlns:a="http://schemas.openxmlformats.org/drawingml/2006/main">
            <a:off x="6334125" y="2476500"/>
            <a:ext cx="5238750" cy="2714625"/>
          </a:xfrm>
          <a:prstGeom xmlns:a="http://schemas.openxmlformats.org/drawingml/2006/main" prst="rect">
            <a:avLst/>
          </a:prstGeom>
        </p:spPr>
      </p:pic>
      <p:sp>
        <p:nvSpPr>
          <p:cNvPr id="9" name="text-gjrtvy-6">
            <a:extLst xmlns:a="http://schemas.openxmlformats.org/drawingml/2006/main">
              <a:ext uri="{FF2B5EF4-FFF2-40B4-BE49-F238E27FC236}">
                <a16:creationId xmlns:a16="http://schemas.microsoft.com/office/drawing/2014/main" id="{72EC2AC2-345F-4AEE-AFDB-73464227BC03}"/>
              </a:ext>
            </a:extLst>
          </p:cNvPr>
          <p:cNvSpPr>
            <a:spLocks xmlns:a="http://schemas.openxmlformats.org/drawingml/2006/main" noGrp="1"/>
          </p:cNvSpPr>
          <p:nvPr/>
        </p:nvSpPr>
        <p:spPr>
          <a:xfrm xmlns:a="http://schemas.openxmlformats.org/drawingml/2006/main">
            <a:off x="6334125" y="5238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200 reserved for the next batch</a:t>
            </a:r>
          </a:p>
        </p:txBody>
      </p:sp>
      <p:sp>
        <p:nvSpPr>
          <p:cNvPr id="10" name="text-gjrtvy-7">
            <a:extLst xmlns:a="http://schemas.openxmlformats.org/drawingml/2006/main">
              <a:ext uri="{FF2B5EF4-FFF2-40B4-BE49-F238E27FC236}">
                <a16:creationId xmlns:a16="http://schemas.microsoft.com/office/drawing/2014/main" id="{DB8D65B9-741D-40D7-89A1-AD81D6DA203D}"/>
              </a:ext>
            </a:extLst>
          </p:cNvPr>
          <p:cNvSpPr>
            <a:spLocks xmlns:a="http://schemas.openxmlformats.org/drawingml/2006/main" noGrp="1"/>
          </p:cNvSpPr>
          <p:nvPr/>
        </p:nvSpPr>
        <p:spPr>
          <a:xfrm xmlns:a="http://schemas.openxmlformats.org/drawingml/2006/main">
            <a:off x="609600" y="557212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3A"/>
                </a:solidFill>
                <a:latin typeface="Arial"/>
                <a:ea typeface="Arial"/>
                <a:cs typeface="Arial"/>
              </a:defRPr>
            </a:defPPr>
          </a:lstStyle>
          <a:p xmlns:a="http://schemas.openxmlformats.org/drawingml/2006/main">
            <a:pPr algn="l">
              <a:defRPr sz="2175" b="1">
                <a:solidFill>
                  <a:srgbClr val="102A3A"/>
                </a:solidFill>
                <a:latin typeface="Arial"/>
                <a:ea typeface="Arial"/>
                <a:cs typeface="Arial"/>
              </a:defRPr>
            </a:pPr>
            <a:r>
              <a:rPr sz="2175" b="1">
                <a:solidFill>
                  <a:srgbClr val="102A3A"/>
                </a:solidFill>
                <a:latin typeface="Arial"/>
                <a:ea typeface="Arial"/>
                <a:cs typeface="Arial"/>
              </a:rPr>
              <a:t>A backorder keeps the remaining demand visible for the next shipment.</a:t>
            </a:r>
          </a:p>
        </p:txBody>
      </p:sp>
    </p:spTree>
    <p:extLst>
      <p:ext uri="{BB962C8B-B14F-4D97-AF65-F5344CB8AC3E}">
        <p14:creationId xmlns:p14="http://schemas.microsoft.com/office/powerpoint/2010/main" val="1226377220"/>
      </p:ext>
    </p:extLst>
  </p:cSld>
</p:sld>
</file>

<file path=ppt/slides/slide11.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5" name="text-j2djqu-0">
            <a:extLst xmlns:a="http://schemas.openxmlformats.org/drawingml/2006/main">
              <a:ext uri="{FF2B5EF4-FFF2-40B4-BE49-F238E27FC236}">
                <a16:creationId xmlns:a16="http://schemas.microsoft.com/office/drawing/2014/main" id="{906333AA-AD1A-4704-95AC-3FDC767FD2A6}"/>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HALY manufactures the missing 400 units</a:t>
            </a:r>
          </a:p>
        </p:txBody>
      </p:sp>
      <p:sp>
        <p:nvSpPr>
          <p:cNvPr id="2" name="text-j2djqu-1">
            <a:extLst xmlns:a="http://schemas.openxmlformats.org/drawingml/2006/main">
              <a:ext uri="{FF2B5EF4-FFF2-40B4-BE49-F238E27FC236}">
                <a16:creationId xmlns:a16="http://schemas.microsoft.com/office/drawing/2014/main" id="{F73AC16D-22A2-44A5-AD8B-5C86312F228B}"/>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The end-to-end scenario uses two raw-material suppliers.</a:t>
            </a:r>
          </a:p>
        </p:txBody>
      </p:sp>
      <p:sp>
        <p:nvSpPr>
          <p:cNvPr id="3" name="text-j2djqu-2">
            <a:extLst xmlns:a="http://schemas.openxmlformats.org/drawingml/2006/main">
              <a:ext uri="{FF2B5EF4-FFF2-40B4-BE49-F238E27FC236}">
                <a16:creationId xmlns:a16="http://schemas.microsoft.com/office/drawing/2014/main" id="{2EFBDFD3-F1A4-4177-A41B-F34414257DEA}"/>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j2djqu-3">
            <a:extLst xmlns:a="http://schemas.openxmlformats.org/drawingml/2006/main">
              <a:ext uri="{FF2B5EF4-FFF2-40B4-BE49-F238E27FC236}">
                <a16:creationId xmlns:a16="http://schemas.microsoft.com/office/drawing/2014/main" id="{8C7EDFF5-EEB4-481B-A58A-A2820CAD911A}"/>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11 / 17</a:t>
            </a:r>
          </a:p>
        </p:txBody>
      </p:sp>
      <p:sp>
        <p:nvSpPr>
          <p:cNvPr id="5" name="text-j2djqu-4">
            <a:extLst xmlns:a="http://schemas.openxmlformats.org/drawingml/2006/main">
              <a:ext uri="{FF2B5EF4-FFF2-40B4-BE49-F238E27FC236}">
                <a16:creationId xmlns:a16="http://schemas.microsoft.com/office/drawing/2014/main" id="{F02846D2-8B74-4F42-8208-AC1B0DD52A1C}"/>
              </a:ext>
            </a:extLst>
          </p:cNvPr>
          <p:cNvSpPr>
            <a:spLocks xmlns:a="http://schemas.openxmlformats.org/drawingml/2006/main" noGrp="1"/>
          </p:cNvSpPr>
          <p:nvPr/>
        </p:nvSpPr>
        <p:spPr>
          <a:xfrm xmlns:a="http://schemas.openxmlformats.org/drawingml/2006/main">
            <a:off x="609600" y="19716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87F83"/>
                </a:solidFill>
                <a:latin typeface="Arial"/>
                <a:ea typeface="Arial"/>
                <a:cs typeface="Arial"/>
              </a:defRPr>
            </a:defPPr>
          </a:lstStyle>
          <a:p xmlns:a="http://schemas.openxmlformats.org/drawingml/2006/main">
            <a:pPr algn="l">
              <a:defRPr sz="3150" b="1">
                <a:solidFill>
                  <a:srgbClr val="087F83"/>
                </a:solidFill>
                <a:latin typeface="Arial"/>
                <a:ea typeface="Arial"/>
                <a:cs typeface="Arial"/>
              </a:defRPr>
            </a:pPr>
            <a:r>
              <a:rPr sz="3150" b="1">
                <a:solidFill>
                  <a:srgbClr val="087F83"/>
                </a:solidFill>
                <a:latin typeface="Arial"/>
                <a:ea typeface="Arial"/>
                <a:cs typeface="Arial"/>
              </a:rPr>
              <a:t>01</a:t>
            </a:r>
          </a:p>
        </p:txBody>
      </p:sp>
      <p:sp>
        <p:nvSpPr>
          <p:cNvPr id="6" name="text-j2djqu-5">
            <a:extLst xmlns:a="http://schemas.openxmlformats.org/drawingml/2006/main">
              <a:ext uri="{FF2B5EF4-FFF2-40B4-BE49-F238E27FC236}">
                <a16:creationId xmlns:a16="http://schemas.microsoft.com/office/drawing/2014/main" id="{8696290F-82D7-4797-9A70-AA9CADF23111}"/>
              </a:ext>
            </a:extLst>
          </p:cNvPr>
          <p:cNvSpPr>
            <a:spLocks xmlns:a="http://schemas.openxmlformats.org/drawingml/2006/main" noGrp="1"/>
          </p:cNvSpPr>
          <p:nvPr/>
        </p:nvSpPr>
        <p:spPr>
          <a:xfrm xmlns:a="http://schemas.openxmlformats.org/drawingml/2006/main">
            <a:off x="1466850" y="198120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Two raw-material suppliers</a:t>
            </a:r>
          </a:p>
        </p:txBody>
      </p:sp>
      <p:sp>
        <p:nvSpPr>
          <p:cNvPr id="7" name="text-j2djqu-6">
            <a:extLst xmlns:a="http://schemas.openxmlformats.org/drawingml/2006/main">
              <a:ext uri="{FF2B5EF4-FFF2-40B4-BE49-F238E27FC236}">
                <a16:creationId xmlns:a16="http://schemas.microsoft.com/office/drawing/2014/main" id="{CCECBBA2-B935-44CD-A4DF-337D157686F7}"/>
              </a:ext>
            </a:extLst>
          </p:cNvPr>
          <p:cNvSpPr>
            <a:spLocks xmlns:a="http://schemas.openxmlformats.org/drawingml/2006/main" noGrp="1"/>
          </p:cNvSpPr>
          <p:nvPr/>
        </p:nvSpPr>
        <p:spPr>
          <a:xfrm xmlns:a="http://schemas.openxmlformats.org/drawingml/2006/main">
            <a:off x="1466850" y="2371725"/>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The scenario creates two 400-unit input purchase orders.</a:t>
            </a:r>
          </a:p>
        </p:txBody>
      </p:sp>
      <p:sp>
        <p:nvSpPr>
          <p:cNvPr id="8" name="text-j2djqu-7">
            <a:extLst xmlns:a="http://schemas.openxmlformats.org/drawingml/2006/main">
              <a:ext uri="{FF2B5EF4-FFF2-40B4-BE49-F238E27FC236}">
                <a16:creationId xmlns:a16="http://schemas.microsoft.com/office/drawing/2014/main" id="{CA53A957-7157-4C93-8854-497476F60502}"/>
              </a:ext>
            </a:extLst>
          </p:cNvPr>
          <p:cNvSpPr>
            <a:spLocks xmlns:a="http://schemas.openxmlformats.org/drawingml/2006/main" noGrp="1"/>
          </p:cNvSpPr>
          <p:nvPr/>
        </p:nvSpPr>
        <p:spPr>
          <a:xfrm xmlns:a="http://schemas.openxmlformats.org/drawingml/2006/main">
            <a:off x="609600" y="29622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87F83"/>
                </a:solidFill>
                <a:latin typeface="Arial"/>
                <a:ea typeface="Arial"/>
                <a:cs typeface="Arial"/>
              </a:defRPr>
            </a:defPPr>
          </a:lstStyle>
          <a:p xmlns:a="http://schemas.openxmlformats.org/drawingml/2006/main">
            <a:pPr algn="l">
              <a:defRPr sz="3150" b="1">
                <a:solidFill>
                  <a:srgbClr val="087F83"/>
                </a:solidFill>
                <a:latin typeface="Arial"/>
                <a:ea typeface="Arial"/>
                <a:cs typeface="Arial"/>
              </a:defRPr>
            </a:pPr>
            <a:r>
              <a:rPr sz="3150" b="1">
                <a:solidFill>
                  <a:srgbClr val="087F83"/>
                </a:solidFill>
                <a:latin typeface="Arial"/>
                <a:ea typeface="Arial"/>
                <a:cs typeface="Arial"/>
              </a:rPr>
              <a:t>02</a:t>
            </a:r>
          </a:p>
        </p:txBody>
      </p:sp>
      <p:sp>
        <p:nvSpPr>
          <p:cNvPr id="9" name="text-j2djqu-8">
            <a:extLst xmlns:a="http://schemas.openxmlformats.org/drawingml/2006/main">
              <a:ext uri="{FF2B5EF4-FFF2-40B4-BE49-F238E27FC236}">
                <a16:creationId xmlns:a16="http://schemas.microsoft.com/office/drawing/2014/main" id="{A33A268D-395D-42EE-A3A4-447A019FC2DD}"/>
              </a:ext>
            </a:extLst>
          </p:cNvPr>
          <p:cNvSpPr>
            <a:spLocks xmlns:a="http://schemas.openxmlformats.org/drawingml/2006/main" noGrp="1"/>
          </p:cNvSpPr>
          <p:nvPr/>
        </p:nvSpPr>
        <p:spPr>
          <a:xfrm xmlns:a="http://schemas.openxmlformats.org/drawingml/2006/main">
            <a:off x="1466850" y="297180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Record the incoming materials</a:t>
            </a:r>
          </a:p>
        </p:txBody>
      </p:sp>
      <p:sp>
        <p:nvSpPr>
          <p:cNvPr id="10" name="text-j2djqu-9">
            <a:extLst xmlns:a="http://schemas.openxmlformats.org/drawingml/2006/main">
              <a:ext uri="{FF2B5EF4-FFF2-40B4-BE49-F238E27FC236}">
                <a16:creationId xmlns:a16="http://schemas.microsoft.com/office/drawing/2014/main" id="{A740F92E-E552-49C8-94FE-412B50E6D763}"/>
              </a:ext>
            </a:extLst>
          </p:cNvPr>
          <p:cNvSpPr>
            <a:spLocks xmlns:a="http://schemas.openxmlformats.org/drawingml/2006/main" noGrp="1"/>
          </p:cNvSpPr>
          <p:nvPr/>
        </p:nvSpPr>
        <p:spPr>
          <a:xfrm xmlns:a="http://schemas.openxmlformats.org/drawingml/2006/main">
            <a:off x="1466850" y="3362325"/>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Standard receipts make the inputs available for production.</a:t>
            </a:r>
          </a:p>
        </p:txBody>
      </p:sp>
      <p:sp>
        <p:nvSpPr>
          <p:cNvPr id="11" name="text-j2djqu-10">
            <a:extLst xmlns:a="http://schemas.openxmlformats.org/drawingml/2006/main">
              <a:ext uri="{FF2B5EF4-FFF2-40B4-BE49-F238E27FC236}">
                <a16:creationId xmlns:a16="http://schemas.microsoft.com/office/drawing/2014/main" id="{80115D07-B193-4839-9154-6748D8DAEBB3}"/>
              </a:ext>
            </a:extLst>
          </p:cNvPr>
          <p:cNvSpPr>
            <a:spLocks xmlns:a="http://schemas.openxmlformats.org/drawingml/2006/main" noGrp="1"/>
          </p:cNvSpPr>
          <p:nvPr/>
        </p:nvSpPr>
        <p:spPr>
          <a:xfrm xmlns:a="http://schemas.openxmlformats.org/drawingml/2006/main">
            <a:off x="609600" y="39528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87F83"/>
                </a:solidFill>
                <a:latin typeface="Arial"/>
                <a:ea typeface="Arial"/>
                <a:cs typeface="Arial"/>
              </a:defRPr>
            </a:defPPr>
          </a:lstStyle>
          <a:p xmlns:a="http://schemas.openxmlformats.org/drawingml/2006/main">
            <a:pPr algn="l">
              <a:defRPr sz="3150" b="1">
                <a:solidFill>
                  <a:srgbClr val="087F83"/>
                </a:solidFill>
                <a:latin typeface="Arial"/>
                <a:ea typeface="Arial"/>
                <a:cs typeface="Arial"/>
              </a:defRPr>
            </a:pPr>
            <a:r>
              <a:rPr sz="3150" b="1">
                <a:solidFill>
                  <a:srgbClr val="087F83"/>
                </a:solidFill>
                <a:latin typeface="Arial"/>
                <a:ea typeface="Arial"/>
                <a:cs typeface="Arial"/>
              </a:rPr>
              <a:t>03</a:t>
            </a:r>
          </a:p>
        </p:txBody>
      </p:sp>
      <p:sp>
        <p:nvSpPr>
          <p:cNvPr id="12" name="text-j2djqu-11">
            <a:extLst xmlns:a="http://schemas.openxmlformats.org/drawingml/2006/main">
              <a:ext uri="{FF2B5EF4-FFF2-40B4-BE49-F238E27FC236}">
                <a16:creationId xmlns:a16="http://schemas.microsoft.com/office/drawing/2014/main" id="{F52E01B7-836F-4A9C-9BBA-89CDF6A63906}"/>
              </a:ext>
            </a:extLst>
          </p:cNvPr>
          <p:cNvSpPr>
            <a:spLocks xmlns:a="http://schemas.openxmlformats.org/drawingml/2006/main" noGrp="1"/>
          </p:cNvSpPr>
          <p:nvPr/>
        </p:nvSpPr>
        <p:spPr>
          <a:xfrm xmlns:a="http://schemas.openxmlformats.org/drawingml/2006/main">
            <a:off x="1466850" y="396240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Complete HALY production</a:t>
            </a:r>
          </a:p>
        </p:txBody>
      </p:sp>
      <p:sp>
        <p:nvSpPr>
          <p:cNvPr id="13" name="text-j2djqu-12">
            <a:extLst xmlns:a="http://schemas.openxmlformats.org/drawingml/2006/main">
              <a:ext uri="{FF2B5EF4-FFF2-40B4-BE49-F238E27FC236}">
                <a16:creationId xmlns:a16="http://schemas.microsoft.com/office/drawing/2014/main" id="{4DDC493F-E5AE-4025-954A-EC1C6F4D090C}"/>
              </a:ext>
            </a:extLst>
          </p:cNvPr>
          <p:cNvSpPr>
            <a:spLocks xmlns:a="http://schemas.openxmlformats.org/drawingml/2006/main" noGrp="1"/>
          </p:cNvSpPr>
          <p:nvPr/>
        </p:nvSpPr>
        <p:spPr>
          <a:xfrm xmlns:a="http://schemas.openxmlformats.org/drawingml/2006/main">
            <a:off x="1466850" y="4352925"/>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A manufacturing order produces 400 finished units.</a:t>
            </a:r>
          </a:p>
        </p:txBody>
      </p:sp>
      <p:sp>
        <p:nvSpPr>
          <p:cNvPr id="14" name="text-j2djqu-13">
            <a:extLst xmlns:a="http://schemas.openxmlformats.org/drawingml/2006/main">
              <a:ext uri="{FF2B5EF4-FFF2-40B4-BE49-F238E27FC236}">
                <a16:creationId xmlns:a16="http://schemas.microsoft.com/office/drawing/2014/main" id="{A31CA9A0-A6D8-4A0C-8F4C-9170F37CF77F}"/>
              </a:ext>
            </a:extLst>
          </p:cNvPr>
          <p:cNvSpPr>
            <a:spLocks xmlns:a="http://schemas.openxmlformats.org/drawingml/2006/main" noGrp="1"/>
          </p:cNvSpPr>
          <p:nvPr/>
        </p:nvSpPr>
        <p:spPr>
          <a:xfrm xmlns:a="http://schemas.openxmlformats.org/drawingml/2006/main">
            <a:off x="609600" y="53340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7F83"/>
                </a:solidFill>
                <a:latin typeface="Arial"/>
                <a:ea typeface="Arial"/>
                <a:cs typeface="Arial"/>
              </a:defRPr>
            </a:defPPr>
          </a:lstStyle>
          <a:p xmlns:a="http://schemas.openxmlformats.org/drawingml/2006/main">
            <a:pPr algn="l">
              <a:defRPr sz="2550" b="1">
                <a:solidFill>
                  <a:srgbClr val="087F83"/>
                </a:solidFill>
                <a:latin typeface="Arial"/>
                <a:ea typeface="Arial"/>
                <a:cs typeface="Arial"/>
              </a:defRPr>
            </a:pPr>
            <a:r>
              <a:rPr sz="2550" b="1">
                <a:solidFill>
                  <a:srgbClr val="087F83"/>
                </a:solidFill>
                <a:latin typeface="Arial"/>
                <a:ea typeface="Arial"/>
                <a:cs typeface="Arial"/>
              </a:rPr>
              <a:t>500 opening stock + 400 manufactured = 900 units available</a:t>
            </a:r>
          </a:p>
        </p:txBody>
      </p:sp>
    </p:spTree>
    <p:extLst>
      <p:ext uri="{BB962C8B-B14F-4D97-AF65-F5344CB8AC3E}">
        <p14:creationId xmlns:p14="http://schemas.microsoft.com/office/powerpoint/2010/main" val="1107167017"/>
      </p:ext>
    </p:extLst>
  </p:cSld>
</p:sld>
</file>

<file path=ppt/slides/slide12.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1m5acm-0">
            <a:extLst xmlns:a="http://schemas.openxmlformats.org/drawingml/2006/main">
              <a:ext uri="{FF2B5EF4-FFF2-40B4-BE49-F238E27FC236}">
                <a16:creationId xmlns:a16="http://schemas.microsoft.com/office/drawing/2014/main" id="{CD43EED4-937E-41DE-AD3E-2509D119AD05}"/>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Every shortage has an owner and a next action</a:t>
            </a:r>
          </a:p>
        </p:txBody>
      </p:sp>
      <p:sp>
        <p:nvSpPr>
          <p:cNvPr id="2" name="text-1m5acm-1">
            <a:extLst xmlns:a="http://schemas.openxmlformats.org/drawingml/2006/main">
              <a:ext uri="{FF2B5EF4-FFF2-40B4-BE49-F238E27FC236}">
                <a16:creationId xmlns:a16="http://schemas.microsoft.com/office/drawing/2014/main" id="{7D283CB2-A00D-426B-8D4A-505F29DE0175}"/>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A source-linked risk item connects the sales commitment with operational follow-up.</a:t>
            </a:r>
          </a:p>
        </p:txBody>
      </p:sp>
      <p:sp>
        <p:nvSpPr>
          <p:cNvPr id="3" name="text-1m5acm-2">
            <a:extLst xmlns:a="http://schemas.openxmlformats.org/drawingml/2006/main">
              <a:ext uri="{FF2B5EF4-FFF2-40B4-BE49-F238E27FC236}">
                <a16:creationId xmlns:a16="http://schemas.microsoft.com/office/drawing/2014/main" id="{A86E0963-7FFC-4091-AA09-81ADCEA33793}"/>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1m5acm-3">
            <a:extLst xmlns:a="http://schemas.openxmlformats.org/drawingml/2006/main">
              <a:ext uri="{FF2B5EF4-FFF2-40B4-BE49-F238E27FC236}">
                <a16:creationId xmlns:a16="http://schemas.microsoft.com/office/drawing/2014/main" id="{00418F65-A69D-4587-858B-60CD46EBA760}"/>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12 / 17</a:t>
            </a:r>
          </a:p>
        </p:txBody>
      </p:sp>
      <p:pic>
        <p:nvPicPr>
          <p:cNvPr id="5" name="">
            <a:extLst xmlns:a="http://schemas.openxmlformats.org/drawingml/2006/main">
              <a:ext uri="{FF2B5EF4-FFF2-40B4-BE49-F238E27FC236}">
                <a16:creationId xmlns:a16="http://schemas.microsoft.com/office/drawing/2014/main" id="{0D60A16C-448D-480F-B04E-E372E5CCD8C1}"/>
              </a:ext>
            </a:extLst>
          </p:cNvPr>
          <p:cNvPicPr>
            <a:picLocks xmlns:a="http://schemas.openxmlformats.org/drawingml/2006/main" noChangeAspect="1"/>
          </p:cNvPicPr>
          <p:nvPr/>
        </p:nvPicPr>
        <p:blipFill>
          <a:blip xmlns:r="http://schemas.openxmlformats.org/officeDocument/2006/relationships" xmlns:a="http://schemas.openxmlformats.org/drawingml/2006/main" r:embed="R2da8847c408f4a85"/>
          <a:srcRect xmlns:a="http://schemas.openxmlformats.org/drawingml/2006/main" l="1953" t="17361" r="4297" b="26389"/>
          <a:stretch xmlns:a="http://schemas.openxmlformats.org/drawingml/2006/main"/>
        </p:blipFill>
        <p:spPr>
          <a:xfrm xmlns:a="http://schemas.openxmlformats.org/drawingml/2006/main">
            <a:off x="609600" y="2000250"/>
            <a:ext cx="10972800" cy="3714750"/>
          </a:xfrm>
          <a:prstGeom xmlns:a="http://schemas.openxmlformats.org/drawingml/2006/main" prst="rect">
            <a:avLst/>
          </a:prstGeom>
        </p:spPr>
      </p:pic>
      <p:sp>
        <p:nvSpPr>
          <p:cNvPr id="6" name="text-1m5acm-4">
            <a:extLst xmlns:a="http://schemas.openxmlformats.org/drawingml/2006/main">
              <a:ext uri="{FF2B5EF4-FFF2-40B4-BE49-F238E27FC236}">
                <a16:creationId xmlns:a16="http://schemas.microsoft.com/office/drawing/2014/main" id="{51825F13-D684-4DD8-BE0D-31241E27AE76}"/>
              </a:ext>
            </a:extLst>
          </p:cNvPr>
          <p:cNvSpPr>
            <a:spLocks xmlns:a="http://schemas.openxmlformats.org/drawingml/2006/main" noGrp="1"/>
          </p:cNvSpPr>
          <p:nvPr/>
        </p:nvSpPr>
        <p:spPr>
          <a:xfrm xmlns:a="http://schemas.openxmlformats.org/drawingml/2006/main">
            <a:off x="609600"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3"/>
                </a:solidFill>
                <a:latin typeface="Arial"/>
                <a:ea typeface="Arial"/>
                <a:cs typeface="Arial"/>
              </a:defRPr>
            </a:defPPr>
          </a:lstStyle>
          <a:p xmlns:a="http://schemas.openxmlformats.org/drawingml/2006/main">
            <a:pPr algn="l">
              <a:defRPr sz="2025" b="1">
                <a:solidFill>
                  <a:srgbClr val="087F83"/>
                </a:solidFill>
                <a:latin typeface="Arial"/>
                <a:ea typeface="Arial"/>
                <a:cs typeface="Arial"/>
              </a:defRPr>
            </a:pPr>
            <a:r>
              <a:rPr sz="2025" b="1">
                <a:solidFill>
                  <a:srgbClr val="087F83"/>
                </a:solidFill>
                <a:latin typeface="Arial"/>
                <a:ea typeface="Arial"/>
                <a:cs typeface="Arial"/>
              </a:rPr>
              <a:t>The team can see who must act and which order needs attention.</a:t>
            </a:r>
          </a:p>
        </p:txBody>
      </p:sp>
    </p:spTree>
    <p:extLst>
      <p:ext uri="{BB962C8B-B14F-4D97-AF65-F5344CB8AC3E}">
        <p14:creationId xmlns:p14="http://schemas.microsoft.com/office/powerpoint/2010/main" val="875807353"/>
      </p:ext>
    </p:extLst>
  </p:cSld>
</p:sld>
</file>

<file path=ppt/slides/slide13.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eo1ynt-0">
            <a:extLst xmlns:a="http://schemas.openxmlformats.org/drawingml/2006/main">
              <a:ext uri="{FF2B5EF4-FFF2-40B4-BE49-F238E27FC236}">
                <a16:creationId xmlns:a16="http://schemas.microsoft.com/office/drawing/2014/main" id="{F872968F-6063-4E08-A5AC-F67420D91AF1}"/>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Manual preparation respects stock priority</a:t>
            </a:r>
          </a:p>
        </p:txBody>
      </p:sp>
      <p:sp>
        <p:nvSpPr>
          <p:cNvPr id="2" name="text-eo1ynt-1">
            <a:extLst xmlns:a="http://schemas.openxmlformats.org/drawingml/2006/main">
              <a:ext uri="{FF2B5EF4-FFF2-40B4-BE49-F238E27FC236}">
                <a16:creationId xmlns:a16="http://schemas.microsoft.com/office/drawing/2014/main" id="{E38A7297-C847-46B0-A984-F28905020349}"/>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Warehouse users cannot claim more campaign stock than the order receives.</a:t>
            </a:r>
          </a:p>
        </p:txBody>
      </p:sp>
      <p:sp>
        <p:nvSpPr>
          <p:cNvPr id="3" name="text-eo1ynt-2">
            <a:extLst xmlns:a="http://schemas.openxmlformats.org/drawingml/2006/main">
              <a:ext uri="{FF2B5EF4-FFF2-40B4-BE49-F238E27FC236}">
                <a16:creationId xmlns:a16="http://schemas.microsoft.com/office/drawing/2014/main" id="{F1759174-7E4C-4151-8684-CF8A2F464285}"/>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eo1ynt-3">
            <a:extLst xmlns:a="http://schemas.openxmlformats.org/drawingml/2006/main">
              <a:ext uri="{FF2B5EF4-FFF2-40B4-BE49-F238E27FC236}">
                <a16:creationId xmlns:a16="http://schemas.microsoft.com/office/drawing/2014/main" id="{69D90380-4BD4-48AF-A9EA-9725004A9FFD}"/>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13 / 17</a:t>
            </a:r>
          </a:p>
        </p:txBody>
      </p:sp>
      <p:pic>
        <p:nvPicPr>
          <p:cNvPr id="5" name="">
            <a:extLst xmlns:a="http://schemas.openxmlformats.org/drawingml/2006/main">
              <a:ext uri="{FF2B5EF4-FFF2-40B4-BE49-F238E27FC236}">
                <a16:creationId xmlns:a16="http://schemas.microsoft.com/office/drawing/2014/main" id="{E1E6A07C-5CEE-47A5-BB11-7B8533DBBEC1}"/>
              </a:ext>
            </a:extLst>
          </p:cNvPr>
          <p:cNvPicPr>
            <a:picLocks xmlns:a="http://schemas.openxmlformats.org/drawingml/2006/main" noChangeAspect="1"/>
          </p:cNvPicPr>
          <p:nvPr/>
        </p:nvPicPr>
        <p:blipFill>
          <a:blip xmlns:r="http://schemas.openxmlformats.org/officeDocument/2006/relationships" xmlns:a="http://schemas.openxmlformats.org/drawingml/2006/main" r:embed="Rcbf3288a09ba4672"/>
          <a:srcRect xmlns:a="http://schemas.openxmlformats.org/drawingml/2006/main" l="4688" t="35417" r="4688" b="26806"/>
          <a:stretch xmlns:a="http://schemas.openxmlformats.org/drawingml/2006/main"/>
        </p:blipFill>
        <p:spPr>
          <a:xfrm xmlns:a="http://schemas.openxmlformats.org/drawingml/2006/main">
            <a:off x="609600" y="2124075"/>
            <a:ext cx="10972800" cy="2571750"/>
          </a:xfrm>
          <a:prstGeom xmlns:a="http://schemas.openxmlformats.org/drawingml/2006/main" prst="rect">
            <a:avLst/>
          </a:prstGeom>
        </p:spPr>
      </p:pic>
      <p:sp>
        <p:nvSpPr>
          <p:cNvPr id="6" name="text-eo1ynt-4">
            <a:extLst xmlns:a="http://schemas.openxmlformats.org/drawingml/2006/main">
              <a:ext uri="{FF2B5EF4-FFF2-40B4-BE49-F238E27FC236}">
                <a16:creationId xmlns:a16="http://schemas.microsoft.com/office/drawing/2014/main" id="{A86BD90C-4C27-426A-B6D1-C5E15C961CE8}"/>
              </a:ext>
            </a:extLst>
          </p:cNvPr>
          <p:cNvSpPr>
            <a:spLocks xmlns:a="http://schemas.openxmlformats.org/drawingml/2006/main" noGrp="1"/>
          </p:cNvSpPr>
          <p:nvPr/>
        </p:nvSpPr>
        <p:spPr>
          <a:xfrm xmlns:a="http://schemas.openxmlformats.org/drawingml/2006/main">
            <a:off x="609600" y="52578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83"/>
                </a:solidFill>
                <a:latin typeface="Arial"/>
                <a:ea typeface="Arial"/>
                <a:cs typeface="Arial"/>
              </a:defRPr>
            </a:defPPr>
          </a:lstStyle>
          <a:p xmlns:a="http://schemas.openxmlformats.org/drawingml/2006/main">
            <a:pPr algn="l">
              <a:defRPr sz="2325" b="1">
                <a:solidFill>
                  <a:srgbClr val="087F83"/>
                </a:solidFill>
                <a:latin typeface="Arial"/>
                <a:ea typeface="Arial"/>
                <a:cs typeface="Arial"/>
              </a:defRPr>
            </a:pPr>
            <a:r>
              <a:rPr sz="2325" b="1">
                <a:solidFill>
                  <a:srgbClr val="087F83"/>
                </a:solidFill>
                <a:latin typeface="Arial"/>
                <a:ea typeface="Arial"/>
                <a:cs typeface="Arial"/>
              </a:rPr>
              <a:t>An invalid quantity stops at Save, before it can become a completed shipment.</a:t>
            </a:r>
          </a:p>
        </p:txBody>
      </p:sp>
    </p:spTree>
    <p:extLst>
      <p:ext uri="{BB962C8B-B14F-4D97-AF65-F5344CB8AC3E}">
        <p14:creationId xmlns:p14="http://schemas.microsoft.com/office/powerpoint/2010/main" val="1842723887"/>
      </p:ext>
    </p:extLst>
  </p:cSld>
</p:sld>
</file>

<file path=ppt/slides/slide14.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ftlafl-0">
            <a:extLst xmlns:a="http://schemas.openxmlformats.org/drawingml/2006/main">
              <a:ext uri="{FF2B5EF4-FFF2-40B4-BE49-F238E27FC236}">
                <a16:creationId xmlns:a16="http://schemas.microsoft.com/office/drawing/2014/main" id="{AA474EC6-E6F6-4942-9BA9-3EE77310FF27}"/>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The full scenario fulfils all 900 units</a:t>
            </a:r>
          </a:p>
        </p:txBody>
      </p:sp>
      <p:sp>
        <p:nvSpPr>
          <p:cNvPr id="2" name="text-ftlafl-1">
            <a:extLst xmlns:a="http://schemas.openxmlformats.org/drawingml/2006/main">
              <a:ext uri="{FF2B5EF4-FFF2-40B4-BE49-F238E27FC236}">
                <a16:creationId xmlns:a16="http://schemas.microsoft.com/office/drawing/2014/main" id="{1B06CE37-D7F8-475A-9C66-F9FF772F9A3A}"/>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Validated end-to-end scenario, separate from the browser examples.</a:t>
            </a:r>
          </a:p>
        </p:txBody>
      </p:sp>
      <p:sp>
        <p:nvSpPr>
          <p:cNvPr id="3" name="text-ftlafl-2">
            <a:extLst xmlns:a="http://schemas.openxmlformats.org/drawingml/2006/main">
              <a:ext uri="{FF2B5EF4-FFF2-40B4-BE49-F238E27FC236}">
                <a16:creationId xmlns:a16="http://schemas.microsoft.com/office/drawing/2014/main" id="{6DB69A7E-5DE0-484A-9FC3-3E7C29E97C54}"/>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ftlafl-3">
            <a:extLst xmlns:a="http://schemas.openxmlformats.org/drawingml/2006/main">
              <a:ext uri="{FF2B5EF4-FFF2-40B4-BE49-F238E27FC236}">
                <a16:creationId xmlns:a16="http://schemas.microsoft.com/office/drawing/2014/main" id="{579409BA-B3DC-4B12-B0D6-421790C7D2DC}"/>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14 / 17</a:t>
            </a:r>
          </a:p>
        </p:txBody>
      </p:sp>
      <p:graphicFrame>
        <p:nvGraphicFramePr>
          <p:cNvPr id="5" name="">
            <a:extLst xmlns:a="http://schemas.openxmlformats.org/drawingml/2006/main">
              <a:ext uri="{FF2B5EF4-FFF2-40B4-BE49-F238E27FC236}">
                <a16:creationId xmlns:a16="http://schemas.microsoft.com/office/drawing/2014/main" id="{981D8D67-7C4B-4694-B3F4-C19DE3DC265C}"/>
              </a:ext>
            </a:extLst>
          </p:cNvPr>
          <p:cNvGraphicFramePr/>
          <p:nvPr/>
        </p:nvGraphicFramePr>
        <p:xfrm>
          <a:off xmlns:a="http://schemas.openxmlformats.org/drawingml/2006/main" x="609600" y="2019300"/>
          <a:ext xmlns:a="http://schemas.openxmlformats.org/drawingml/2006/main" cx="10972800" cy="3143250"/>
        </p:xfrm>
        <a:graphic xmlns:a="http://schemas.openxmlformats.org/drawingml/2006/main">
          <a:graphicData uri="http://schemas.openxmlformats.org/drawingml/2006/table">
            <a:tbl>
              <a:tblPr firstRow="1" bandRow="0"/>
              <a:tblGrid>
                <a:gridCol w="2952750"/>
                <a:gridCol w="1714500"/>
                <a:gridCol w="4095750"/>
                <a:gridCol w="2209800"/>
              </a:tblGrid>
              <a:tr h="628650">
                <a:tc>
                  <a:txBody>
                    <a:bodyPr lIns="95250" tIns="95250" rIns="95250" bIns="95250"/>
                    <a:lstStyle/>
                    <a:p>
                      <a:r>
                        <a:rPr sz="1650" b="1">
                          <a:solidFill>
                            <a:srgbClr val="FFFFFF"/>
                          </a:solidFill>
                          <a:latin typeface="Arial"/>
                          <a:ea typeface="Arial"/>
                          <a:cs typeface="Arial"/>
                        </a:rPr>
                        <a:t>Order</a:t>
                      </a:r>
                    </a:p>
                  </a:txBody>
                  <a:tcPr marL="91440" marR="91440" marT="45720" marB="45720" anchor="ctr">
                    <a:lnL w="9525">
                      <a:solidFill>
                        <a:srgbClr val="D6E1DE"/>
                      </a:solidFill>
                      <a:prstDash val="solid"/>
                    </a:lnL>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650" b="1">
                          <a:solidFill>
                            <a:srgbClr val="FFFFFF"/>
                          </a:solidFill>
                          <a:latin typeface="Arial"/>
                          <a:ea typeface="Arial"/>
                          <a:cs typeface="Arial"/>
                        </a:rPr>
                        <a:t>Ordered</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650" b="1">
                          <a:solidFill>
                            <a:srgbClr val="FFFFFF"/>
                          </a:solidFill>
                          <a:latin typeface="Arial"/>
                          <a:ea typeface="Arial"/>
                          <a:cs typeface="Arial"/>
                        </a:rPr>
                        <a:t>Dispatch pattern</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650" b="1">
                          <a:solidFill>
                            <a:srgbClr val="FFFFFF"/>
                          </a:solidFill>
                          <a:latin typeface="Arial"/>
                          <a:ea typeface="Arial"/>
                          <a:cs typeface="Arial"/>
                        </a:rPr>
                        <a:t>Total shipped</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r>
              <a:tr h="628650">
                <a:tc>
                  <a:txBody>
                    <a:bodyPr lIns="95250" tIns="95250" rIns="95250" bIns="95250"/>
                    <a:lstStyle/>
                    <a:p>
                      <a:r>
                        <a:rPr sz="1800" b="0">
                          <a:solidFill>
                            <a:srgbClr val="183444"/>
                          </a:solidFill>
                          <a:latin typeface="Arial"/>
                          <a:ea typeface="Arial"/>
                          <a:cs typeface="Arial"/>
                        </a:rPr>
                        <a:t>A: individual</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200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One complete shipment</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200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628650">
                <a:tc>
                  <a:txBody>
                    <a:bodyPr lIns="95250" tIns="95250" rIns="95250" bIns="95250"/>
                    <a:lstStyle/>
                    <a:p>
                      <a:r>
                        <a:rPr sz="1800" b="0">
                          <a:solidFill>
                            <a:srgbClr val="183444"/>
                          </a:solidFill>
                          <a:latin typeface="Arial"/>
                          <a:ea typeface="Arial"/>
                          <a:cs typeface="Arial"/>
                        </a:rPr>
                        <a:t>B: corporate</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600</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300 + 200 + 100</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600</a:t>
                      </a:r>
                    </a:p>
                  </a:txBody>
                  <a:tcPr marL="91440" marR="91440" marT="45720" marB="45720" anchor="ctr">
                    <a:lnR w="9525">
                      <a:solidFill>
                        <a:srgbClr val="D6E1DE"/>
                      </a:solidFill>
                      <a:prstDash val="solid"/>
                    </a:lnR>
                    <a:lnB w="9525">
                      <a:solidFill>
                        <a:srgbClr val="D6E1DE"/>
                      </a:solidFill>
                      <a:prstDash val="solid"/>
                    </a:lnB>
                    <a:solidFill>
                      <a:srgbClr val="E6F0EB"/>
                    </a:solidFill>
                  </a:tcPr>
                </a:tc>
              </a:tr>
              <a:tr h="628650">
                <a:tc>
                  <a:txBody>
                    <a:bodyPr lIns="95250" tIns="95250" rIns="95250" bIns="95250"/>
                    <a:lstStyle/>
                    <a:p>
                      <a:r>
                        <a:rPr sz="1800" b="0">
                          <a:solidFill>
                            <a:srgbClr val="183444"/>
                          </a:solidFill>
                          <a:latin typeface="Arial"/>
                          <a:ea typeface="Arial"/>
                          <a:cs typeface="Arial"/>
                        </a:rPr>
                        <a:t>C: individual</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100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One complete shipment</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100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628650">
                <a:tc>
                  <a:txBody>
                    <a:bodyPr lIns="95250" tIns="95250" rIns="95250" bIns="95250"/>
                    <a:lstStyle/>
                    <a:p>
                      <a:r>
                        <a:rPr sz="1800" b="0">
                          <a:solidFill>
                            <a:srgbClr val="183444"/>
                          </a:solidFill>
                          <a:latin typeface="Arial"/>
                          <a:ea typeface="Arial"/>
                          <a:cs typeface="Arial"/>
                        </a:rPr>
                        <a:t>Total</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900</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
                      </a:r>
                    </a:p>
                  </a:txBody>
                  <a:tcPr marL="91440" marR="91440" marT="45720" marB="45720" anchor="ctr">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900</a:t>
                      </a:r>
                    </a:p>
                  </a:txBody>
                  <a:tcPr marL="91440" marR="91440" marT="45720" marB="45720" anchor="ctr">
                    <a:lnR w="9525">
                      <a:solidFill>
                        <a:srgbClr val="D6E1DE"/>
                      </a:solidFill>
                      <a:prstDash val="solid"/>
                    </a:lnR>
                    <a:lnB w="9525">
                      <a:solidFill>
                        <a:srgbClr val="D6E1DE"/>
                      </a:solidFill>
                      <a:prstDash val="solid"/>
                    </a:lnB>
                    <a:solidFill>
                      <a:srgbClr val="E6F0EB"/>
                    </a:solidFill>
                  </a:tcPr>
                </a:tc>
              </a:tr>
            </a:tbl>
          </a:graphicData>
        </a:graphic>
      </p:graphicFrame>
      <p:sp>
        <p:nvSpPr>
          <p:cNvPr id="6" name="text-ftlafl-4">
            <a:extLst xmlns:a="http://schemas.openxmlformats.org/drawingml/2006/main">
              <a:ext uri="{FF2B5EF4-FFF2-40B4-BE49-F238E27FC236}">
                <a16:creationId xmlns:a16="http://schemas.microsoft.com/office/drawing/2014/main" id="{904F9A98-0E32-4B88-9D75-FD033512829A}"/>
              </a:ext>
            </a:extLst>
          </p:cNvPr>
          <p:cNvSpPr>
            <a:spLocks xmlns:a="http://schemas.openxmlformats.org/drawingml/2006/main" noGrp="1"/>
          </p:cNvSpPr>
          <p:nvPr/>
        </p:nvSpPr>
        <p:spPr>
          <a:xfrm xmlns:a="http://schemas.openxmlformats.org/drawingml/2006/main">
            <a:off x="609600" y="55054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83"/>
                </a:solidFill>
                <a:latin typeface="Arial"/>
                <a:ea typeface="Arial"/>
                <a:cs typeface="Arial"/>
              </a:defRPr>
            </a:defPPr>
          </a:lstStyle>
          <a:p xmlns:a="http://schemas.openxmlformats.org/drawingml/2006/main">
            <a:pPr algn="l">
              <a:defRPr sz="2475" b="1">
                <a:solidFill>
                  <a:srgbClr val="087F83"/>
                </a:solidFill>
                <a:latin typeface="Arial"/>
                <a:ea typeface="Arial"/>
                <a:cs typeface="Arial"/>
              </a:defRPr>
            </a:pPr>
            <a:r>
              <a:rPr sz="2475" b="1">
                <a:solidFill>
                  <a:srgbClr val="087F83"/>
                </a:solidFill>
                <a:latin typeface="Arial"/>
                <a:ea typeface="Arial"/>
                <a:cs typeface="Arial"/>
              </a:rPr>
              <a:t>500 opening + 400 manufactured = 900 dispatched</a:t>
            </a:r>
          </a:p>
        </p:txBody>
      </p:sp>
    </p:spTree>
    <p:extLst>
      <p:ext uri="{BB962C8B-B14F-4D97-AF65-F5344CB8AC3E}">
        <p14:creationId xmlns:p14="http://schemas.microsoft.com/office/powerpoint/2010/main" val="738920427"/>
      </p:ext>
    </p:extLst>
  </p:cSld>
</p:sld>
</file>

<file path=ppt/slides/slide15.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5" name="text-tkugym-0">
            <a:extLst xmlns:a="http://schemas.openxmlformats.org/drawingml/2006/main">
              <a:ext uri="{FF2B5EF4-FFF2-40B4-BE49-F238E27FC236}">
                <a16:creationId xmlns:a16="http://schemas.microsoft.com/office/drawing/2014/main" id="{0B9E6782-D69E-4ADB-8226-5CA2EA984080}"/>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Project work and validation</a:t>
            </a:r>
          </a:p>
        </p:txBody>
      </p:sp>
      <p:sp>
        <p:nvSpPr>
          <p:cNvPr id="2" name="text-tkugym-1">
            <a:extLst xmlns:a="http://schemas.openxmlformats.org/drawingml/2006/main">
              <a:ext uri="{FF2B5EF4-FFF2-40B4-BE49-F238E27FC236}">
                <a16:creationId xmlns:a16="http://schemas.microsoft.com/office/drawing/2014/main" id="{5796E1CB-D616-4E55-BEC6-12B2F1F2208D}"/>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Business decisions became explicit rules with evidence behind the results.</a:t>
            </a:r>
          </a:p>
        </p:txBody>
      </p:sp>
      <p:sp>
        <p:nvSpPr>
          <p:cNvPr id="3" name="text-tkugym-2">
            <a:extLst xmlns:a="http://schemas.openxmlformats.org/drawingml/2006/main">
              <a:ext uri="{FF2B5EF4-FFF2-40B4-BE49-F238E27FC236}">
                <a16:creationId xmlns:a16="http://schemas.microsoft.com/office/drawing/2014/main" id="{31510970-743B-4773-ACC6-98CA8683B563}"/>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tkugym-3">
            <a:extLst xmlns:a="http://schemas.openxmlformats.org/drawingml/2006/main">
              <a:ext uri="{FF2B5EF4-FFF2-40B4-BE49-F238E27FC236}">
                <a16:creationId xmlns:a16="http://schemas.microsoft.com/office/drawing/2014/main" id="{C6FB73EB-C534-458C-B381-7033A65483A9}"/>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15 / 17</a:t>
            </a:r>
          </a:p>
        </p:txBody>
      </p:sp>
      <p:sp>
        <p:nvSpPr>
          <p:cNvPr id="5" name="text-tkugym-4">
            <a:extLst xmlns:a="http://schemas.openxmlformats.org/drawingml/2006/main">
              <a:ext uri="{FF2B5EF4-FFF2-40B4-BE49-F238E27FC236}">
                <a16:creationId xmlns:a16="http://schemas.microsoft.com/office/drawing/2014/main" id="{A850290D-6525-4C50-B996-5AD9FA96C89A}"/>
              </a:ext>
            </a:extLst>
          </p:cNvPr>
          <p:cNvSpPr>
            <a:spLocks xmlns:a="http://schemas.openxmlformats.org/drawingml/2006/main" noGrp="1"/>
          </p:cNvSpPr>
          <p:nvPr/>
        </p:nvSpPr>
        <p:spPr>
          <a:xfrm xmlns:a="http://schemas.openxmlformats.org/drawingml/2006/main">
            <a:off x="609600" y="20478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A3A"/>
                </a:solidFill>
                <a:latin typeface="Arial"/>
                <a:ea typeface="Arial"/>
                <a:cs typeface="Arial"/>
              </a:defRPr>
            </a:defPPr>
          </a:lstStyle>
          <a:p xmlns:a="http://schemas.openxmlformats.org/drawingml/2006/main">
            <a:pPr algn="l">
              <a:defRPr sz="2325" b="1">
                <a:solidFill>
                  <a:srgbClr val="102A3A"/>
                </a:solidFill>
                <a:latin typeface="Arial"/>
                <a:ea typeface="Arial"/>
                <a:cs typeface="Arial"/>
              </a:defRPr>
            </a:pPr>
            <a:r>
              <a:rPr sz="2325" b="1">
                <a:solidFill>
                  <a:srgbClr val="102A3A"/>
                </a:solidFill>
                <a:latin typeface="Arial"/>
                <a:ea typeface="Arial"/>
                <a:cs typeface="Arial"/>
              </a:rPr>
              <a:t>Standard ERP foundation</a:t>
            </a:r>
          </a:p>
        </p:txBody>
      </p:sp>
      <p:sp>
        <p:nvSpPr>
          <p:cNvPr id="6" name="text-tkugym-5">
            <a:extLst xmlns:a="http://schemas.openxmlformats.org/drawingml/2006/main">
              <a:ext uri="{FF2B5EF4-FFF2-40B4-BE49-F238E27FC236}">
                <a16:creationId xmlns:a16="http://schemas.microsoft.com/office/drawing/2014/main" id="{AEE053D0-9FCE-4123-AD67-E985D2BF47AA}"/>
              </a:ext>
            </a:extLst>
          </p:cNvPr>
          <p:cNvSpPr>
            <a:spLocks xmlns:a="http://schemas.openxmlformats.org/drawingml/2006/main" noGrp="1"/>
          </p:cNvSpPr>
          <p:nvPr/>
        </p:nvSpPr>
        <p:spPr>
          <a:xfrm xmlns:a="http://schemas.openxmlformats.org/drawingml/2006/main">
            <a:off x="609600" y="25146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444"/>
                </a:solidFill>
                <a:latin typeface="Arial"/>
                <a:ea typeface="Arial"/>
                <a:cs typeface="Arial"/>
              </a:defRPr>
            </a:defPPr>
          </a:lstStyle>
          <a:p xmlns:a="http://schemas.openxmlformats.org/drawingml/2006/main">
            <a:pPr algn="l">
              <a:defRPr sz="1950" b="0">
                <a:solidFill>
                  <a:srgbClr val="183444"/>
                </a:solidFill>
                <a:latin typeface="Arial"/>
                <a:ea typeface="Arial"/>
                <a:cs typeface="Arial"/>
              </a:defRPr>
            </a:pPr>
            <a:r>
              <a:rPr sz="1950" b="0">
                <a:solidFill>
                  <a:srgbClr val="183444"/>
                </a:solidFill>
                <a:latin typeface="Arial"/>
                <a:ea typeface="Arial"/>
                <a:cs typeface="Arial"/>
              </a:rPr>
              <a:t>Sales, inventory, purchasing and own manufacture.</a:t>
            </a:r>
          </a:p>
        </p:txBody>
      </p:sp>
      <p:sp>
        <p:nvSpPr>
          <p:cNvPr id="7" name="text-tkugym-6">
            <a:extLst xmlns:a="http://schemas.openxmlformats.org/drawingml/2006/main">
              <a:ext uri="{FF2B5EF4-FFF2-40B4-BE49-F238E27FC236}">
                <a16:creationId xmlns:a16="http://schemas.microsoft.com/office/drawing/2014/main" id="{9270CD3A-3509-4BC3-94B2-F057D048F156}"/>
              </a:ext>
            </a:extLst>
          </p:cNvPr>
          <p:cNvSpPr>
            <a:spLocks xmlns:a="http://schemas.openxmlformats.org/drawingml/2006/main" noGrp="1"/>
          </p:cNvSpPr>
          <p:nvPr/>
        </p:nvSpPr>
        <p:spPr>
          <a:xfrm xmlns:a="http://schemas.openxmlformats.org/drawingml/2006/main">
            <a:off x="609600" y="3333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A3A"/>
                </a:solidFill>
                <a:latin typeface="Arial"/>
                <a:ea typeface="Arial"/>
                <a:cs typeface="Arial"/>
              </a:defRPr>
            </a:defPPr>
          </a:lstStyle>
          <a:p xmlns:a="http://schemas.openxmlformats.org/drawingml/2006/main">
            <a:pPr algn="l">
              <a:defRPr sz="2325" b="1">
                <a:solidFill>
                  <a:srgbClr val="102A3A"/>
                </a:solidFill>
                <a:latin typeface="Arial"/>
                <a:ea typeface="Arial"/>
                <a:cs typeface="Arial"/>
              </a:defRPr>
            </a:pPr>
            <a:r>
              <a:rPr sz="2325" b="1">
                <a:solidFill>
                  <a:srgbClr val="102A3A"/>
                </a:solidFill>
                <a:latin typeface="Arial"/>
                <a:ea typeface="Arial"/>
                <a:cs typeface="Arial"/>
              </a:rPr>
              <a:t>Focused extensions</a:t>
            </a:r>
          </a:p>
        </p:txBody>
      </p:sp>
      <p:sp>
        <p:nvSpPr>
          <p:cNvPr id="8" name="text-tkugym-7">
            <a:extLst xmlns:a="http://schemas.openxmlformats.org/drawingml/2006/main">
              <a:ext uri="{FF2B5EF4-FFF2-40B4-BE49-F238E27FC236}">
                <a16:creationId xmlns:a16="http://schemas.microsoft.com/office/drawing/2014/main" id="{F6B6C43D-3D09-4B34-9FAE-E66F9B78849F}"/>
              </a:ext>
            </a:extLst>
          </p:cNvPr>
          <p:cNvSpPr>
            <a:spLocks xmlns:a="http://schemas.openxmlformats.org/drawingml/2006/main" noGrp="1"/>
          </p:cNvSpPr>
          <p:nvPr/>
        </p:nvSpPr>
        <p:spPr>
          <a:xfrm xmlns:a="http://schemas.openxmlformats.org/drawingml/2006/main">
            <a:off x="609600" y="3800475"/>
            <a:ext cx="676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444"/>
                </a:solidFill>
                <a:latin typeface="Arial"/>
                <a:ea typeface="Arial"/>
                <a:cs typeface="Arial"/>
              </a:defRPr>
            </a:defPPr>
          </a:lstStyle>
          <a:p xmlns:a="http://schemas.openxmlformats.org/drawingml/2006/main">
            <a:pPr algn="l">
              <a:defRPr sz="1950" b="0">
                <a:solidFill>
                  <a:srgbClr val="183444"/>
                </a:solidFill>
                <a:latin typeface="Arial"/>
                <a:ea typeface="Arial"/>
                <a:cs typeface="Arial"/>
              </a:defRPr>
            </a:pPr>
            <a:r>
              <a:rPr sz="1950" b="0">
                <a:solidFill>
                  <a:srgbClr val="183444"/>
                </a:solidFill>
                <a:latin typeface="Arial"/>
                <a:ea typeface="Arial"/>
                <a:cs typeface="Arial"/>
              </a:rPr>
              <a:t>Promise history, date-first allocation, shipment guards and owned exceptions.</a:t>
            </a:r>
          </a:p>
        </p:txBody>
      </p:sp>
      <p:sp>
        <p:nvSpPr>
          <p:cNvPr id="9" name="text-tkugym-8">
            <a:extLst xmlns:a="http://schemas.openxmlformats.org/drawingml/2006/main">
              <a:ext uri="{FF2B5EF4-FFF2-40B4-BE49-F238E27FC236}">
                <a16:creationId xmlns:a16="http://schemas.microsoft.com/office/drawing/2014/main" id="{80117AE8-0180-4B61-AF50-E854B3A4DE34}"/>
              </a:ext>
            </a:extLst>
          </p:cNvPr>
          <p:cNvSpPr>
            <a:spLocks xmlns:a="http://schemas.openxmlformats.org/drawingml/2006/main" noGrp="1"/>
          </p:cNvSpPr>
          <p:nvPr/>
        </p:nvSpPr>
        <p:spPr>
          <a:xfrm xmlns:a="http://schemas.openxmlformats.org/drawingml/2006/main">
            <a:off x="609600" y="50482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A3A"/>
                </a:solidFill>
                <a:latin typeface="Arial"/>
                <a:ea typeface="Arial"/>
                <a:cs typeface="Arial"/>
              </a:defRPr>
            </a:defPPr>
          </a:lstStyle>
          <a:p xmlns:a="http://schemas.openxmlformats.org/drawingml/2006/main">
            <a:pPr algn="l">
              <a:defRPr sz="2325" b="1">
                <a:solidFill>
                  <a:srgbClr val="102A3A"/>
                </a:solidFill>
                <a:latin typeface="Arial"/>
                <a:ea typeface="Arial"/>
                <a:cs typeface="Arial"/>
              </a:defRPr>
            </a:pPr>
            <a:r>
              <a:rPr sz="2325" b="1">
                <a:solidFill>
                  <a:srgbClr val="102A3A"/>
                </a:solidFill>
                <a:latin typeface="Arial"/>
                <a:ea typeface="Arial"/>
                <a:cs typeface="Arial"/>
              </a:rPr>
              <a:t>Reviewed delivery</a:t>
            </a:r>
          </a:p>
        </p:txBody>
      </p:sp>
      <p:sp>
        <p:nvSpPr>
          <p:cNvPr id="10" name="text-tkugym-9">
            <a:extLst xmlns:a="http://schemas.openxmlformats.org/drawingml/2006/main">
              <a:ext uri="{FF2B5EF4-FFF2-40B4-BE49-F238E27FC236}">
                <a16:creationId xmlns:a16="http://schemas.microsoft.com/office/drawing/2014/main" id="{F986F153-09B4-43E7-AFF0-FDEE66FB83FF}"/>
              </a:ext>
            </a:extLst>
          </p:cNvPr>
          <p:cNvSpPr>
            <a:spLocks xmlns:a="http://schemas.openxmlformats.org/drawingml/2006/main" noGrp="1"/>
          </p:cNvSpPr>
          <p:nvPr/>
        </p:nvSpPr>
        <p:spPr>
          <a:xfrm xmlns:a="http://schemas.openxmlformats.org/drawingml/2006/main">
            <a:off x="609600" y="5514975"/>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444"/>
                </a:solidFill>
                <a:latin typeface="Arial"/>
                <a:ea typeface="Arial"/>
                <a:cs typeface="Arial"/>
              </a:defRPr>
            </a:defPPr>
          </a:lstStyle>
          <a:p xmlns:a="http://schemas.openxmlformats.org/drawingml/2006/main">
            <a:pPr algn="l">
              <a:defRPr sz="1950" b="0">
                <a:solidFill>
                  <a:srgbClr val="183444"/>
                </a:solidFill>
                <a:latin typeface="Arial"/>
                <a:ea typeface="Arial"/>
                <a:cs typeface="Arial"/>
              </a:defRPr>
            </a:pPr>
            <a:r>
              <a:rPr sz="1950" b="0">
                <a:solidFill>
                  <a:srgbClr val="183444"/>
                </a:solidFill>
                <a:latin typeface="Arial"/>
                <a:ea typeface="Arial"/>
                <a:cs typeface="Arial"/>
              </a:rPr>
              <a:t>Independent review, repairs, regression checks and owner acceptance.</a:t>
            </a:r>
          </a:p>
        </p:txBody>
      </p:sp>
      <p:sp>
        <p:nvSpPr>
          <p:cNvPr id="11" name="text-tkugym-10">
            <a:extLst xmlns:a="http://schemas.openxmlformats.org/drawingml/2006/main">
              <a:ext uri="{FF2B5EF4-FFF2-40B4-BE49-F238E27FC236}">
                <a16:creationId xmlns:a16="http://schemas.microsoft.com/office/drawing/2014/main" id="{84DD8FE1-4336-4576-BEB7-0B64064DD670}"/>
              </a:ext>
            </a:extLst>
          </p:cNvPr>
          <p:cNvSpPr>
            <a:spLocks xmlns:a="http://schemas.openxmlformats.org/drawingml/2006/main" noGrp="1"/>
          </p:cNvSpPr>
          <p:nvPr/>
        </p:nvSpPr>
        <p:spPr>
          <a:xfrm xmlns:a="http://schemas.openxmlformats.org/drawingml/2006/main">
            <a:off x="8610600" y="2000250"/>
            <a:ext cx="272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087F83"/>
                </a:solidFill>
                <a:latin typeface="Arial"/>
                <a:ea typeface="Arial"/>
                <a:cs typeface="Arial"/>
              </a:defRPr>
            </a:defPPr>
          </a:lstStyle>
          <a:p xmlns:a="http://schemas.openxmlformats.org/drawingml/2006/main">
            <a:pPr algn="l">
              <a:defRPr sz="6450" b="1">
                <a:solidFill>
                  <a:srgbClr val="087F83"/>
                </a:solidFill>
                <a:latin typeface="Arial"/>
                <a:ea typeface="Arial"/>
                <a:cs typeface="Arial"/>
              </a:defRPr>
            </a:pPr>
            <a:r>
              <a:rPr sz="6450" b="1">
                <a:solidFill>
                  <a:srgbClr val="087F83"/>
                </a:solidFill>
                <a:latin typeface="Arial"/>
                <a:ea typeface="Arial"/>
                <a:cs typeface="Arial"/>
              </a:rPr>
              <a:t>81</a:t>
            </a:r>
          </a:p>
        </p:txBody>
      </p:sp>
      <p:sp>
        <p:nvSpPr>
          <p:cNvPr id="12" name="text-tkugym-11">
            <a:extLst xmlns:a="http://schemas.openxmlformats.org/drawingml/2006/main">
              <a:ext uri="{FF2B5EF4-FFF2-40B4-BE49-F238E27FC236}">
                <a16:creationId xmlns:a16="http://schemas.microsoft.com/office/drawing/2014/main" id="{F30439E4-ABA3-4942-BB7E-71B311B35B34}"/>
              </a:ext>
            </a:extLst>
          </p:cNvPr>
          <p:cNvSpPr>
            <a:spLocks xmlns:a="http://schemas.openxmlformats.org/drawingml/2006/main" noGrp="1"/>
          </p:cNvSpPr>
          <p:nvPr/>
        </p:nvSpPr>
        <p:spPr>
          <a:xfrm xmlns:a="http://schemas.openxmlformats.org/drawingml/2006/main">
            <a:off x="8610600" y="3048000"/>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3444"/>
                </a:solidFill>
                <a:latin typeface="Arial"/>
                <a:ea typeface="Arial"/>
                <a:cs typeface="Arial"/>
              </a:defRPr>
            </a:defPPr>
          </a:lstStyle>
          <a:p xmlns:a="http://schemas.openxmlformats.org/drawingml/2006/main">
            <a:pPr algn="l">
              <a:defRPr sz="1875" b="0">
                <a:solidFill>
                  <a:srgbClr val="183444"/>
                </a:solidFill>
                <a:latin typeface="Arial"/>
                <a:ea typeface="Arial"/>
                <a:cs typeface="Arial"/>
              </a:defRPr>
            </a:pPr>
            <a:r>
              <a:rPr sz="1875" b="0">
                <a:solidFill>
                  <a:srgbClr val="183444"/>
                </a:solidFill>
                <a:latin typeface="Arial"/>
                <a:ea typeface="Arial"/>
                <a:cs typeface="Arial"/>
              </a:rPr>
              <a:t>local test methods</a:t>
            </a:r>
          </a:p>
        </p:txBody>
      </p:sp>
      <p:sp>
        <p:nvSpPr>
          <p:cNvPr id="13" name="text-tkugym-12">
            <a:extLst xmlns:a="http://schemas.openxmlformats.org/drawingml/2006/main">
              <a:ext uri="{FF2B5EF4-FFF2-40B4-BE49-F238E27FC236}">
                <a16:creationId xmlns:a16="http://schemas.microsoft.com/office/drawing/2014/main" id="{8402FE12-9F8E-4A45-B67D-16685944CE96}"/>
              </a:ext>
            </a:extLst>
          </p:cNvPr>
          <p:cNvSpPr>
            <a:spLocks xmlns:a="http://schemas.openxmlformats.org/drawingml/2006/main" noGrp="1"/>
          </p:cNvSpPr>
          <p:nvPr/>
        </p:nvSpPr>
        <p:spPr>
          <a:xfrm xmlns:a="http://schemas.openxmlformats.org/drawingml/2006/main">
            <a:off x="8610600" y="4000500"/>
            <a:ext cx="272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087F83"/>
                </a:solidFill>
                <a:latin typeface="Arial"/>
                <a:ea typeface="Arial"/>
                <a:cs typeface="Arial"/>
              </a:defRPr>
            </a:defPPr>
          </a:lstStyle>
          <a:p xmlns:a="http://schemas.openxmlformats.org/drawingml/2006/main">
            <a:pPr algn="l">
              <a:defRPr sz="6450" b="1">
                <a:solidFill>
                  <a:srgbClr val="087F83"/>
                </a:solidFill>
                <a:latin typeface="Arial"/>
                <a:ea typeface="Arial"/>
                <a:cs typeface="Arial"/>
              </a:defRPr>
            </a:pPr>
            <a:r>
              <a:rPr sz="6450" b="1">
                <a:solidFill>
                  <a:srgbClr val="087F83"/>
                </a:solidFill>
                <a:latin typeface="Arial"/>
                <a:ea typeface="Arial"/>
                <a:cs typeface="Arial"/>
              </a:rPr>
              <a:t>11</a:t>
            </a:r>
          </a:p>
        </p:txBody>
      </p:sp>
      <p:sp>
        <p:nvSpPr>
          <p:cNvPr id="14" name="text-tkugym-13">
            <a:extLst xmlns:a="http://schemas.openxmlformats.org/drawingml/2006/main">
              <a:ext uri="{FF2B5EF4-FFF2-40B4-BE49-F238E27FC236}">
                <a16:creationId xmlns:a16="http://schemas.microsoft.com/office/drawing/2014/main" id="{48D1A91B-CFB0-4145-B5BB-6A2FBB31B3E4}"/>
              </a:ext>
            </a:extLst>
          </p:cNvPr>
          <p:cNvSpPr>
            <a:spLocks xmlns:a="http://schemas.openxmlformats.org/drawingml/2006/main" noGrp="1"/>
          </p:cNvSpPr>
          <p:nvPr/>
        </p:nvSpPr>
        <p:spPr>
          <a:xfrm xmlns:a="http://schemas.openxmlformats.org/drawingml/2006/main">
            <a:off x="8610600" y="5048250"/>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3444"/>
                </a:solidFill>
                <a:latin typeface="Arial"/>
                <a:ea typeface="Arial"/>
                <a:cs typeface="Arial"/>
              </a:defRPr>
            </a:defPPr>
          </a:lstStyle>
          <a:p xmlns:a="http://schemas.openxmlformats.org/drawingml/2006/main">
            <a:pPr algn="l">
              <a:defRPr sz="1875" b="0">
                <a:solidFill>
                  <a:srgbClr val="183444"/>
                </a:solidFill>
                <a:latin typeface="Arial"/>
                <a:ea typeface="Arial"/>
                <a:cs typeface="Arial"/>
              </a:defRPr>
            </a:pPr>
            <a:r>
              <a:rPr sz="1875" b="0">
                <a:solidFill>
                  <a:srgbClr val="183444"/>
                </a:solidFill>
                <a:latin typeface="Arial"/>
                <a:ea typeface="Arial"/>
                <a:cs typeface="Arial"/>
              </a:rPr>
              <a:t>campaign cases</a:t>
            </a:r>
          </a:p>
        </p:txBody>
      </p:sp>
    </p:spTree>
    <p:extLst>
      <p:ext uri="{BB962C8B-B14F-4D97-AF65-F5344CB8AC3E}">
        <p14:creationId xmlns:p14="http://schemas.microsoft.com/office/powerpoint/2010/main" val="888431337"/>
      </p:ext>
    </p:extLst>
  </p:cSld>
</p:sld>
</file>

<file path=ppt/slides/slide16.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8" name="text-j0qhvf-0">
            <a:extLst xmlns:a="http://schemas.openxmlformats.org/drawingml/2006/main">
              <a:ext uri="{FF2B5EF4-FFF2-40B4-BE49-F238E27FC236}">
                <a16:creationId xmlns:a16="http://schemas.microsoft.com/office/drawing/2014/main" id="{37A8D5E5-3106-4000-BCC8-D94254B7020A}"/>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Business capability and next opportunities</a:t>
            </a:r>
          </a:p>
        </p:txBody>
      </p:sp>
      <p:sp>
        <p:nvSpPr>
          <p:cNvPr id="2" name="text-j0qhvf-1">
            <a:extLst xmlns:a="http://schemas.openxmlformats.org/drawingml/2006/main">
              <a:ext uri="{FF2B5EF4-FFF2-40B4-BE49-F238E27FC236}">
                <a16:creationId xmlns:a16="http://schemas.microsoft.com/office/drawing/2014/main" id="{731E2FB5-21F2-4EAB-A911-41FD3E0F2291}"/>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Capabilities demonstrated in a controlled synthetic scenario.</a:t>
            </a:r>
          </a:p>
        </p:txBody>
      </p:sp>
      <p:sp>
        <p:nvSpPr>
          <p:cNvPr id="3" name="text-j0qhvf-2">
            <a:extLst xmlns:a="http://schemas.openxmlformats.org/drawingml/2006/main">
              <a:ext uri="{FF2B5EF4-FFF2-40B4-BE49-F238E27FC236}">
                <a16:creationId xmlns:a16="http://schemas.microsoft.com/office/drawing/2014/main" id="{8845673A-C585-4590-9182-108A72E20141}"/>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j0qhvf-3">
            <a:extLst xmlns:a="http://schemas.openxmlformats.org/drawingml/2006/main">
              <a:ext uri="{FF2B5EF4-FFF2-40B4-BE49-F238E27FC236}">
                <a16:creationId xmlns:a16="http://schemas.microsoft.com/office/drawing/2014/main" id="{87D8B3BB-1744-4AAC-8FE1-5FB178C6A49F}"/>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16 / 17</a:t>
            </a:r>
          </a:p>
        </p:txBody>
      </p:sp>
      <p:graphicFrame>
        <p:nvGraphicFramePr>
          <p:cNvPr id="5" name="">
            <a:extLst xmlns:a="http://schemas.openxmlformats.org/drawingml/2006/main">
              <a:ext uri="{FF2B5EF4-FFF2-40B4-BE49-F238E27FC236}">
                <a16:creationId xmlns:a16="http://schemas.microsoft.com/office/drawing/2014/main" id="{A4C04E55-879A-48D1-9E0A-5280587EB959}"/>
              </a:ext>
            </a:extLst>
          </p:cNvPr>
          <p:cNvGraphicFramePr/>
          <p:nvPr/>
        </p:nvGraphicFramePr>
        <p:xfrm>
          <a:off xmlns:a="http://schemas.openxmlformats.org/drawingml/2006/main" x="609600" y="1971675"/>
          <a:ext xmlns:a="http://schemas.openxmlformats.org/drawingml/2006/main" cx="10972800" cy="3143250"/>
        </p:xfrm>
        <a:graphic xmlns:a="http://schemas.openxmlformats.org/drawingml/2006/main">
          <a:graphicData uri="http://schemas.openxmlformats.org/drawingml/2006/table">
            <a:tbl>
              <a:tblPr firstRow="1" bandRow="0"/>
              <a:tblGrid>
                <a:gridCol w="3524250"/>
                <a:gridCol w="7448550"/>
              </a:tblGrid>
              <a:tr h="628650">
                <a:tc>
                  <a:txBody>
                    <a:bodyPr lIns="95250" tIns="95250" rIns="95250" bIns="95250"/>
                    <a:lstStyle/>
                    <a:p>
                      <a:r>
                        <a:rPr sz="1650" b="1">
                          <a:solidFill>
                            <a:srgbClr val="FFFFFF"/>
                          </a:solidFill>
                          <a:latin typeface="Arial"/>
                          <a:ea typeface="Arial"/>
                          <a:cs typeface="Arial"/>
                        </a:rPr>
                        <a:t>Business need</a:t>
                      </a:r>
                    </a:p>
                  </a:txBody>
                  <a:tcPr marL="91440" marR="91440" marT="45720" marB="45720" anchor="ctr">
                    <a:lnL w="9525">
                      <a:solidFill>
                        <a:srgbClr val="D6E1DE"/>
                      </a:solidFill>
                      <a:prstDash val="solid"/>
                    </a:lnL>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650" b="1">
                          <a:solidFill>
                            <a:srgbClr val="FFFFFF"/>
                          </a:solidFill>
                          <a:latin typeface="Arial"/>
                          <a:ea typeface="Arial"/>
                          <a:cs typeface="Arial"/>
                        </a:rPr>
                        <a:t>Capability demonstrated</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r>
              <a:tr h="628650">
                <a:tc>
                  <a:txBody>
                    <a:bodyPr lIns="95250" tIns="95250" rIns="95250" bIns="95250"/>
                    <a:lstStyle/>
                    <a:p>
                      <a:r>
                        <a:rPr sz="1800" b="0">
                          <a:solidFill>
                            <a:srgbClr val="183444"/>
                          </a:solidFill>
                          <a:latin typeface="Arial"/>
                          <a:ea typeface="Arial"/>
                          <a:cs typeface="Arial"/>
                        </a:rPr>
                        <a:t>Consistent stock decisions</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Accepted-date priority with protected reservations</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628650">
                <a:tc>
                  <a:txBody>
                    <a:bodyPr lIns="95250" tIns="95250" rIns="95250" bIns="95250"/>
                    <a:lstStyle/>
                    <a:p>
                      <a:r>
                        <a:rPr sz="1800" b="0">
                          <a:solidFill>
                            <a:srgbClr val="183444"/>
                          </a:solidFill>
                          <a:latin typeface="Arial"/>
                          <a:ea typeface="Arial"/>
                          <a:cs typeface="Arial"/>
                        </a:rPr>
                        <a:t>Clear customer commitments</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Original/current dates and recorded response history</a:t>
                      </a:r>
                    </a:p>
                  </a:txBody>
                  <a:tcPr marL="91440" marR="91440" marT="45720" marB="45720" anchor="ctr">
                    <a:lnR w="9525">
                      <a:solidFill>
                        <a:srgbClr val="D6E1DE"/>
                      </a:solidFill>
                      <a:prstDash val="solid"/>
                    </a:lnR>
                    <a:lnB w="9525">
                      <a:solidFill>
                        <a:srgbClr val="D6E1DE"/>
                      </a:solidFill>
                      <a:prstDash val="solid"/>
                    </a:lnB>
                    <a:solidFill>
                      <a:srgbClr val="E6F0EB"/>
                    </a:solidFill>
                  </a:tcPr>
                </a:tc>
              </a:tr>
              <a:tr h="628650">
                <a:tc>
                  <a:txBody>
                    <a:bodyPr lIns="95250" tIns="95250" rIns="95250" bIns="95250"/>
                    <a:lstStyle/>
                    <a:p>
                      <a:r>
                        <a:rPr sz="1800" b="0">
                          <a:solidFill>
                            <a:srgbClr val="183444"/>
                          </a:solidFill>
                          <a:latin typeface="Arial"/>
                          <a:ea typeface="Arial"/>
                          <a:cs typeface="Arial"/>
                        </a:rPr>
                        <a:t>Controlled fulfilment</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Complete individual orders and corporate backorders</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628650">
                <a:tc>
                  <a:txBody>
                    <a:bodyPr lIns="95250" tIns="95250" rIns="95250" bIns="95250"/>
                    <a:lstStyle/>
                    <a:p>
                      <a:r>
                        <a:rPr sz="1800" b="0">
                          <a:solidFill>
                            <a:srgbClr val="183444"/>
                          </a:solidFill>
                          <a:latin typeface="Arial"/>
                          <a:ea typeface="Arial"/>
                          <a:cs typeface="Arial"/>
                        </a:rPr>
                        <a:t>Accountable follow-up</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6F0EB"/>
                    </a:solidFill>
                  </a:tcPr>
                </a:tc>
                <a:tc>
                  <a:txBody>
                    <a:bodyPr lIns="95250" tIns="95250" rIns="95250" bIns="95250"/>
                    <a:lstStyle/>
                    <a:p>
                      <a:r>
                        <a:rPr sz="1800" b="0">
                          <a:solidFill>
                            <a:srgbClr val="183444"/>
                          </a:solidFill>
                          <a:latin typeface="Arial"/>
                          <a:ea typeface="Arial"/>
                          <a:cs typeface="Arial"/>
                        </a:rPr>
                        <a:t>One source-linked risk item with owner and next action</a:t>
                      </a:r>
                    </a:p>
                  </a:txBody>
                  <a:tcPr marL="91440" marR="91440" marT="45720" marB="45720" anchor="ctr">
                    <a:lnR w="9525">
                      <a:solidFill>
                        <a:srgbClr val="D6E1DE"/>
                      </a:solidFill>
                      <a:prstDash val="solid"/>
                    </a:lnR>
                    <a:lnB w="9525">
                      <a:solidFill>
                        <a:srgbClr val="D6E1DE"/>
                      </a:solidFill>
                      <a:prstDash val="solid"/>
                    </a:lnB>
                    <a:solidFill>
                      <a:srgbClr val="E6F0EB"/>
                    </a:solidFill>
                  </a:tcPr>
                </a:tc>
              </a:tr>
            </a:tbl>
          </a:graphicData>
        </a:graphic>
      </p:graphicFrame>
      <p:sp>
        <p:nvSpPr>
          <p:cNvPr id="6" name="text-j0qhvf-4">
            <a:extLst xmlns:a="http://schemas.openxmlformats.org/drawingml/2006/main">
              <a:ext uri="{FF2B5EF4-FFF2-40B4-BE49-F238E27FC236}">
                <a16:creationId xmlns:a16="http://schemas.microsoft.com/office/drawing/2014/main" id="{A8E7890C-8BF3-4B52-91A2-57EF2BF84A20}"/>
              </a:ext>
            </a:extLst>
          </p:cNvPr>
          <p:cNvSpPr>
            <a:spLocks xmlns:a="http://schemas.openxmlformats.org/drawingml/2006/main" noGrp="1"/>
          </p:cNvSpPr>
          <p:nvPr/>
        </p:nvSpPr>
        <p:spPr>
          <a:xfrm xmlns:a="http://schemas.openxmlformats.org/drawingml/2006/main">
            <a:off x="609600" y="54673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3"/>
                </a:solidFill>
                <a:latin typeface="Arial"/>
                <a:ea typeface="Arial"/>
                <a:cs typeface="Arial"/>
              </a:defRPr>
            </a:defPPr>
          </a:lstStyle>
          <a:p xmlns:a="http://schemas.openxmlformats.org/drawingml/2006/main">
            <a:pPr algn="l">
              <a:defRPr sz="2175" b="1">
                <a:solidFill>
                  <a:srgbClr val="087F83"/>
                </a:solidFill>
                <a:latin typeface="Arial"/>
                <a:ea typeface="Arial"/>
                <a:cs typeface="Arial"/>
              </a:defRPr>
            </a:pPr>
            <a:r>
              <a:rPr sz="2175" b="1">
                <a:solidFill>
                  <a:srgbClr val="087F83"/>
                </a:solidFill>
                <a:latin typeface="Arial"/>
                <a:ea typeface="Arial"/>
                <a:cs typeface="Arial"/>
              </a:rPr>
              <a:t>Possible next phase</a:t>
            </a:r>
          </a:p>
        </p:txBody>
      </p:sp>
      <p:sp>
        <p:nvSpPr>
          <p:cNvPr id="7" name="text-j0qhvf-5">
            <a:extLst xmlns:a="http://schemas.openxmlformats.org/drawingml/2006/main">
              <a:ext uri="{FF2B5EF4-FFF2-40B4-BE49-F238E27FC236}">
                <a16:creationId xmlns:a16="http://schemas.microsoft.com/office/drawing/2014/main" id="{D27104AC-F793-4547-95D0-4A361E3B545E}"/>
              </a:ext>
            </a:extLst>
          </p:cNvPr>
          <p:cNvSpPr>
            <a:spLocks xmlns:a="http://schemas.openxmlformats.org/drawingml/2006/main" noGrp="1"/>
          </p:cNvSpPr>
          <p:nvPr/>
        </p:nvSpPr>
        <p:spPr>
          <a:xfrm xmlns:a="http://schemas.openxmlformats.org/drawingml/2006/main">
            <a:off x="4143375" y="5467350"/>
            <a:ext cx="7381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444"/>
                </a:solidFill>
                <a:latin typeface="Arial"/>
                <a:ea typeface="Arial"/>
                <a:cs typeface="Arial"/>
              </a:defRPr>
            </a:defPPr>
          </a:lstStyle>
          <a:p xmlns:a="http://schemas.openxmlformats.org/drawingml/2006/main">
            <a:pPr algn="l">
              <a:defRPr sz="1950" b="0">
                <a:solidFill>
                  <a:srgbClr val="183444"/>
                </a:solidFill>
                <a:latin typeface="Arial"/>
                <a:ea typeface="Arial"/>
                <a:cs typeface="Arial"/>
              </a:defRPr>
            </a:pPr>
            <a:r>
              <a:rPr sz="1950" b="0">
                <a:solidFill>
                  <a:srgbClr val="183444"/>
                </a:solidFill>
                <a:latin typeface="Arial"/>
                <a:ea typeface="Arial"/>
                <a:cs typeface="Arial"/>
              </a:rPr>
              <a:t>Capacity planning, carrier integration and a separately validated production rollout.</a:t>
            </a:r>
          </a:p>
        </p:txBody>
      </p:sp>
    </p:spTree>
    <p:extLst>
      <p:ext uri="{BB962C8B-B14F-4D97-AF65-F5344CB8AC3E}">
        <p14:creationId xmlns:p14="http://schemas.microsoft.com/office/powerpoint/2010/main" val="1360325351"/>
      </p:ext>
    </p:extLst>
  </p:cSld>
</p:sld>
</file>

<file path=ppt/slides/slide17.xml><?xml version="1.0" encoding="utf-8"?>
<p:sld xmlns:p="http://schemas.openxmlformats.org/presentationml/2006/main">
  <p:cSld>
    <p:bg>
      <p:bgPr>
        <a:solidFill xmlns:a="http://schemas.openxmlformats.org/drawingml/2006/main">
          <a:srgbClr val="102A3A"/>
        </a:solidFill>
      </p:bgPr>
    </p:bg>
    <p:spTree>
      <p:nvGrpSpPr>
        <p:cNvPr id="1" name=""/>
        <p:cNvGrpSpPr/>
        <p:nvPr/>
      </p:nvGrpSpPr>
      <p:grpSpPr>
        <a:xfrm xmlns:a="http://schemas.openxmlformats.org/drawingml/2006/main"/>
      </p:grpSpPr>
      <p:sp>
        <p:nvSpPr>
          <p:cNvPr id="14" name="text-lo9y1k-0">
            <a:extLst xmlns:a="http://schemas.openxmlformats.org/drawingml/2006/main">
              <a:ext uri="{FF2B5EF4-FFF2-40B4-BE49-F238E27FC236}">
                <a16:creationId xmlns:a16="http://schemas.microsoft.com/office/drawing/2014/main" id="{927EE238-F699-4626-ACBB-0D6C6CC6E014}"/>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Technology and delivery</a:t>
            </a:r>
          </a:p>
        </p:txBody>
      </p:sp>
      <p:sp>
        <p:nvSpPr>
          <p:cNvPr id="2" name="text-lo9y1k-1">
            <a:extLst xmlns:a="http://schemas.openxmlformats.org/drawingml/2006/main">
              <a:ext uri="{FF2B5EF4-FFF2-40B4-BE49-F238E27FC236}">
                <a16:creationId xmlns:a16="http://schemas.microsoft.com/office/drawing/2014/main" id="{9552D15A-2AC1-4519-804A-C2AC8F0CBC18}"/>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4E6E2"/>
                </a:solidFill>
                <a:latin typeface="Arial"/>
                <a:ea typeface="Arial"/>
                <a:cs typeface="Arial"/>
              </a:defRPr>
            </a:defPPr>
          </a:lstStyle>
          <a:p xmlns:a="http://schemas.openxmlformats.org/drawingml/2006/main">
            <a:pPr algn="l">
              <a:defRPr sz="1950" b="0">
                <a:solidFill>
                  <a:srgbClr val="D4E6E2"/>
                </a:solidFill>
                <a:latin typeface="Arial"/>
                <a:ea typeface="Arial"/>
                <a:cs typeface="Arial"/>
              </a:defRPr>
            </a:pPr>
            <a:r>
              <a:rPr sz="1950" b="0">
                <a:solidFill>
                  <a:srgbClr val="D4E6E2"/>
                </a:solidFill>
                <a:latin typeface="Arial"/>
                <a:ea typeface="Arial"/>
                <a:cs typeface="Arial"/>
              </a:rPr>
              <a:t>Standard Odoo with focused extensions and a reproducible synthetic demonstration.</a:t>
            </a:r>
          </a:p>
        </p:txBody>
      </p:sp>
      <p:sp>
        <p:nvSpPr>
          <p:cNvPr id="3" name="text-lo9y1k-2">
            <a:extLst xmlns:a="http://schemas.openxmlformats.org/drawingml/2006/main">
              <a:ext uri="{FF2B5EF4-FFF2-40B4-BE49-F238E27FC236}">
                <a16:creationId xmlns:a16="http://schemas.microsoft.com/office/drawing/2014/main" id="{E5435BF5-8683-4A5C-A4F3-E30ABED43FDC}"/>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AD4D2"/>
                </a:solidFill>
                <a:latin typeface="Arial"/>
                <a:ea typeface="Arial"/>
                <a:cs typeface="Arial"/>
              </a:defRPr>
            </a:defPPr>
          </a:lstStyle>
          <a:p xmlns:a="http://schemas.openxmlformats.org/drawingml/2006/main">
            <a:pPr algn="l">
              <a:defRPr sz="1275" b="0">
                <a:solidFill>
                  <a:srgbClr val="BAD4D2"/>
                </a:solidFill>
                <a:latin typeface="Arial"/>
                <a:ea typeface="Arial"/>
                <a:cs typeface="Arial"/>
              </a:defRPr>
            </a:pPr>
            <a:r>
              <a:rPr sz="1275" b="0">
                <a:solidFill>
                  <a:srgbClr val="BAD4D2"/>
                </a:solidFill>
                <a:latin typeface="Arial"/>
                <a:ea typeface="Arial"/>
                <a:cs typeface="Arial"/>
              </a:rPr>
              <a:t>HALY synthetic portfolio case study</a:t>
            </a:r>
          </a:p>
        </p:txBody>
      </p:sp>
      <p:sp>
        <p:nvSpPr>
          <p:cNvPr id="4" name="text-lo9y1k-3">
            <a:extLst xmlns:a="http://schemas.openxmlformats.org/drawingml/2006/main">
              <a:ext uri="{FF2B5EF4-FFF2-40B4-BE49-F238E27FC236}">
                <a16:creationId xmlns:a16="http://schemas.microsoft.com/office/drawing/2014/main" id="{DAE82E08-A6DB-44E4-8FA9-AEECF4A0737B}"/>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AD4D2"/>
                </a:solidFill>
                <a:latin typeface="Arial"/>
                <a:ea typeface="Arial"/>
                <a:cs typeface="Arial"/>
              </a:defRPr>
            </a:defPPr>
          </a:lstStyle>
          <a:p xmlns:a="http://schemas.openxmlformats.org/drawingml/2006/main">
            <a:pPr algn="r">
              <a:defRPr sz="1275" b="0">
                <a:solidFill>
                  <a:srgbClr val="BAD4D2"/>
                </a:solidFill>
                <a:latin typeface="Arial"/>
                <a:ea typeface="Arial"/>
                <a:cs typeface="Arial"/>
              </a:defRPr>
            </a:pPr>
            <a:r>
              <a:rPr sz="1275" b="0">
                <a:solidFill>
                  <a:srgbClr val="BAD4D2"/>
                </a:solidFill>
                <a:latin typeface="Arial"/>
                <a:ea typeface="Arial"/>
                <a:cs typeface="Arial"/>
              </a:rPr>
              <a:t>17 / 17</a:t>
            </a:r>
          </a:p>
        </p:txBody>
      </p:sp>
      <p:sp>
        <p:nvSpPr>
          <p:cNvPr id="5" name="text-lo9y1k-4">
            <a:extLst xmlns:a="http://schemas.openxmlformats.org/drawingml/2006/main">
              <a:ext uri="{FF2B5EF4-FFF2-40B4-BE49-F238E27FC236}">
                <a16:creationId xmlns:a16="http://schemas.microsoft.com/office/drawing/2014/main" id="{B0CDC8A9-D2B0-486D-8A7B-EC13FCD546D6}"/>
              </a:ext>
            </a:extLst>
          </p:cNvPr>
          <p:cNvSpPr>
            <a:spLocks xmlns:a="http://schemas.openxmlformats.org/drawingml/2006/main" noGrp="1"/>
          </p:cNvSpPr>
          <p:nvPr/>
        </p:nvSpPr>
        <p:spPr>
          <a:xfrm xmlns:a="http://schemas.openxmlformats.org/drawingml/2006/main">
            <a:off x="609600" y="20574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CD5CD"/>
                </a:solidFill>
                <a:latin typeface="Arial"/>
                <a:ea typeface="Arial"/>
                <a:cs typeface="Arial"/>
              </a:defRPr>
            </a:defPPr>
          </a:lstStyle>
          <a:p xmlns:a="http://schemas.openxmlformats.org/drawingml/2006/main">
            <a:pPr algn="l">
              <a:defRPr sz="2175" b="1">
                <a:solidFill>
                  <a:srgbClr val="9CD5CD"/>
                </a:solidFill>
                <a:latin typeface="Arial"/>
                <a:ea typeface="Arial"/>
                <a:cs typeface="Arial"/>
              </a:defRPr>
            </a:pPr>
            <a:r>
              <a:rPr sz="2175" b="1">
                <a:solidFill>
                  <a:srgbClr val="9CD5CD"/>
                </a:solidFill>
                <a:latin typeface="Arial"/>
                <a:ea typeface="Arial"/>
                <a:cs typeface="Arial"/>
              </a:rPr>
              <a:t>Business platform</a:t>
            </a:r>
          </a:p>
        </p:txBody>
      </p:sp>
      <p:sp>
        <p:nvSpPr>
          <p:cNvPr id="6" name="text-lo9y1k-5">
            <a:extLst xmlns:a="http://schemas.openxmlformats.org/drawingml/2006/main">
              <a:ext uri="{FF2B5EF4-FFF2-40B4-BE49-F238E27FC236}">
                <a16:creationId xmlns:a16="http://schemas.microsoft.com/office/drawing/2014/main" id="{2671282C-71EC-461C-BE05-B0C82CB2A928}"/>
              </a:ext>
            </a:extLst>
          </p:cNvPr>
          <p:cNvSpPr>
            <a:spLocks xmlns:a="http://schemas.openxmlformats.org/drawingml/2006/main" noGrp="1"/>
          </p:cNvSpPr>
          <p:nvPr/>
        </p:nvSpPr>
        <p:spPr>
          <a:xfrm xmlns:a="http://schemas.openxmlformats.org/drawingml/2006/main">
            <a:off x="609600" y="25336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Odoo 19 Community</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Sales, Inventory, Purchase, Manufacturing</a:t>
            </a:r>
          </a:p>
        </p:txBody>
      </p:sp>
      <p:sp>
        <p:nvSpPr>
          <p:cNvPr id="7" name="text-lo9y1k-6">
            <a:extLst xmlns:a="http://schemas.openxmlformats.org/drawingml/2006/main">
              <a:ext uri="{FF2B5EF4-FFF2-40B4-BE49-F238E27FC236}">
                <a16:creationId xmlns:a16="http://schemas.microsoft.com/office/drawing/2014/main" id="{3CDD1C76-5580-4275-AC97-3D013C5169A2}"/>
              </a:ext>
            </a:extLst>
          </p:cNvPr>
          <p:cNvSpPr>
            <a:spLocks xmlns:a="http://schemas.openxmlformats.org/drawingml/2006/main" noGrp="1"/>
          </p:cNvSpPr>
          <p:nvPr/>
        </p:nvSpPr>
        <p:spPr>
          <a:xfrm xmlns:a="http://schemas.openxmlformats.org/drawingml/2006/main">
            <a:off x="609600" y="402907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CD5CD"/>
                </a:solidFill>
                <a:latin typeface="Arial"/>
                <a:ea typeface="Arial"/>
                <a:cs typeface="Arial"/>
              </a:defRPr>
            </a:defPPr>
          </a:lstStyle>
          <a:p xmlns:a="http://schemas.openxmlformats.org/drawingml/2006/main">
            <a:pPr algn="l">
              <a:defRPr sz="2175" b="1">
                <a:solidFill>
                  <a:srgbClr val="9CD5CD"/>
                </a:solidFill>
                <a:latin typeface="Arial"/>
                <a:ea typeface="Arial"/>
                <a:cs typeface="Arial"/>
              </a:defRPr>
            </a:pPr>
            <a:r>
              <a:rPr sz="2175" b="1">
                <a:solidFill>
                  <a:srgbClr val="9CD5CD"/>
                </a:solidFill>
                <a:latin typeface="Arial"/>
                <a:ea typeface="Arial"/>
                <a:cs typeface="Arial"/>
              </a:rPr>
              <a:t>Implementation</a:t>
            </a:r>
          </a:p>
        </p:txBody>
      </p:sp>
      <p:sp>
        <p:nvSpPr>
          <p:cNvPr id="8" name="text-lo9y1k-7">
            <a:extLst xmlns:a="http://schemas.openxmlformats.org/drawingml/2006/main">
              <a:ext uri="{FF2B5EF4-FFF2-40B4-BE49-F238E27FC236}">
                <a16:creationId xmlns:a16="http://schemas.microsoft.com/office/drawing/2014/main" id="{10FBDDFA-7E7D-42AB-8E42-0906D527E06E}"/>
              </a:ext>
            </a:extLst>
          </p:cNvPr>
          <p:cNvSpPr>
            <a:spLocks xmlns:a="http://schemas.openxmlformats.org/drawingml/2006/main" noGrp="1"/>
          </p:cNvSpPr>
          <p:nvPr/>
        </p:nvSpPr>
        <p:spPr>
          <a:xfrm xmlns:a="http://schemas.openxmlformats.org/drawingml/2006/main">
            <a:off x="609600" y="4505325"/>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Python business rules</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XML views and CSV access controls</a:t>
            </a:r>
          </a:p>
        </p:txBody>
      </p:sp>
      <p:sp>
        <p:nvSpPr>
          <p:cNvPr id="9" name="text-lo9y1k-8">
            <a:extLst xmlns:a="http://schemas.openxmlformats.org/drawingml/2006/main">
              <a:ext uri="{FF2B5EF4-FFF2-40B4-BE49-F238E27FC236}">
                <a16:creationId xmlns:a16="http://schemas.microsoft.com/office/drawing/2014/main" id="{770BE6B8-A73A-45CA-B053-B8511D85879F}"/>
              </a:ext>
            </a:extLst>
          </p:cNvPr>
          <p:cNvSpPr>
            <a:spLocks xmlns:a="http://schemas.openxmlformats.org/drawingml/2006/main" noGrp="1"/>
          </p:cNvSpPr>
          <p:nvPr/>
        </p:nvSpPr>
        <p:spPr>
          <a:xfrm xmlns:a="http://schemas.openxmlformats.org/drawingml/2006/main">
            <a:off x="6667500" y="20574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CD5CD"/>
                </a:solidFill>
                <a:latin typeface="Arial"/>
                <a:ea typeface="Arial"/>
                <a:cs typeface="Arial"/>
              </a:defRPr>
            </a:defPPr>
          </a:lstStyle>
          <a:p xmlns:a="http://schemas.openxmlformats.org/drawingml/2006/main">
            <a:pPr algn="l">
              <a:defRPr sz="2175" b="1">
                <a:solidFill>
                  <a:srgbClr val="9CD5CD"/>
                </a:solidFill>
                <a:latin typeface="Arial"/>
                <a:ea typeface="Arial"/>
                <a:cs typeface="Arial"/>
              </a:defRPr>
            </a:pPr>
            <a:r>
              <a:rPr sz="2175" b="1">
                <a:solidFill>
                  <a:srgbClr val="9CD5CD"/>
                </a:solidFill>
                <a:latin typeface="Arial"/>
                <a:ea typeface="Arial"/>
                <a:cs typeface="Arial"/>
              </a:rPr>
              <a:t>Data and environment</a:t>
            </a:r>
          </a:p>
        </p:txBody>
      </p:sp>
      <p:sp>
        <p:nvSpPr>
          <p:cNvPr id="10" name="text-lo9y1k-9">
            <a:extLst xmlns:a="http://schemas.openxmlformats.org/drawingml/2006/main">
              <a:ext uri="{FF2B5EF4-FFF2-40B4-BE49-F238E27FC236}">
                <a16:creationId xmlns:a16="http://schemas.microsoft.com/office/drawing/2014/main" id="{0F4C9C18-D68B-4DE9-880B-3F772A6F5099}"/>
              </a:ext>
            </a:extLst>
          </p:cNvPr>
          <p:cNvSpPr>
            <a:spLocks xmlns:a="http://schemas.openxmlformats.org/drawingml/2006/main" noGrp="1"/>
          </p:cNvSpPr>
          <p:nvPr/>
        </p:nvSpPr>
        <p:spPr>
          <a:xfrm xmlns:a="http://schemas.openxmlformats.org/drawingml/2006/main">
            <a:off x="6667500" y="25336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PostgreSQL 15</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Docker and PowerShell validation helpers</a:t>
            </a:r>
          </a:p>
        </p:txBody>
      </p:sp>
      <p:sp>
        <p:nvSpPr>
          <p:cNvPr id="11" name="text-lo9y1k-10">
            <a:extLst xmlns:a="http://schemas.openxmlformats.org/drawingml/2006/main">
              <a:ext uri="{FF2B5EF4-FFF2-40B4-BE49-F238E27FC236}">
                <a16:creationId xmlns:a16="http://schemas.microsoft.com/office/drawing/2014/main" id="{742C89FE-0F08-493E-8187-5C66E1914833}"/>
              </a:ext>
            </a:extLst>
          </p:cNvPr>
          <p:cNvSpPr>
            <a:spLocks xmlns:a="http://schemas.openxmlformats.org/drawingml/2006/main" noGrp="1"/>
          </p:cNvSpPr>
          <p:nvPr/>
        </p:nvSpPr>
        <p:spPr>
          <a:xfrm xmlns:a="http://schemas.openxmlformats.org/drawingml/2006/main">
            <a:off x="6667500" y="40290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CD5CD"/>
                </a:solidFill>
                <a:latin typeface="Arial"/>
                <a:ea typeface="Arial"/>
                <a:cs typeface="Arial"/>
              </a:defRPr>
            </a:defPPr>
          </a:lstStyle>
          <a:p xmlns:a="http://schemas.openxmlformats.org/drawingml/2006/main">
            <a:pPr algn="l">
              <a:defRPr sz="2175" b="1">
                <a:solidFill>
                  <a:srgbClr val="9CD5CD"/>
                </a:solidFill>
                <a:latin typeface="Arial"/>
                <a:ea typeface="Arial"/>
                <a:cs typeface="Arial"/>
              </a:defRPr>
            </a:pPr>
            <a:r>
              <a:rPr sz="2175" b="1">
                <a:solidFill>
                  <a:srgbClr val="9CD5CD"/>
                </a:solidFill>
                <a:latin typeface="Arial"/>
                <a:ea typeface="Arial"/>
                <a:cs typeface="Arial"/>
              </a:rPr>
              <a:t>Version control</a:t>
            </a:r>
          </a:p>
        </p:txBody>
      </p:sp>
      <p:sp>
        <p:nvSpPr>
          <p:cNvPr id="12" name="text-lo9y1k-11">
            <a:extLst xmlns:a="http://schemas.openxmlformats.org/drawingml/2006/main">
              <a:ext uri="{FF2B5EF4-FFF2-40B4-BE49-F238E27FC236}">
                <a16:creationId xmlns:a16="http://schemas.microsoft.com/office/drawing/2014/main" id="{CD998123-7517-40C0-B8FA-AC5FB66C39CC}"/>
              </a:ext>
            </a:extLst>
          </p:cNvPr>
          <p:cNvSpPr>
            <a:spLocks xmlns:a="http://schemas.openxmlformats.org/drawingml/2006/main" noGrp="1"/>
          </p:cNvSpPr>
          <p:nvPr/>
        </p:nvSpPr>
        <p:spPr>
          <a:xfrm xmlns:a="http://schemas.openxmlformats.org/drawingml/2006/main">
            <a:off x="6667500" y="45053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Git and </a:t>
            </a:r>
            <a:r>
              <a:rPr sz="2025" b="0">
                <a:solidFill>
                  <a:srgbClr val="FFFFFF"/>
                </a:solidFill>
                <a:latin typeface="Arial"/>
                <a:ea typeface="Arial"/>
                <a:cs typeface="Arial"/>
                <a:hlinkClick xmlns:r="http://schemas.openxmlformats.org/officeDocument/2006/relationships" r:id="R00d6d426a1c04e79"/>
              </a:rPr>
              <a:t>Private GitHub repository</a:t>
            </a:r>
          </a:p>
        </p:txBody>
      </p:sp>
      <p:sp>
        <p:nvSpPr>
          <p:cNvPr id="13" name="text-lo9y1k-12">
            <a:extLst xmlns:a="http://schemas.openxmlformats.org/drawingml/2006/main">
              <a:ext uri="{FF2B5EF4-FFF2-40B4-BE49-F238E27FC236}">
                <a16:creationId xmlns:a16="http://schemas.microsoft.com/office/drawing/2014/main" id="{5733D48C-1E33-46BA-BFF1-4EB1E16EBCCD}"/>
              </a:ext>
            </a:extLst>
          </p:cNvPr>
          <p:cNvSpPr>
            <a:spLocks xmlns:a="http://schemas.openxmlformats.org/drawingml/2006/main" noGrp="1"/>
          </p:cNvSpPr>
          <p:nvPr/>
        </p:nvSpPr>
        <p:spPr>
          <a:xfrm xmlns:a="http://schemas.openxmlformats.org/drawingml/2006/main">
            <a:off x="609600" y="58007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D4E6E2"/>
                </a:solidFill>
                <a:latin typeface="Arial"/>
                <a:ea typeface="Arial"/>
                <a:cs typeface="Arial"/>
              </a:defRPr>
            </a:defPPr>
          </a:lstStyle>
          <a:p xmlns:a="http://schemas.openxmlformats.org/drawingml/2006/main">
            <a:pPr algn="l">
              <a:defRPr sz="1575" b="0">
                <a:solidFill>
                  <a:srgbClr val="D4E6E2"/>
                </a:solidFill>
                <a:latin typeface="Arial"/>
                <a:ea typeface="Arial"/>
                <a:cs typeface="Arial"/>
              </a:defRPr>
            </a:pPr>
            <a:r>
              <a:rPr sz="1575" b="0">
                <a:solidFill>
                  <a:srgbClr val="D4E6E2"/>
                </a:solidFill>
                <a:latin typeface="Arial"/>
                <a:ea typeface="Arial"/>
                <a:cs typeface="Arial"/>
              </a:rPr>
              <a:t>Portfolio scope: synthetic data, no production deployment. CI startup-health follow-up remains open.</a:t>
            </a:r>
          </a:p>
        </p:txBody>
      </p:sp>
    </p:spTree>
    <p:extLst>
      <p:ext uri="{BB962C8B-B14F-4D97-AF65-F5344CB8AC3E}">
        <p14:creationId xmlns:p14="http://schemas.microsoft.com/office/powerpoint/2010/main" val="8138357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2026-10-15T14:52:41.9640000Z</dcterms:created>
  <dcterms:modified xsi:type="dcterms:W3CDTF">2026-10-15T14:52:41.9640000Z</dcterms:modified>
</coreProperties>
</file>